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55" r:id="rId2"/>
    <p:sldId id="2574" r:id="rId3"/>
    <p:sldId id="2575" r:id="rId4"/>
    <p:sldId id="2576" r:id="rId5"/>
    <p:sldId id="2548" r:id="rId6"/>
    <p:sldId id="2547" r:id="rId7"/>
    <p:sldId id="2556" r:id="rId8"/>
    <p:sldId id="2571" r:id="rId9"/>
    <p:sldId id="2262" r:id="rId10"/>
    <p:sldId id="2272" r:id="rId11"/>
    <p:sldId id="2273" r:id="rId12"/>
    <p:sldId id="2286" r:id="rId13"/>
    <p:sldId id="2292" r:id="rId14"/>
    <p:sldId id="2294" r:id="rId15"/>
    <p:sldId id="2293" r:id="rId16"/>
    <p:sldId id="2577" r:id="rId17"/>
    <p:sldId id="2560" r:id="rId18"/>
    <p:sldId id="2557" r:id="rId19"/>
    <p:sldId id="2554" r:id="rId20"/>
    <p:sldId id="2558" r:id="rId21"/>
    <p:sldId id="2578" r:id="rId22"/>
    <p:sldId id="2559" r:id="rId23"/>
    <p:sldId id="195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EDB47-B55C-4D26-A5CD-4CD5ED98BC68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26002-88D8-459E-9CCC-376FD676E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43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DEF3D-52BA-4170-8323-8257CC7BA34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966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DEF3D-52BA-4170-8323-8257CC7BA34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658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DEF3D-52BA-4170-8323-8257CC7BA34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725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DEF3D-52BA-4170-8323-8257CC7BA34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547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DEF3D-52BA-4170-8323-8257CC7BA34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715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95325" y="4680804"/>
            <a:ext cx="5389563" cy="44402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IaaS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환경에서 응용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S/W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를 개발하는 것은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H/W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자원의 공동 활용과 설치구성을 자동화 하는 것을 의미한다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반면에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PaaS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환경에서 응용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S/W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를 개발하는 것은 플랫폼 소프트웨어의 공동 활용과 설치구성을 자동화하는 것을 의미한다</a:t>
            </a:r>
            <a:r>
              <a:rPr lang="en-US" altLang="ko-KR" baseline="0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4FDACC-6DEC-491E-8D00-DB5E492E636A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5254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개방형 클라우드 플랫폼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“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-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타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(PaaS-TA)”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는 국내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PaaS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표준 선도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오픈소스기반 자체적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PaaS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생태계 발전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국산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SW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산업 발전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공공클라우드 환경의 발전을 목적으로 개발되었다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</a:t>
            </a:r>
          </a:p>
          <a:p>
            <a:pPr marL="363538" marR="0" indent="-363538" algn="l" defTabSz="914400" rtl="0" eaLnBrk="1" fontAlgn="auto" latinLnBrk="1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marL="363538" marR="0" indent="-363538" algn="l" defTabSz="914400" rtl="0" eaLnBrk="1" fontAlgn="auto" latinLnBrk="1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marL="363538" marR="0" indent="-363538" algn="l" defTabSz="914400" rtl="0" eaLnBrk="1" fontAlgn="auto" latinLnBrk="1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marL="363538" indent="-363538" algn="l" eaLnBrk="1" fontAlgn="auto" hangingPunct="1">
              <a:lnSpc>
                <a:spcPct val="150000"/>
              </a:lnSpc>
              <a:spcAft>
                <a:spcPts val="0"/>
              </a:spcAft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44FE6-0BFE-425D-8F09-04D2D0BDF1A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450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000" kern="0" spc="-100" dirty="0" err="1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PaaSTA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는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SaaS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의 실행을 지원하는 핵심 기능과 개발자와 사용자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그리고 운영자를 위한 개발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·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관리 도구로 구분할 수 있다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핵심 기능을 위해 오픈소스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PaaS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검증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·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안정화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다양한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IaaS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지원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표준프레임워크 및 국산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SW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탑재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등의 개발이 완료되었으며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개발자들의 개발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테스트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등록을 지원하는 개발도구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사용자의 검색 구매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/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재사용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이용을 지원하는 사용자 포탈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운영자의 </a:t>
            </a:r>
            <a:r>
              <a:rPr lang="ko-KR" altLang="en-US" sz="1000" kern="0" spc="-100" dirty="0" err="1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이용량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측정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모니터링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운영제어를 지원하는 관리도구가 개발되었다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44FE6-0BFE-425D-8F09-04D2D0BDF1A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384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파스타는 표준화된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HW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및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개발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·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실행 환경을 수분 내로 자동화함으로써 응용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의 신속한 개발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‧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테스트를 가능하게 한다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즉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파스타는 어플리케이션 개발에 필요한 프레임워크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‧</a:t>
            </a:r>
            <a:r>
              <a:rPr lang="ko-KR" altLang="en-US" sz="1000" kern="0" spc="-100" dirty="0" err="1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미들웨어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‧OS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등 표준화된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의 설치 및 구성을 자동화하여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S/W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의 개발 및 테스트에 걸리는 시간을 획기적으로 단축하였다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marL="0" marR="0" indent="0" algn="l" defTabSz="914400" rtl="0" eaLnBrk="0" fontAlgn="base" latinLnBrk="1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44FE6-0BFE-425D-8F09-04D2D0BDF1A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326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파스타는 리소스 자원 감시를 통한 자동 감지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  <a:sym typeface="Symbol"/>
              </a:rPr>
              <a:t>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확장 기능을 가지고 있으며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어플리케이션 자원 감시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  <a:sym typeface="Symbol"/>
              </a:rPr>
              <a:t>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확장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 가상 머신 자원 감시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  <a:sym typeface="Symbol"/>
              </a:rPr>
              <a:t>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확장이 가능하다는 특징을 가지고 있다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4FDACC-6DEC-491E-8D00-DB5E492E636A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4991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파스타는 장애유형의 자동 감지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  <a:sym typeface="Symbol"/>
              </a:rPr>
              <a:t>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복구를 통한 가용성 강화 기능을 가지고 있다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즉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어플리케이션 수준의 장애 발생 시 동일한 가상머신의 컨테이너로 이동한다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가상머신 수준의 장애 발생 시 다른 가상머신의 컨테이너로 이동할 수 있도록 해준다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HW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수준의 장애 발생 시 다른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HW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가상머신의 컨테이너로 이동할 수 있도록 해준다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</a:t>
            </a:r>
            <a:endParaRPr lang="en-US" altLang="ko-KR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spc="-50" dirty="0">
              <a:solidFill>
                <a:srgbClr val="002060"/>
              </a:solidFill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spc="-50" dirty="0">
              <a:solidFill>
                <a:srgbClr val="002060"/>
              </a:solidFill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spc="-50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4FDACC-6DEC-491E-8D00-DB5E492E636A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5643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algn="l" defTabSz="801688" rtl="0" eaLnBrk="0" fontAlgn="auto" latinLnBrk="1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파스타는 운영현황 통합 모니터링 기반의 장애 대응으로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HW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및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수준의 </a:t>
            </a:r>
            <a:r>
              <a:rPr lang="ko-KR" altLang="en-US" sz="1000" kern="0" spc="-100" dirty="0" err="1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고가용성을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 보장할 수 있다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IaaS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는 가상머신에 대한 모니터링 및 장애대응 자동화를 통해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H/W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수준의 </a:t>
            </a:r>
            <a:r>
              <a:rPr lang="ko-KR" altLang="en-US" sz="1000" kern="0" spc="-100" dirty="0" err="1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고가용성을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보장하지만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파스타는 가상머신 위에서 동작하는 컨테이너에 대한 모니터링 및 장애대응 자동화를 통해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SW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수준의 </a:t>
            </a:r>
            <a:r>
              <a:rPr lang="ko-KR" altLang="en-US" sz="1000" kern="0" spc="-100" dirty="0" err="1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고가용성을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보장한다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endParaRPr lang="ko-KR" altLang="en-US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marL="176213" marR="0" lvl="0" indent="0" algn="l" defTabSz="801688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kern="0" spc="-50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6213" defTabSz="801688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1" spc="-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44FE6-0BFE-425D-8F09-04D2D0BDF1A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66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파스타는 장애유형의 자동 감지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  <a:sym typeface="Symbol"/>
              </a:rPr>
              <a:t>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복구를 통한 가용성 강화 기능을 가지고 있다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즉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어플리케이션 수준의 장애 발생 시 동일한 가상머신의 컨테이너로 이동한다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가상머신 수준의 장애 발생 시 다른 가상머신의 컨테이너로 이동할 수 있도록 해준다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HW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수준의 장애 발생 시 다른 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HW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가상머신의 컨테이너로 이동할 수 있도록 해준다</a:t>
            </a:r>
            <a:r>
              <a:rPr lang="en-US" altLang="ko-KR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. </a:t>
            </a:r>
            <a:r>
              <a:rPr lang="ko-KR" altLang="en-US" sz="1000" kern="0" spc="-100" dirty="0">
                <a:ln>
                  <a:solidFill>
                    <a:prstClr val="black">
                      <a:alpha val="0"/>
                    </a:prstClr>
                  </a:solidFill>
                </a:ln>
                <a:latin typeface="+mn-ea"/>
                <a:ea typeface="+mn-ea"/>
              </a:rPr>
              <a:t> </a:t>
            </a:r>
            <a:endParaRPr lang="en-US" altLang="ko-KR" sz="1000" kern="0" spc="-100" dirty="0">
              <a:ln>
                <a:solidFill>
                  <a:prstClr val="black">
                    <a:alpha val="0"/>
                  </a:prstClr>
                </a:solidFill>
              </a:ln>
              <a:latin typeface="+mn-ea"/>
              <a:ea typeface="+mn-ea"/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spc="-50" dirty="0">
              <a:solidFill>
                <a:srgbClr val="002060"/>
              </a:solidFill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spc="-50" dirty="0">
              <a:solidFill>
                <a:srgbClr val="002060"/>
              </a:solidFill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spc="-50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4FDACC-6DEC-491E-8D00-DB5E492E636A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8420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95325" y="739775"/>
            <a:ext cx="5345113" cy="37004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E80B11-764A-43A3-A83C-E46F6776E55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73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20FAE-DAF2-4999-A0DE-3667B4144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A91835-85BD-49AD-9A73-5CE081322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5435C7-1E4E-41B5-A0A0-F9265E6A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A70E14-86FA-4C16-88AD-AEEAD46B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7E99C-53BF-4EB1-A491-7A90A523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5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7BBBE-663B-4A21-9CC5-8440350D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CE553-7247-4510-A823-89C7C320B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0A8B8-11B2-4DB5-A5E9-92471278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DABE09-56F6-4BFA-B010-1F232157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43AB1-0A64-4A39-A2ED-EF8BD7F5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04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D6AA5-9654-45C6-A89F-FCC53E59A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84822-1688-47B1-9690-BB4D5E01D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F1020-ADDF-4F0A-B2B7-C7C0B777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12BCF-A75D-4F7B-B844-8438468E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C09388-A5E1-4175-81DF-A980A336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6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B3E37-0E35-479B-A2D3-AB151CDE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F5CD13-7F74-482B-985B-B6C34EAB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8030E-8AF7-4C92-A39F-017931D23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5C2894-F40F-476D-BA83-9945DA4B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9E2A34-229B-4BA5-AEC2-45CC9E5E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E2C86E-E6F3-4CA3-BCEC-5BC62AAA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0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1159E-BEC2-4E41-9578-D7E46665C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7A7D-C5A2-4D60-AEF1-56E9DDAE8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BD0BD4-AF5F-4394-8A03-553A9E55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90BD79-E5F5-4807-B826-F1E8280BE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23D404-4E3D-4D48-8266-6E5835EB2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D8F25C-6F46-4E81-91A0-85FA5FE6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6CF7FF-658B-4AF9-97B6-4D2151D1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5FCEF3-8BCC-4745-8A45-D1BF226A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A087A-7866-41C7-87C5-3A20605F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0B97FB-C62C-4F26-964E-F0A701D8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DBE87A-1A83-49D8-8F41-279CF1E7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02C700-BDF7-4BC3-AE7E-5BC0A270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62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690BBF-FC94-4611-B75D-B479C82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F244C2-58D5-4034-AC1C-B8DCB038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A80D85-2FD8-4B7B-BA3D-9B652252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0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A68593-6CEF-4E3E-9F7D-27C37754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57748-54A6-4631-88E1-2CE079162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EEA08F-FA6E-453F-89A5-50CA9EA96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5C3664-81CA-4EAE-B046-3AF56656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A64A92-2B2B-49B4-ACDB-4FC4840F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F61C2E-4658-4AB1-84D8-63C12B3D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26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C6786-2494-47FE-BBC0-824B38476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F8F6FB-6C80-46C4-8802-3AE5AEB0E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D31E7D-3D53-4549-8553-778BA6C9D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D15ABF-09C9-4CFF-B110-CC7D0FE76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A9C43A-D7C3-4BA6-92E2-846EE8349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BC74ED-E85F-45B8-9550-0768C9CC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220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A5346-D141-4EDF-BB23-85F51D58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757AAC-DB2B-4FC0-97F8-5FCD9D0D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A774E-B2A3-464F-A53A-7FB308BF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FA526-C6F3-4BC1-9227-59A7FA0A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F5D6FD-DDC9-40EE-8B21-3D5EE491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027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99A8ED-6210-4A1E-A8B5-6119A57B8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1768F6-050C-4696-92FB-C6A2892F9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2857D0-12C7-48C6-8CC9-1CCBD0576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41D6C8-5C95-48FF-966E-50F3FE7A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9CDF0E-A9E9-426D-BB1E-3251B66A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449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직사각형 199"/>
          <p:cNvSpPr/>
          <p:nvPr userDrawn="1"/>
        </p:nvSpPr>
        <p:spPr>
          <a:xfrm>
            <a:off x="0" y="6759960"/>
            <a:ext cx="12192000" cy="11663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white"/>
              </a:solidFill>
            </a:endParaRPr>
          </a:p>
        </p:txBody>
      </p:sp>
      <p:grpSp>
        <p:nvGrpSpPr>
          <p:cNvPr id="202" name="Group 4"/>
          <p:cNvGrpSpPr>
            <a:grpSpLocks noChangeAspect="1"/>
          </p:cNvGrpSpPr>
          <p:nvPr userDrawn="1"/>
        </p:nvGrpSpPr>
        <p:grpSpPr bwMode="auto">
          <a:xfrm>
            <a:off x="10436392" y="559304"/>
            <a:ext cx="1574626" cy="220672"/>
            <a:chOff x="5013" y="1"/>
            <a:chExt cx="2526" cy="472"/>
          </a:xfrm>
          <a:solidFill>
            <a:schemeClr val="bg1"/>
          </a:solidFill>
        </p:grpSpPr>
        <p:sp>
          <p:nvSpPr>
            <p:cNvPr id="203" name="Freeform 5"/>
            <p:cNvSpPr>
              <a:spLocks noEditPoints="1"/>
            </p:cNvSpPr>
            <p:nvPr userDrawn="1"/>
          </p:nvSpPr>
          <p:spPr bwMode="auto">
            <a:xfrm>
              <a:off x="5159" y="1"/>
              <a:ext cx="465" cy="469"/>
            </a:xfrm>
            <a:custGeom>
              <a:avLst/>
              <a:gdLst>
                <a:gd name="T0" fmla="*/ 361 w 605"/>
                <a:gd name="T1" fmla="*/ 0 h 609"/>
                <a:gd name="T2" fmla="*/ 234 w 605"/>
                <a:gd name="T3" fmla="*/ 0 h 609"/>
                <a:gd name="T4" fmla="*/ 0 w 605"/>
                <a:gd name="T5" fmla="*/ 609 h 609"/>
                <a:gd name="T6" fmla="*/ 138 w 605"/>
                <a:gd name="T7" fmla="*/ 609 h 609"/>
                <a:gd name="T8" fmla="*/ 173 w 605"/>
                <a:gd name="T9" fmla="*/ 511 h 609"/>
                <a:gd name="T10" fmla="*/ 429 w 605"/>
                <a:gd name="T11" fmla="*/ 511 h 609"/>
                <a:gd name="T12" fmla="*/ 464 w 605"/>
                <a:gd name="T13" fmla="*/ 609 h 609"/>
                <a:gd name="T14" fmla="*/ 605 w 605"/>
                <a:gd name="T15" fmla="*/ 609 h 609"/>
                <a:gd name="T16" fmla="*/ 378 w 605"/>
                <a:gd name="T17" fmla="*/ 12 h 609"/>
                <a:gd name="T18" fmla="*/ 361 w 605"/>
                <a:gd name="T19" fmla="*/ 0 h 609"/>
                <a:gd name="T20" fmla="*/ 208 w 605"/>
                <a:gd name="T21" fmla="*/ 412 h 609"/>
                <a:gd name="T22" fmla="*/ 303 w 605"/>
                <a:gd name="T23" fmla="*/ 149 h 609"/>
                <a:gd name="T24" fmla="*/ 395 w 605"/>
                <a:gd name="T25" fmla="*/ 412 h 609"/>
                <a:gd name="T26" fmla="*/ 208 w 605"/>
                <a:gd name="T27" fmla="*/ 412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5" h="609">
                  <a:moveTo>
                    <a:pt x="361" y="0"/>
                  </a:moveTo>
                  <a:cubicBezTo>
                    <a:pt x="234" y="0"/>
                    <a:pt x="234" y="0"/>
                    <a:pt x="234" y="0"/>
                  </a:cubicBezTo>
                  <a:cubicBezTo>
                    <a:pt x="0" y="609"/>
                    <a:pt x="0" y="609"/>
                    <a:pt x="0" y="609"/>
                  </a:cubicBezTo>
                  <a:cubicBezTo>
                    <a:pt x="138" y="609"/>
                    <a:pt x="138" y="609"/>
                    <a:pt x="138" y="609"/>
                  </a:cubicBezTo>
                  <a:cubicBezTo>
                    <a:pt x="173" y="511"/>
                    <a:pt x="173" y="511"/>
                    <a:pt x="173" y="511"/>
                  </a:cubicBezTo>
                  <a:cubicBezTo>
                    <a:pt x="429" y="511"/>
                    <a:pt x="429" y="511"/>
                    <a:pt x="429" y="511"/>
                  </a:cubicBezTo>
                  <a:cubicBezTo>
                    <a:pt x="464" y="609"/>
                    <a:pt x="464" y="609"/>
                    <a:pt x="464" y="609"/>
                  </a:cubicBezTo>
                  <a:cubicBezTo>
                    <a:pt x="605" y="609"/>
                    <a:pt x="605" y="609"/>
                    <a:pt x="605" y="609"/>
                  </a:cubicBezTo>
                  <a:cubicBezTo>
                    <a:pt x="378" y="12"/>
                    <a:pt x="378" y="12"/>
                    <a:pt x="378" y="12"/>
                  </a:cubicBezTo>
                  <a:cubicBezTo>
                    <a:pt x="375" y="4"/>
                    <a:pt x="370" y="0"/>
                    <a:pt x="361" y="0"/>
                  </a:cubicBezTo>
                  <a:moveTo>
                    <a:pt x="208" y="412"/>
                  </a:moveTo>
                  <a:cubicBezTo>
                    <a:pt x="303" y="149"/>
                    <a:pt x="303" y="149"/>
                    <a:pt x="303" y="149"/>
                  </a:cubicBezTo>
                  <a:cubicBezTo>
                    <a:pt x="395" y="412"/>
                    <a:pt x="395" y="412"/>
                    <a:pt x="395" y="412"/>
                  </a:cubicBezTo>
                  <a:lnTo>
                    <a:pt x="208" y="4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04" name="Freeform 6"/>
            <p:cNvSpPr>
              <a:spLocks/>
            </p:cNvSpPr>
            <p:nvPr userDrawn="1"/>
          </p:nvSpPr>
          <p:spPr bwMode="auto">
            <a:xfrm>
              <a:off x="5013" y="1"/>
              <a:ext cx="104" cy="469"/>
            </a:xfrm>
            <a:custGeom>
              <a:avLst/>
              <a:gdLst>
                <a:gd name="T0" fmla="*/ 120 w 135"/>
                <a:gd name="T1" fmla="*/ 0 h 609"/>
                <a:gd name="T2" fmla="*/ 0 w 135"/>
                <a:gd name="T3" fmla="*/ 0 h 609"/>
                <a:gd name="T4" fmla="*/ 0 w 135"/>
                <a:gd name="T5" fmla="*/ 609 h 609"/>
                <a:gd name="T6" fmla="*/ 135 w 135"/>
                <a:gd name="T7" fmla="*/ 609 h 609"/>
                <a:gd name="T8" fmla="*/ 135 w 135"/>
                <a:gd name="T9" fmla="*/ 16 h 609"/>
                <a:gd name="T10" fmla="*/ 120 w 135"/>
                <a:gd name="T11" fmla="*/ 0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609">
                  <a:moveTo>
                    <a:pt x="1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09"/>
                    <a:pt x="0" y="609"/>
                    <a:pt x="0" y="609"/>
                  </a:cubicBezTo>
                  <a:cubicBezTo>
                    <a:pt x="135" y="609"/>
                    <a:pt x="135" y="609"/>
                    <a:pt x="135" y="60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35" y="5"/>
                    <a:pt x="131" y="0"/>
                    <a:pt x="12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05" name="Freeform 8"/>
            <p:cNvSpPr>
              <a:spLocks/>
            </p:cNvSpPr>
            <p:nvPr userDrawn="1"/>
          </p:nvSpPr>
          <p:spPr bwMode="auto">
            <a:xfrm>
              <a:off x="5751" y="185"/>
              <a:ext cx="88" cy="104"/>
            </a:xfrm>
            <a:custGeom>
              <a:avLst/>
              <a:gdLst>
                <a:gd name="T0" fmla="*/ 0 w 88"/>
                <a:gd name="T1" fmla="*/ 0 h 104"/>
                <a:gd name="T2" fmla="*/ 22 w 88"/>
                <a:gd name="T3" fmla="*/ 0 h 104"/>
                <a:gd name="T4" fmla="*/ 66 w 88"/>
                <a:gd name="T5" fmla="*/ 69 h 104"/>
                <a:gd name="T6" fmla="*/ 66 w 88"/>
                <a:gd name="T7" fmla="*/ 69 h 104"/>
                <a:gd name="T8" fmla="*/ 66 w 88"/>
                <a:gd name="T9" fmla="*/ 0 h 104"/>
                <a:gd name="T10" fmla="*/ 88 w 88"/>
                <a:gd name="T11" fmla="*/ 0 h 104"/>
                <a:gd name="T12" fmla="*/ 88 w 88"/>
                <a:gd name="T13" fmla="*/ 104 h 104"/>
                <a:gd name="T14" fmla="*/ 64 w 88"/>
                <a:gd name="T15" fmla="*/ 104 h 104"/>
                <a:gd name="T16" fmla="*/ 21 w 88"/>
                <a:gd name="T17" fmla="*/ 34 h 104"/>
                <a:gd name="T18" fmla="*/ 21 w 88"/>
                <a:gd name="T19" fmla="*/ 34 h 104"/>
                <a:gd name="T20" fmla="*/ 21 w 88"/>
                <a:gd name="T21" fmla="*/ 104 h 104"/>
                <a:gd name="T22" fmla="*/ 0 w 88"/>
                <a:gd name="T23" fmla="*/ 104 h 104"/>
                <a:gd name="T24" fmla="*/ 0 w 88"/>
                <a:gd name="T2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4">
                  <a:moveTo>
                    <a:pt x="0" y="0"/>
                  </a:moveTo>
                  <a:lnTo>
                    <a:pt x="22" y="0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6" y="0"/>
                  </a:lnTo>
                  <a:lnTo>
                    <a:pt x="88" y="0"/>
                  </a:lnTo>
                  <a:lnTo>
                    <a:pt x="88" y="104"/>
                  </a:lnTo>
                  <a:lnTo>
                    <a:pt x="64" y="104"/>
                  </a:lnTo>
                  <a:lnTo>
                    <a:pt x="21" y="34"/>
                  </a:lnTo>
                  <a:lnTo>
                    <a:pt x="21" y="34"/>
                  </a:lnTo>
                  <a:lnTo>
                    <a:pt x="21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06" name="Freeform 9"/>
            <p:cNvSpPr>
              <a:spLocks noEditPoints="1"/>
            </p:cNvSpPr>
            <p:nvPr userDrawn="1"/>
          </p:nvSpPr>
          <p:spPr bwMode="auto">
            <a:xfrm>
              <a:off x="5848" y="185"/>
              <a:ext cx="101" cy="104"/>
            </a:xfrm>
            <a:custGeom>
              <a:avLst/>
              <a:gdLst>
                <a:gd name="T0" fmla="*/ 39 w 101"/>
                <a:gd name="T1" fmla="*/ 0 h 104"/>
                <a:gd name="T2" fmla="*/ 62 w 101"/>
                <a:gd name="T3" fmla="*/ 0 h 104"/>
                <a:gd name="T4" fmla="*/ 101 w 101"/>
                <a:gd name="T5" fmla="*/ 104 h 104"/>
                <a:gd name="T6" fmla="*/ 77 w 101"/>
                <a:gd name="T7" fmla="*/ 104 h 104"/>
                <a:gd name="T8" fmla="*/ 70 w 101"/>
                <a:gd name="T9" fmla="*/ 81 h 104"/>
                <a:gd name="T10" fmla="*/ 30 w 101"/>
                <a:gd name="T11" fmla="*/ 81 h 104"/>
                <a:gd name="T12" fmla="*/ 23 w 101"/>
                <a:gd name="T13" fmla="*/ 104 h 104"/>
                <a:gd name="T14" fmla="*/ 0 w 101"/>
                <a:gd name="T15" fmla="*/ 104 h 104"/>
                <a:gd name="T16" fmla="*/ 39 w 101"/>
                <a:gd name="T17" fmla="*/ 0 h 104"/>
                <a:gd name="T18" fmla="*/ 37 w 101"/>
                <a:gd name="T19" fmla="*/ 64 h 104"/>
                <a:gd name="T20" fmla="*/ 64 w 101"/>
                <a:gd name="T21" fmla="*/ 64 h 104"/>
                <a:gd name="T22" fmla="*/ 50 w 101"/>
                <a:gd name="T23" fmla="*/ 26 h 104"/>
                <a:gd name="T24" fmla="*/ 50 w 101"/>
                <a:gd name="T25" fmla="*/ 26 h 104"/>
                <a:gd name="T26" fmla="*/ 37 w 101"/>
                <a:gd name="T27" fmla="*/ 6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04">
                  <a:moveTo>
                    <a:pt x="39" y="0"/>
                  </a:moveTo>
                  <a:lnTo>
                    <a:pt x="62" y="0"/>
                  </a:lnTo>
                  <a:lnTo>
                    <a:pt x="101" y="104"/>
                  </a:lnTo>
                  <a:lnTo>
                    <a:pt x="77" y="104"/>
                  </a:lnTo>
                  <a:lnTo>
                    <a:pt x="70" y="81"/>
                  </a:lnTo>
                  <a:lnTo>
                    <a:pt x="30" y="81"/>
                  </a:lnTo>
                  <a:lnTo>
                    <a:pt x="23" y="104"/>
                  </a:lnTo>
                  <a:lnTo>
                    <a:pt x="0" y="104"/>
                  </a:lnTo>
                  <a:lnTo>
                    <a:pt x="39" y="0"/>
                  </a:lnTo>
                  <a:close/>
                  <a:moveTo>
                    <a:pt x="37" y="64"/>
                  </a:moveTo>
                  <a:lnTo>
                    <a:pt x="64" y="64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37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07" name="Freeform 10"/>
            <p:cNvSpPr>
              <a:spLocks/>
            </p:cNvSpPr>
            <p:nvPr userDrawn="1"/>
          </p:nvSpPr>
          <p:spPr bwMode="auto">
            <a:xfrm>
              <a:off x="5939" y="185"/>
              <a:ext cx="86" cy="104"/>
            </a:xfrm>
            <a:custGeom>
              <a:avLst/>
              <a:gdLst>
                <a:gd name="T0" fmla="*/ 31 w 86"/>
                <a:gd name="T1" fmla="*/ 19 h 104"/>
                <a:gd name="T2" fmla="*/ 0 w 86"/>
                <a:gd name="T3" fmla="*/ 19 h 104"/>
                <a:gd name="T4" fmla="*/ 0 w 86"/>
                <a:gd name="T5" fmla="*/ 0 h 104"/>
                <a:gd name="T6" fmla="*/ 86 w 86"/>
                <a:gd name="T7" fmla="*/ 0 h 104"/>
                <a:gd name="T8" fmla="*/ 86 w 86"/>
                <a:gd name="T9" fmla="*/ 19 h 104"/>
                <a:gd name="T10" fmla="*/ 54 w 86"/>
                <a:gd name="T11" fmla="*/ 19 h 104"/>
                <a:gd name="T12" fmla="*/ 54 w 86"/>
                <a:gd name="T13" fmla="*/ 104 h 104"/>
                <a:gd name="T14" fmla="*/ 31 w 86"/>
                <a:gd name="T15" fmla="*/ 104 h 104"/>
                <a:gd name="T16" fmla="*/ 31 w 86"/>
                <a:gd name="T17" fmla="*/ 1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" h="104">
                  <a:moveTo>
                    <a:pt x="31" y="19"/>
                  </a:moveTo>
                  <a:lnTo>
                    <a:pt x="0" y="19"/>
                  </a:lnTo>
                  <a:lnTo>
                    <a:pt x="0" y="0"/>
                  </a:lnTo>
                  <a:lnTo>
                    <a:pt x="86" y="0"/>
                  </a:lnTo>
                  <a:lnTo>
                    <a:pt x="86" y="19"/>
                  </a:lnTo>
                  <a:lnTo>
                    <a:pt x="54" y="19"/>
                  </a:lnTo>
                  <a:lnTo>
                    <a:pt x="54" y="104"/>
                  </a:lnTo>
                  <a:lnTo>
                    <a:pt x="31" y="104"/>
                  </a:lnTo>
                  <a:lnTo>
                    <a:pt x="31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08" name="Rectangle 11"/>
            <p:cNvSpPr>
              <a:spLocks noChangeArrowheads="1"/>
            </p:cNvSpPr>
            <p:nvPr userDrawn="1"/>
          </p:nvSpPr>
          <p:spPr bwMode="auto">
            <a:xfrm>
              <a:off x="6036" y="185"/>
              <a:ext cx="23" cy="1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09" name="Freeform 12"/>
            <p:cNvSpPr>
              <a:spLocks noEditPoints="1"/>
            </p:cNvSpPr>
            <p:nvPr userDrawn="1"/>
          </p:nvSpPr>
          <p:spPr bwMode="auto">
            <a:xfrm>
              <a:off x="6075" y="182"/>
              <a:ext cx="102" cy="110"/>
            </a:xfrm>
            <a:custGeom>
              <a:avLst/>
              <a:gdLst>
                <a:gd name="T0" fmla="*/ 66 w 133"/>
                <a:gd name="T1" fmla="*/ 0 h 142"/>
                <a:gd name="T2" fmla="*/ 133 w 133"/>
                <a:gd name="T3" fmla="*/ 72 h 142"/>
                <a:gd name="T4" fmla="*/ 66 w 133"/>
                <a:gd name="T5" fmla="*/ 142 h 142"/>
                <a:gd name="T6" fmla="*/ 0 w 133"/>
                <a:gd name="T7" fmla="*/ 72 h 142"/>
                <a:gd name="T8" fmla="*/ 66 w 133"/>
                <a:gd name="T9" fmla="*/ 0 h 142"/>
                <a:gd name="T10" fmla="*/ 66 w 133"/>
                <a:gd name="T11" fmla="*/ 117 h 142"/>
                <a:gd name="T12" fmla="*/ 103 w 133"/>
                <a:gd name="T13" fmla="*/ 72 h 142"/>
                <a:gd name="T14" fmla="*/ 66 w 133"/>
                <a:gd name="T15" fmla="*/ 25 h 142"/>
                <a:gd name="T16" fmla="*/ 30 w 133"/>
                <a:gd name="T17" fmla="*/ 72 h 142"/>
                <a:gd name="T18" fmla="*/ 66 w 133"/>
                <a:gd name="T19" fmla="*/ 11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" h="142">
                  <a:moveTo>
                    <a:pt x="66" y="0"/>
                  </a:moveTo>
                  <a:cubicBezTo>
                    <a:pt x="108" y="0"/>
                    <a:pt x="133" y="32"/>
                    <a:pt x="133" y="72"/>
                  </a:cubicBezTo>
                  <a:cubicBezTo>
                    <a:pt x="133" y="111"/>
                    <a:pt x="108" y="142"/>
                    <a:pt x="66" y="142"/>
                  </a:cubicBezTo>
                  <a:cubicBezTo>
                    <a:pt x="25" y="142"/>
                    <a:pt x="0" y="111"/>
                    <a:pt x="0" y="72"/>
                  </a:cubicBezTo>
                  <a:cubicBezTo>
                    <a:pt x="0" y="32"/>
                    <a:pt x="25" y="0"/>
                    <a:pt x="66" y="0"/>
                  </a:cubicBezTo>
                  <a:moveTo>
                    <a:pt x="66" y="117"/>
                  </a:moveTo>
                  <a:cubicBezTo>
                    <a:pt x="93" y="117"/>
                    <a:pt x="103" y="94"/>
                    <a:pt x="103" y="72"/>
                  </a:cubicBezTo>
                  <a:cubicBezTo>
                    <a:pt x="103" y="48"/>
                    <a:pt x="93" y="25"/>
                    <a:pt x="66" y="25"/>
                  </a:cubicBezTo>
                  <a:cubicBezTo>
                    <a:pt x="40" y="25"/>
                    <a:pt x="30" y="48"/>
                    <a:pt x="30" y="72"/>
                  </a:cubicBezTo>
                  <a:cubicBezTo>
                    <a:pt x="30" y="94"/>
                    <a:pt x="40" y="117"/>
                    <a:pt x="66" y="1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0" name="Freeform 13"/>
            <p:cNvSpPr>
              <a:spLocks/>
            </p:cNvSpPr>
            <p:nvPr userDrawn="1"/>
          </p:nvSpPr>
          <p:spPr bwMode="auto">
            <a:xfrm>
              <a:off x="6192" y="185"/>
              <a:ext cx="88" cy="104"/>
            </a:xfrm>
            <a:custGeom>
              <a:avLst/>
              <a:gdLst>
                <a:gd name="T0" fmla="*/ 0 w 88"/>
                <a:gd name="T1" fmla="*/ 0 h 104"/>
                <a:gd name="T2" fmla="*/ 22 w 88"/>
                <a:gd name="T3" fmla="*/ 0 h 104"/>
                <a:gd name="T4" fmla="*/ 66 w 88"/>
                <a:gd name="T5" fmla="*/ 69 h 104"/>
                <a:gd name="T6" fmla="*/ 66 w 88"/>
                <a:gd name="T7" fmla="*/ 69 h 104"/>
                <a:gd name="T8" fmla="*/ 66 w 88"/>
                <a:gd name="T9" fmla="*/ 0 h 104"/>
                <a:gd name="T10" fmla="*/ 88 w 88"/>
                <a:gd name="T11" fmla="*/ 0 h 104"/>
                <a:gd name="T12" fmla="*/ 88 w 88"/>
                <a:gd name="T13" fmla="*/ 104 h 104"/>
                <a:gd name="T14" fmla="*/ 65 w 88"/>
                <a:gd name="T15" fmla="*/ 104 h 104"/>
                <a:gd name="T16" fmla="*/ 22 w 88"/>
                <a:gd name="T17" fmla="*/ 34 h 104"/>
                <a:gd name="T18" fmla="*/ 22 w 88"/>
                <a:gd name="T19" fmla="*/ 34 h 104"/>
                <a:gd name="T20" fmla="*/ 22 w 88"/>
                <a:gd name="T21" fmla="*/ 104 h 104"/>
                <a:gd name="T22" fmla="*/ 0 w 88"/>
                <a:gd name="T23" fmla="*/ 104 h 104"/>
                <a:gd name="T24" fmla="*/ 0 w 88"/>
                <a:gd name="T2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4">
                  <a:moveTo>
                    <a:pt x="0" y="0"/>
                  </a:moveTo>
                  <a:lnTo>
                    <a:pt x="22" y="0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6" y="0"/>
                  </a:lnTo>
                  <a:lnTo>
                    <a:pt x="88" y="0"/>
                  </a:lnTo>
                  <a:lnTo>
                    <a:pt x="88" y="104"/>
                  </a:lnTo>
                  <a:lnTo>
                    <a:pt x="65" y="104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22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1" name="Freeform 14"/>
            <p:cNvSpPr>
              <a:spLocks noEditPoints="1"/>
            </p:cNvSpPr>
            <p:nvPr userDrawn="1"/>
          </p:nvSpPr>
          <p:spPr bwMode="auto">
            <a:xfrm>
              <a:off x="6289" y="185"/>
              <a:ext cx="101" cy="104"/>
            </a:xfrm>
            <a:custGeom>
              <a:avLst/>
              <a:gdLst>
                <a:gd name="T0" fmla="*/ 39 w 101"/>
                <a:gd name="T1" fmla="*/ 0 h 104"/>
                <a:gd name="T2" fmla="*/ 62 w 101"/>
                <a:gd name="T3" fmla="*/ 0 h 104"/>
                <a:gd name="T4" fmla="*/ 101 w 101"/>
                <a:gd name="T5" fmla="*/ 104 h 104"/>
                <a:gd name="T6" fmla="*/ 78 w 101"/>
                <a:gd name="T7" fmla="*/ 104 h 104"/>
                <a:gd name="T8" fmla="*/ 70 w 101"/>
                <a:gd name="T9" fmla="*/ 81 h 104"/>
                <a:gd name="T10" fmla="*/ 31 w 101"/>
                <a:gd name="T11" fmla="*/ 81 h 104"/>
                <a:gd name="T12" fmla="*/ 23 w 101"/>
                <a:gd name="T13" fmla="*/ 104 h 104"/>
                <a:gd name="T14" fmla="*/ 0 w 101"/>
                <a:gd name="T15" fmla="*/ 104 h 104"/>
                <a:gd name="T16" fmla="*/ 39 w 101"/>
                <a:gd name="T17" fmla="*/ 0 h 104"/>
                <a:gd name="T18" fmla="*/ 37 w 101"/>
                <a:gd name="T19" fmla="*/ 64 h 104"/>
                <a:gd name="T20" fmla="*/ 64 w 101"/>
                <a:gd name="T21" fmla="*/ 64 h 104"/>
                <a:gd name="T22" fmla="*/ 51 w 101"/>
                <a:gd name="T23" fmla="*/ 26 h 104"/>
                <a:gd name="T24" fmla="*/ 51 w 101"/>
                <a:gd name="T25" fmla="*/ 26 h 104"/>
                <a:gd name="T26" fmla="*/ 37 w 101"/>
                <a:gd name="T27" fmla="*/ 6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04">
                  <a:moveTo>
                    <a:pt x="39" y="0"/>
                  </a:moveTo>
                  <a:lnTo>
                    <a:pt x="62" y="0"/>
                  </a:lnTo>
                  <a:lnTo>
                    <a:pt x="101" y="104"/>
                  </a:lnTo>
                  <a:lnTo>
                    <a:pt x="78" y="104"/>
                  </a:lnTo>
                  <a:lnTo>
                    <a:pt x="70" y="81"/>
                  </a:lnTo>
                  <a:lnTo>
                    <a:pt x="31" y="81"/>
                  </a:lnTo>
                  <a:lnTo>
                    <a:pt x="23" y="104"/>
                  </a:lnTo>
                  <a:lnTo>
                    <a:pt x="0" y="104"/>
                  </a:lnTo>
                  <a:lnTo>
                    <a:pt x="39" y="0"/>
                  </a:lnTo>
                  <a:close/>
                  <a:moveTo>
                    <a:pt x="37" y="64"/>
                  </a:moveTo>
                  <a:lnTo>
                    <a:pt x="64" y="64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37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2" name="Freeform 15"/>
            <p:cNvSpPr>
              <a:spLocks/>
            </p:cNvSpPr>
            <p:nvPr userDrawn="1"/>
          </p:nvSpPr>
          <p:spPr bwMode="auto">
            <a:xfrm>
              <a:off x="6400" y="185"/>
              <a:ext cx="73" cy="104"/>
            </a:xfrm>
            <a:custGeom>
              <a:avLst/>
              <a:gdLst>
                <a:gd name="T0" fmla="*/ 0 w 73"/>
                <a:gd name="T1" fmla="*/ 0 h 104"/>
                <a:gd name="T2" fmla="*/ 22 w 73"/>
                <a:gd name="T3" fmla="*/ 0 h 104"/>
                <a:gd name="T4" fmla="*/ 22 w 73"/>
                <a:gd name="T5" fmla="*/ 85 h 104"/>
                <a:gd name="T6" fmla="*/ 73 w 73"/>
                <a:gd name="T7" fmla="*/ 85 h 104"/>
                <a:gd name="T8" fmla="*/ 73 w 73"/>
                <a:gd name="T9" fmla="*/ 104 h 104"/>
                <a:gd name="T10" fmla="*/ 0 w 73"/>
                <a:gd name="T11" fmla="*/ 104 h 104"/>
                <a:gd name="T12" fmla="*/ 0 w 73"/>
                <a:gd name="T13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04">
                  <a:moveTo>
                    <a:pt x="0" y="0"/>
                  </a:moveTo>
                  <a:lnTo>
                    <a:pt x="22" y="0"/>
                  </a:lnTo>
                  <a:lnTo>
                    <a:pt x="22" y="85"/>
                  </a:lnTo>
                  <a:lnTo>
                    <a:pt x="73" y="85"/>
                  </a:lnTo>
                  <a:lnTo>
                    <a:pt x="73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3" name="Freeform 16"/>
            <p:cNvSpPr>
              <a:spLocks/>
            </p:cNvSpPr>
            <p:nvPr userDrawn="1"/>
          </p:nvSpPr>
          <p:spPr bwMode="auto">
            <a:xfrm>
              <a:off x="5739" y="364"/>
              <a:ext cx="87" cy="109"/>
            </a:xfrm>
            <a:custGeom>
              <a:avLst/>
              <a:gdLst>
                <a:gd name="T0" fmla="*/ 29 w 114"/>
                <a:gd name="T1" fmla="*/ 93 h 141"/>
                <a:gd name="T2" fmla="*/ 59 w 114"/>
                <a:gd name="T3" fmla="*/ 118 h 141"/>
                <a:gd name="T4" fmla="*/ 85 w 114"/>
                <a:gd name="T5" fmla="*/ 101 h 141"/>
                <a:gd name="T6" fmla="*/ 45 w 114"/>
                <a:gd name="T7" fmla="*/ 79 h 141"/>
                <a:gd name="T8" fmla="*/ 5 w 114"/>
                <a:gd name="T9" fmla="*/ 40 h 141"/>
                <a:gd name="T10" fmla="*/ 55 w 114"/>
                <a:gd name="T11" fmla="*/ 0 h 141"/>
                <a:gd name="T12" fmla="*/ 109 w 114"/>
                <a:gd name="T13" fmla="*/ 43 h 141"/>
                <a:gd name="T14" fmla="*/ 80 w 114"/>
                <a:gd name="T15" fmla="*/ 43 h 141"/>
                <a:gd name="T16" fmla="*/ 54 w 114"/>
                <a:gd name="T17" fmla="*/ 23 h 141"/>
                <a:gd name="T18" fmla="*/ 33 w 114"/>
                <a:gd name="T19" fmla="*/ 38 h 141"/>
                <a:gd name="T20" fmla="*/ 74 w 114"/>
                <a:gd name="T21" fmla="*/ 58 h 141"/>
                <a:gd name="T22" fmla="*/ 114 w 114"/>
                <a:gd name="T23" fmla="*/ 98 h 141"/>
                <a:gd name="T24" fmla="*/ 58 w 114"/>
                <a:gd name="T25" fmla="*/ 141 h 141"/>
                <a:gd name="T26" fmla="*/ 0 w 114"/>
                <a:gd name="T27" fmla="*/ 93 h 141"/>
                <a:gd name="T28" fmla="*/ 29 w 114"/>
                <a:gd name="T29" fmla="*/ 9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4" h="141">
                  <a:moveTo>
                    <a:pt x="29" y="93"/>
                  </a:moveTo>
                  <a:cubicBezTo>
                    <a:pt x="29" y="111"/>
                    <a:pt x="43" y="118"/>
                    <a:pt x="59" y="118"/>
                  </a:cubicBezTo>
                  <a:cubicBezTo>
                    <a:pt x="69" y="118"/>
                    <a:pt x="85" y="115"/>
                    <a:pt x="85" y="101"/>
                  </a:cubicBezTo>
                  <a:cubicBezTo>
                    <a:pt x="85" y="87"/>
                    <a:pt x="65" y="84"/>
                    <a:pt x="45" y="79"/>
                  </a:cubicBezTo>
                  <a:cubicBezTo>
                    <a:pt x="25" y="73"/>
                    <a:pt x="5" y="66"/>
                    <a:pt x="5" y="40"/>
                  </a:cubicBezTo>
                  <a:cubicBezTo>
                    <a:pt x="5" y="13"/>
                    <a:pt x="31" y="0"/>
                    <a:pt x="55" y="0"/>
                  </a:cubicBezTo>
                  <a:cubicBezTo>
                    <a:pt x="83" y="0"/>
                    <a:pt x="109" y="12"/>
                    <a:pt x="109" y="43"/>
                  </a:cubicBezTo>
                  <a:cubicBezTo>
                    <a:pt x="80" y="43"/>
                    <a:pt x="80" y="43"/>
                    <a:pt x="80" y="43"/>
                  </a:cubicBezTo>
                  <a:cubicBezTo>
                    <a:pt x="80" y="27"/>
                    <a:pt x="68" y="23"/>
                    <a:pt x="54" y="23"/>
                  </a:cubicBezTo>
                  <a:cubicBezTo>
                    <a:pt x="44" y="23"/>
                    <a:pt x="33" y="27"/>
                    <a:pt x="33" y="38"/>
                  </a:cubicBezTo>
                  <a:cubicBezTo>
                    <a:pt x="33" y="48"/>
                    <a:pt x="40" y="50"/>
                    <a:pt x="74" y="58"/>
                  </a:cubicBezTo>
                  <a:cubicBezTo>
                    <a:pt x="84" y="61"/>
                    <a:pt x="114" y="67"/>
                    <a:pt x="114" y="98"/>
                  </a:cubicBezTo>
                  <a:cubicBezTo>
                    <a:pt x="114" y="122"/>
                    <a:pt x="94" y="141"/>
                    <a:pt x="58" y="141"/>
                  </a:cubicBezTo>
                  <a:cubicBezTo>
                    <a:pt x="28" y="141"/>
                    <a:pt x="0" y="126"/>
                    <a:pt x="0" y="93"/>
                  </a:cubicBezTo>
                  <a:lnTo>
                    <a:pt x="29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4" name="Freeform 17"/>
            <p:cNvSpPr>
              <a:spLocks noEditPoints="1"/>
            </p:cNvSpPr>
            <p:nvPr userDrawn="1"/>
          </p:nvSpPr>
          <p:spPr bwMode="auto">
            <a:xfrm>
              <a:off x="5835" y="364"/>
              <a:ext cx="102" cy="109"/>
            </a:xfrm>
            <a:custGeom>
              <a:avLst/>
              <a:gdLst>
                <a:gd name="T0" fmla="*/ 66 w 132"/>
                <a:gd name="T1" fmla="*/ 0 h 141"/>
                <a:gd name="T2" fmla="*/ 132 w 132"/>
                <a:gd name="T3" fmla="*/ 71 h 141"/>
                <a:gd name="T4" fmla="*/ 66 w 132"/>
                <a:gd name="T5" fmla="*/ 141 h 141"/>
                <a:gd name="T6" fmla="*/ 0 w 132"/>
                <a:gd name="T7" fmla="*/ 71 h 141"/>
                <a:gd name="T8" fmla="*/ 66 w 132"/>
                <a:gd name="T9" fmla="*/ 0 h 141"/>
                <a:gd name="T10" fmla="*/ 66 w 132"/>
                <a:gd name="T11" fmla="*/ 116 h 141"/>
                <a:gd name="T12" fmla="*/ 103 w 132"/>
                <a:gd name="T13" fmla="*/ 71 h 141"/>
                <a:gd name="T14" fmla="*/ 66 w 132"/>
                <a:gd name="T15" fmla="*/ 24 h 141"/>
                <a:gd name="T16" fmla="*/ 29 w 132"/>
                <a:gd name="T17" fmla="*/ 71 h 141"/>
                <a:gd name="T18" fmla="*/ 66 w 132"/>
                <a:gd name="T19" fmla="*/ 11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41">
                  <a:moveTo>
                    <a:pt x="66" y="0"/>
                  </a:moveTo>
                  <a:cubicBezTo>
                    <a:pt x="108" y="0"/>
                    <a:pt x="132" y="31"/>
                    <a:pt x="132" y="71"/>
                  </a:cubicBezTo>
                  <a:cubicBezTo>
                    <a:pt x="132" y="110"/>
                    <a:pt x="108" y="141"/>
                    <a:pt x="66" y="141"/>
                  </a:cubicBezTo>
                  <a:cubicBezTo>
                    <a:pt x="24" y="141"/>
                    <a:pt x="0" y="110"/>
                    <a:pt x="0" y="71"/>
                  </a:cubicBezTo>
                  <a:cubicBezTo>
                    <a:pt x="0" y="31"/>
                    <a:pt x="24" y="0"/>
                    <a:pt x="66" y="0"/>
                  </a:cubicBezTo>
                  <a:moveTo>
                    <a:pt x="66" y="116"/>
                  </a:moveTo>
                  <a:cubicBezTo>
                    <a:pt x="93" y="116"/>
                    <a:pt x="103" y="93"/>
                    <a:pt x="103" y="71"/>
                  </a:cubicBezTo>
                  <a:cubicBezTo>
                    <a:pt x="103" y="47"/>
                    <a:pt x="93" y="24"/>
                    <a:pt x="66" y="24"/>
                  </a:cubicBezTo>
                  <a:cubicBezTo>
                    <a:pt x="39" y="24"/>
                    <a:pt x="29" y="47"/>
                    <a:pt x="29" y="71"/>
                  </a:cubicBezTo>
                  <a:cubicBezTo>
                    <a:pt x="29" y="93"/>
                    <a:pt x="39" y="116"/>
                    <a:pt x="66" y="1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5" name="Freeform 18"/>
            <p:cNvSpPr>
              <a:spLocks/>
            </p:cNvSpPr>
            <p:nvPr userDrawn="1"/>
          </p:nvSpPr>
          <p:spPr bwMode="auto">
            <a:xfrm>
              <a:off x="5948" y="364"/>
              <a:ext cx="97" cy="109"/>
            </a:xfrm>
            <a:custGeom>
              <a:avLst/>
              <a:gdLst>
                <a:gd name="T0" fmla="*/ 95 w 125"/>
                <a:gd name="T1" fmla="*/ 48 h 141"/>
                <a:gd name="T2" fmla="*/ 66 w 125"/>
                <a:gd name="T3" fmla="*/ 24 h 141"/>
                <a:gd name="T4" fmla="*/ 29 w 125"/>
                <a:gd name="T5" fmla="*/ 71 h 141"/>
                <a:gd name="T6" fmla="*/ 66 w 125"/>
                <a:gd name="T7" fmla="*/ 116 h 141"/>
                <a:gd name="T8" fmla="*/ 97 w 125"/>
                <a:gd name="T9" fmla="*/ 86 h 141"/>
                <a:gd name="T10" fmla="*/ 125 w 125"/>
                <a:gd name="T11" fmla="*/ 86 h 141"/>
                <a:gd name="T12" fmla="*/ 66 w 125"/>
                <a:gd name="T13" fmla="*/ 141 h 141"/>
                <a:gd name="T14" fmla="*/ 0 w 125"/>
                <a:gd name="T15" fmla="*/ 71 h 141"/>
                <a:gd name="T16" fmla="*/ 66 w 125"/>
                <a:gd name="T17" fmla="*/ 0 h 141"/>
                <a:gd name="T18" fmla="*/ 124 w 125"/>
                <a:gd name="T19" fmla="*/ 48 h 141"/>
                <a:gd name="T20" fmla="*/ 95 w 125"/>
                <a:gd name="T21" fmla="*/ 4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" h="141">
                  <a:moveTo>
                    <a:pt x="95" y="48"/>
                  </a:moveTo>
                  <a:cubicBezTo>
                    <a:pt x="94" y="35"/>
                    <a:pt x="81" y="24"/>
                    <a:pt x="66" y="24"/>
                  </a:cubicBezTo>
                  <a:cubicBezTo>
                    <a:pt x="39" y="24"/>
                    <a:pt x="29" y="47"/>
                    <a:pt x="29" y="71"/>
                  </a:cubicBezTo>
                  <a:cubicBezTo>
                    <a:pt x="29" y="93"/>
                    <a:pt x="39" y="116"/>
                    <a:pt x="66" y="116"/>
                  </a:cubicBezTo>
                  <a:cubicBezTo>
                    <a:pt x="84" y="116"/>
                    <a:pt x="94" y="104"/>
                    <a:pt x="97" y="86"/>
                  </a:cubicBezTo>
                  <a:cubicBezTo>
                    <a:pt x="125" y="86"/>
                    <a:pt x="125" y="86"/>
                    <a:pt x="125" y="86"/>
                  </a:cubicBezTo>
                  <a:cubicBezTo>
                    <a:pt x="122" y="119"/>
                    <a:pt x="99" y="141"/>
                    <a:pt x="66" y="141"/>
                  </a:cubicBezTo>
                  <a:cubicBezTo>
                    <a:pt x="24" y="141"/>
                    <a:pt x="0" y="110"/>
                    <a:pt x="0" y="71"/>
                  </a:cubicBezTo>
                  <a:cubicBezTo>
                    <a:pt x="0" y="31"/>
                    <a:pt x="24" y="0"/>
                    <a:pt x="66" y="0"/>
                  </a:cubicBezTo>
                  <a:cubicBezTo>
                    <a:pt x="96" y="0"/>
                    <a:pt x="121" y="17"/>
                    <a:pt x="124" y="48"/>
                  </a:cubicBezTo>
                  <a:lnTo>
                    <a:pt x="95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6" name="Rectangle 19"/>
            <p:cNvSpPr>
              <a:spLocks noChangeArrowheads="1"/>
            </p:cNvSpPr>
            <p:nvPr userDrawn="1"/>
          </p:nvSpPr>
          <p:spPr bwMode="auto">
            <a:xfrm>
              <a:off x="6061" y="366"/>
              <a:ext cx="22" cy="1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7" name="Freeform 20"/>
            <p:cNvSpPr>
              <a:spLocks/>
            </p:cNvSpPr>
            <p:nvPr userDrawn="1"/>
          </p:nvSpPr>
          <p:spPr bwMode="auto">
            <a:xfrm>
              <a:off x="6103" y="366"/>
              <a:ext cx="79" cy="104"/>
            </a:xfrm>
            <a:custGeom>
              <a:avLst/>
              <a:gdLst>
                <a:gd name="T0" fmla="*/ 0 w 79"/>
                <a:gd name="T1" fmla="*/ 0 h 104"/>
                <a:gd name="T2" fmla="*/ 78 w 79"/>
                <a:gd name="T3" fmla="*/ 0 h 104"/>
                <a:gd name="T4" fmla="*/ 78 w 79"/>
                <a:gd name="T5" fmla="*/ 20 h 104"/>
                <a:gd name="T6" fmla="*/ 23 w 79"/>
                <a:gd name="T7" fmla="*/ 20 h 104"/>
                <a:gd name="T8" fmla="*/ 23 w 79"/>
                <a:gd name="T9" fmla="*/ 42 h 104"/>
                <a:gd name="T10" fmla="*/ 73 w 79"/>
                <a:gd name="T11" fmla="*/ 42 h 104"/>
                <a:gd name="T12" fmla="*/ 73 w 79"/>
                <a:gd name="T13" fmla="*/ 60 h 104"/>
                <a:gd name="T14" fmla="*/ 23 w 79"/>
                <a:gd name="T15" fmla="*/ 60 h 104"/>
                <a:gd name="T16" fmla="*/ 23 w 79"/>
                <a:gd name="T17" fmla="*/ 85 h 104"/>
                <a:gd name="T18" fmla="*/ 79 w 79"/>
                <a:gd name="T19" fmla="*/ 85 h 104"/>
                <a:gd name="T20" fmla="*/ 79 w 79"/>
                <a:gd name="T21" fmla="*/ 104 h 104"/>
                <a:gd name="T22" fmla="*/ 0 w 79"/>
                <a:gd name="T23" fmla="*/ 104 h 104"/>
                <a:gd name="T24" fmla="*/ 0 w 79"/>
                <a:gd name="T2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" h="104">
                  <a:moveTo>
                    <a:pt x="0" y="0"/>
                  </a:moveTo>
                  <a:lnTo>
                    <a:pt x="78" y="0"/>
                  </a:lnTo>
                  <a:lnTo>
                    <a:pt x="78" y="20"/>
                  </a:lnTo>
                  <a:lnTo>
                    <a:pt x="23" y="20"/>
                  </a:lnTo>
                  <a:lnTo>
                    <a:pt x="23" y="42"/>
                  </a:lnTo>
                  <a:lnTo>
                    <a:pt x="73" y="42"/>
                  </a:lnTo>
                  <a:lnTo>
                    <a:pt x="73" y="60"/>
                  </a:lnTo>
                  <a:lnTo>
                    <a:pt x="23" y="60"/>
                  </a:lnTo>
                  <a:lnTo>
                    <a:pt x="23" y="85"/>
                  </a:lnTo>
                  <a:lnTo>
                    <a:pt x="79" y="85"/>
                  </a:lnTo>
                  <a:lnTo>
                    <a:pt x="79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8" name="Freeform 21"/>
            <p:cNvSpPr>
              <a:spLocks/>
            </p:cNvSpPr>
            <p:nvPr userDrawn="1"/>
          </p:nvSpPr>
          <p:spPr bwMode="auto">
            <a:xfrm>
              <a:off x="6189" y="366"/>
              <a:ext cx="85" cy="104"/>
            </a:xfrm>
            <a:custGeom>
              <a:avLst/>
              <a:gdLst>
                <a:gd name="T0" fmla="*/ 32 w 85"/>
                <a:gd name="T1" fmla="*/ 20 h 104"/>
                <a:gd name="T2" fmla="*/ 0 w 85"/>
                <a:gd name="T3" fmla="*/ 20 h 104"/>
                <a:gd name="T4" fmla="*/ 0 w 85"/>
                <a:gd name="T5" fmla="*/ 0 h 104"/>
                <a:gd name="T6" fmla="*/ 85 w 85"/>
                <a:gd name="T7" fmla="*/ 0 h 104"/>
                <a:gd name="T8" fmla="*/ 85 w 85"/>
                <a:gd name="T9" fmla="*/ 20 h 104"/>
                <a:gd name="T10" fmla="*/ 54 w 85"/>
                <a:gd name="T11" fmla="*/ 20 h 104"/>
                <a:gd name="T12" fmla="*/ 54 w 85"/>
                <a:gd name="T13" fmla="*/ 104 h 104"/>
                <a:gd name="T14" fmla="*/ 32 w 85"/>
                <a:gd name="T15" fmla="*/ 104 h 104"/>
                <a:gd name="T16" fmla="*/ 32 w 85"/>
                <a:gd name="T17" fmla="*/ 2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104">
                  <a:moveTo>
                    <a:pt x="32" y="20"/>
                  </a:moveTo>
                  <a:lnTo>
                    <a:pt x="0" y="20"/>
                  </a:lnTo>
                  <a:lnTo>
                    <a:pt x="0" y="0"/>
                  </a:lnTo>
                  <a:lnTo>
                    <a:pt x="85" y="0"/>
                  </a:lnTo>
                  <a:lnTo>
                    <a:pt x="85" y="20"/>
                  </a:lnTo>
                  <a:lnTo>
                    <a:pt x="54" y="20"/>
                  </a:lnTo>
                  <a:lnTo>
                    <a:pt x="54" y="104"/>
                  </a:lnTo>
                  <a:lnTo>
                    <a:pt x="32" y="104"/>
                  </a:lnTo>
                  <a:lnTo>
                    <a:pt x="32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19" name="Freeform 22"/>
            <p:cNvSpPr>
              <a:spLocks/>
            </p:cNvSpPr>
            <p:nvPr userDrawn="1"/>
          </p:nvSpPr>
          <p:spPr bwMode="auto">
            <a:xfrm>
              <a:off x="6275" y="366"/>
              <a:ext cx="99" cy="104"/>
            </a:xfrm>
            <a:custGeom>
              <a:avLst/>
              <a:gdLst>
                <a:gd name="T0" fmla="*/ 38 w 99"/>
                <a:gd name="T1" fmla="*/ 64 h 104"/>
                <a:gd name="T2" fmla="*/ 0 w 99"/>
                <a:gd name="T3" fmla="*/ 0 h 104"/>
                <a:gd name="T4" fmla="*/ 26 w 99"/>
                <a:gd name="T5" fmla="*/ 0 h 104"/>
                <a:gd name="T6" fmla="*/ 50 w 99"/>
                <a:gd name="T7" fmla="*/ 41 h 104"/>
                <a:gd name="T8" fmla="*/ 74 w 99"/>
                <a:gd name="T9" fmla="*/ 0 h 104"/>
                <a:gd name="T10" fmla="*/ 99 w 99"/>
                <a:gd name="T11" fmla="*/ 0 h 104"/>
                <a:gd name="T12" fmla="*/ 61 w 99"/>
                <a:gd name="T13" fmla="*/ 64 h 104"/>
                <a:gd name="T14" fmla="*/ 61 w 99"/>
                <a:gd name="T15" fmla="*/ 104 h 104"/>
                <a:gd name="T16" fmla="*/ 38 w 99"/>
                <a:gd name="T17" fmla="*/ 104 h 104"/>
                <a:gd name="T18" fmla="*/ 38 w 99"/>
                <a:gd name="T19" fmla="*/ 6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104">
                  <a:moveTo>
                    <a:pt x="38" y="64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50" y="41"/>
                  </a:lnTo>
                  <a:lnTo>
                    <a:pt x="74" y="0"/>
                  </a:lnTo>
                  <a:lnTo>
                    <a:pt x="99" y="0"/>
                  </a:lnTo>
                  <a:lnTo>
                    <a:pt x="61" y="64"/>
                  </a:lnTo>
                  <a:lnTo>
                    <a:pt x="61" y="104"/>
                  </a:lnTo>
                  <a:lnTo>
                    <a:pt x="38" y="104"/>
                  </a:lnTo>
                  <a:lnTo>
                    <a:pt x="38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0" name="Freeform 23"/>
            <p:cNvSpPr>
              <a:spLocks noEditPoints="1"/>
            </p:cNvSpPr>
            <p:nvPr userDrawn="1"/>
          </p:nvSpPr>
          <p:spPr bwMode="auto">
            <a:xfrm>
              <a:off x="6400" y="366"/>
              <a:ext cx="101" cy="104"/>
            </a:xfrm>
            <a:custGeom>
              <a:avLst/>
              <a:gdLst>
                <a:gd name="T0" fmla="*/ 40 w 101"/>
                <a:gd name="T1" fmla="*/ 0 h 104"/>
                <a:gd name="T2" fmla="*/ 63 w 101"/>
                <a:gd name="T3" fmla="*/ 0 h 104"/>
                <a:gd name="T4" fmla="*/ 101 w 101"/>
                <a:gd name="T5" fmla="*/ 104 h 104"/>
                <a:gd name="T6" fmla="*/ 78 w 101"/>
                <a:gd name="T7" fmla="*/ 104 h 104"/>
                <a:gd name="T8" fmla="*/ 70 w 101"/>
                <a:gd name="T9" fmla="*/ 81 h 104"/>
                <a:gd name="T10" fmla="*/ 31 w 101"/>
                <a:gd name="T11" fmla="*/ 81 h 104"/>
                <a:gd name="T12" fmla="*/ 23 w 101"/>
                <a:gd name="T13" fmla="*/ 104 h 104"/>
                <a:gd name="T14" fmla="*/ 0 w 101"/>
                <a:gd name="T15" fmla="*/ 104 h 104"/>
                <a:gd name="T16" fmla="*/ 40 w 101"/>
                <a:gd name="T17" fmla="*/ 0 h 104"/>
                <a:gd name="T18" fmla="*/ 37 w 101"/>
                <a:gd name="T19" fmla="*/ 64 h 104"/>
                <a:gd name="T20" fmla="*/ 64 w 101"/>
                <a:gd name="T21" fmla="*/ 64 h 104"/>
                <a:gd name="T22" fmla="*/ 51 w 101"/>
                <a:gd name="T23" fmla="*/ 26 h 104"/>
                <a:gd name="T24" fmla="*/ 50 w 101"/>
                <a:gd name="T25" fmla="*/ 26 h 104"/>
                <a:gd name="T26" fmla="*/ 37 w 101"/>
                <a:gd name="T27" fmla="*/ 6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04">
                  <a:moveTo>
                    <a:pt x="40" y="0"/>
                  </a:moveTo>
                  <a:lnTo>
                    <a:pt x="63" y="0"/>
                  </a:lnTo>
                  <a:lnTo>
                    <a:pt x="101" y="104"/>
                  </a:lnTo>
                  <a:lnTo>
                    <a:pt x="78" y="104"/>
                  </a:lnTo>
                  <a:lnTo>
                    <a:pt x="70" y="81"/>
                  </a:lnTo>
                  <a:lnTo>
                    <a:pt x="31" y="81"/>
                  </a:lnTo>
                  <a:lnTo>
                    <a:pt x="23" y="104"/>
                  </a:lnTo>
                  <a:lnTo>
                    <a:pt x="0" y="104"/>
                  </a:lnTo>
                  <a:lnTo>
                    <a:pt x="40" y="0"/>
                  </a:lnTo>
                  <a:close/>
                  <a:moveTo>
                    <a:pt x="37" y="64"/>
                  </a:moveTo>
                  <a:lnTo>
                    <a:pt x="64" y="64"/>
                  </a:lnTo>
                  <a:lnTo>
                    <a:pt x="51" y="26"/>
                  </a:lnTo>
                  <a:lnTo>
                    <a:pt x="50" y="26"/>
                  </a:lnTo>
                  <a:lnTo>
                    <a:pt x="37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1" name="Freeform 24"/>
            <p:cNvSpPr>
              <a:spLocks/>
            </p:cNvSpPr>
            <p:nvPr userDrawn="1"/>
          </p:nvSpPr>
          <p:spPr bwMode="auto">
            <a:xfrm>
              <a:off x="6506" y="364"/>
              <a:ext cx="97" cy="109"/>
            </a:xfrm>
            <a:custGeom>
              <a:avLst/>
              <a:gdLst>
                <a:gd name="T0" fmla="*/ 104 w 126"/>
                <a:gd name="T1" fmla="*/ 122 h 141"/>
                <a:gd name="T2" fmla="*/ 67 w 126"/>
                <a:gd name="T3" fmla="*/ 141 h 141"/>
                <a:gd name="T4" fmla="*/ 0 w 126"/>
                <a:gd name="T5" fmla="*/ 71 h 141"/>
                <a:gd name="T6" fmla="*/ 67 w 126"/>
                <a:gd name="T7" fmla="*/ 0 h 141"/>
                <a:gd name="T8" fmla="*/ 124 w 126"/>
                <a:gd name="T9" fmla="*/ 47 h 141"/>
                <a:gd name="T10" fmla="*/ 95 w 126"/>
                <a:gd name="T11" fmla="*/ 47 h 141"/>
                <a:gd name="T12" fmla="*/ 67 w 126"/>
                <a:gd name="T13" fmla="*/ 24 h 141"/>
                <a:gd name="T14" fmla="*/ 30 w 126"/>
                <a:gd name="T15" fmla="*/ 71 h 141"/>
                <a:gd name="T16" fmla="*/ 67 w 126"/>
                <a:gd name="T17" fmla="*/ 116 h 141"/>
                <a:gd name="T18" fmla="*/ 99 w 126"/>
                <a:gd name="T19" fmla="*/ 87 h 141"/>
                <a:gd name="T20" fmla="*/ 69 w 126"/>
                <a:gd name="T21" fmla="*/ 87 h 141"/>
                <a:gd name="T22" fmla="*/ 69 w 126"/>
                <a:gd name="T23" fmla="*/ 65 h 141"/>
                <a:gd name="T24" fmla="*/ 126 w 126"/>
                <a:gd name="T25" fmla="*/ 65 h 141"/>
                <a:gd name="T26" fmla="*/ 126 w 126"/>
                <a:gd name="T27" fmla="*/ 138 h 141"/>
                <a:gd name="T28" fmla="*/ 107 w 126"/>
                <a:gd name="T29" fmla="*/ 138 h 141"/>
                <a:gd name="T30" fmla="*/ 104 w 126"/>
                <a:gd name="T31" fmla="*/ 12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6" h="141">
                  <a:moveTo>
                    <a:pt x="104" y="122"/>
                  </a:moveTo>
                  <a:cubicBezTo>
                    <a:pt x="93" y="136"/>
                    <a:pt x="80" y="141"/>
                    <a:pt x="67" y="141"/>
                  </a:cubicBezTo>
                  <a:cubicBezTo>
                    <a:pt x="25" y="141"/>
                    <a:pt x="0" y="110"/>
                    <a:pt x="0" y="71"/>
                  </a:cubicBezTo>
                  <a:cubicBezTo>
                    <a:pt x="0" y="31"/>
                    <a:pt x="25" y="0"/>
                    <a:pt x="67" y="0"/>
                  </a:cubicBezTo>
                  <a:cubicBezTo>
                    <a:pt x="94" y="0"/>
                    <a:pt x="120" y="17"/>
                    <a:pt x="124" y="47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2" y="32"/>
                    <a:pt x="81" y="24"/>
                    <a:pt x="67" y="24"/>
                  </a:cubicBezTo>
                  <a:cubicBezTo>
                    <a:pt x="40" y="24"/>
                    <a:pt x="30" y="47"/>
                    <a:pt x="30" y="71"/>
                  </a:cubicBezTo>
                  <a:cubicBezTo>
                    <a:pt x="30" y="93"/>
                    <a:pt x="40" y="116"/>
                    <a:pt x="67" y="116"/>
                  </a:cubicBezTo>
                  <a:cubicBezTo>
                    <a:pt x="86" y="116"/>
                    <a:pt x="97" y="106"/>
                    <a:pt x="99" y="87"/>
                  </a:cubicBezTo>
                  <a:cubicBezTo>
                    <a:pt x="69" y="87"/>
                    <a:pt x="69" y="87"/>
                    <a:pt x="69" y="87"/>
                  </a:cubicBezTo>
                  <a:cubicBezTo>
                    <a:pt x="69" y="65"/>
                    <a:pt x="69" y="65"/>
                    <a:pt x="69" y="6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26" y="138"/>
                    <a:pt x="126" y="138"/>
                    <a:pt x="126" y="138"/>
                  </a:cubicBezTo>
                  <a:cubicBezTo>
                    <a:pt x="107" y="138"/>
                    <a:pt x="107" y="138"/>
                    <a:pt x="107" y="138"/>
                  </a:cubicBezTo>
                  <a:lnTo>
                    <a:pt x="104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2" name="Freeform 25"/>
            <p:cNvSpPr>
              <a:spLocks/>
            </p:cNvSpPr>
            <p:nvPr userDrawn="1"/>
          </p:nvSpPr>
          <p:spPr bwMode="auto">
            <a:xfrm>
              <a:off x="6621" y="366"/>
              <a:ext cx="79" cy="104"/>
            </a:xfrm>
            <a:custGeom>
              <a:avLst/>
              <a:gdLst>
                <a:gd name="T0" fmla="*/ 0 w 79"/>
                <a:gd name="T1" fmla="*/ 0 h 104"/>
                <a:gd name="T2" fmla="*/ 78 w 79"/>
                <a:gd name="T3" fmla="*/ 0 h 104"/>
                <a:gd name="T4" fmla="*/ 78 w 79"/>
                <a:gd name="T5" fmla="*/ 20 h 104"/>
                <a:gd name="T6" fmla="*/ 22 w 79"/>
                <a:gd name="T7" fmla="*/ 20 h 104"/>
                <a:gd name="T8" fmla="*/ 22 w 79"/>
                <a:gd name="T9" fmla="*/ 42 h 104"/>
                <a:gd name="T10" fmla="*/ 73 w 79"/>
                <a:gd name="T11" fmla="*/ 42 h 104"/>
                <a:gd name="T12" fmla="*/ 73 w 79"/>
                <a:gd name="T13" fmla="*/ 60 h 104"/>
                <a:gd name="T14" fmla="*/ 22 w 79"/>
                <a:gd name="T15" fmla="*/ 60 h 104"/>
                <a:gd name="T16" fmla="*/ 22 w 79"/>
                <a:gd name="T17" fmla="*/ 85 h 104"/>
                <a:gd name="T18" fmla="*/ 79 w 79"/>
                <a:gd name="T19" fmla="*/ 85 h 104"/>
                <a:gd name="T20" fmla="*/ 79 w 79"/>
                <a:gd name="T21" fmla="*/ 104 h 104"/>
                <a:gd name="T22" fmla="*/ 0 w 79"/>
                <a:gd name="T23" fmla="*/ 104 h 104"/>
                <a:gd name="T24" fmla="*/ 0 w 79"/>
                <a:gd name="T2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" h="104">
                  <a:moveTo>
                    <a:pt x="0" y="0"/>
                  </a:moveTo>
                  <a:lnTo>
                    <a:pt x="78" y="0"/>
                  </a:lnTo>
                  <a:lnTo>
                    <a:pt x="78" y="20"/>
                  </a:lnTo>
                  <a:lnTo>
                    <a:pt x="22" y="20"/>
                  </a:lnTo>
                  <a:lnTo>
                    <a:pt x="22" y="42"/>
                  </a:lnTo>
                  <a:lnTo>
                    <a:pt x="73" y="42"/>
                  </a:lnTo>
                  <a:lnTo>
                    <a:pt x="73" y="60"/>
                  </a:lnTo>
                  <a:lnTo>
                    <a:pt x="22" y="60"/>
                  </a:lnTo>
                  <a:lnTo>
                    <a:pt x="22" y="85"/>
                  </a:lnTo>
                  <a:lnTo>
                    <a:pt x="79" y="85"/>
                  </a:lnTo>
                  <a:lnTo>
                    <a:pt x="79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3" name="Freeform 26"/>
            <p:cNvSpPr>
              <a:spLocks/>
            </p:cNvSpPr>
            <p:nvPr userDrawn="1"/>
          </p:nvSpPr>
          <p:spPr bwMode="auto">
            <a:xfrm>
              <a:off x="6715" y="366"/>
              <a:ext cx="88" cy="104"/>
            </a:xfrm>
            <a:custGeom>
              <a:avLst/>
              <a:gdLst>
                <a:gd name="T0" fmla="*/ 0 w 88"/>
                <a:gd name="T1" fmla="*/ 0 h 104"/>
                <a:gd name="T2" fmla="*/ 23 w 88"/>
                <a:gd name="T3" fmla="*/ 0 h 104"/>
                <a:gd name="T4" fmla="*/ 66 w 88"/>
                <a:gd name="T5" fmla="*/ 70 h 104"/>
                <a:gd name="T6" fmla="*/ 66 w 88"/>
                <a:gd name="T7" fmla="*/ 70 h 104"/>
                <a:gd name="T8" fmla="*/ 66 w 88"/>
                <a:gd name="T9" fmla="*/ 0 h 104"/>
                <a:gd name="T10" fmla="*/ 88 w 88"/>
                <a:gd name="T11" fmla="*/ 0 h 104"/>
                <a:gd name="T12" fmla="*/ 88 w 88"/>
                <a:gd name="T13" fmla="*/ 104 h 104"/>
                <a:gd name="T14" fmla="*/ 65 w 88"/>
                <a:gd name="T15" fmla="*/ 104 h 104"/>
                <a:gd name="T16" fmla="*/ 21 w 88"/>
                <a:gd name="T17" fmla="*/ 34 h 104"/>
                <a:gd name="T18" fmla="*/ 21 w 88"/>
                <a:gd name="T19" fmla="*/ 34 h 104"/>
                <a:gd name="T20" fmla="*/ 21 w 88"/>
                <a:gd name="T21" fmla="*/ 104 h 104"/>
                <a:gd name="T22" fmla="*/ 0 w 88"/>
                <a:gd name="T23" fmla="*/ 104 h 104"/>
                <a:gd name="T24" fmla="*/ 0 w 88"/>
                <a:gd name="T2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4">
                  <a:moveTo>
                    <a:pt x="0" y="0"/>
                  </a:moveTo>
                  <a:lnTo>
                    <a:pt x="23" y="0"/>
                  </a:lnTo>
                  <a:lnTo>
                    <a:pt x="66" y="70"/>
                  </a:lnTo>
                  <a:lnTo>
                    <a:pt x="66" y="70"/>
                  </a:lnTo>
                  <a:lnTo>
                    <a:pt x="66" y="0"/>
                  </a:lnTo>
                  <a:lnTo>
                    <a:pt x="88" y="0"/>
                  </a:lnTo>
                  <a:lnTo>
                    <a:pt x="88" y="104"/>
                  </a:lnTo>
                  <a:lnTo>
                    <a:pt x="65" y="104"/>
                  </a:lnTo>
                  <a:lnTo>
                    <a:pt x="21" y="34"/>
                  </a:lnTo>
                  <a:lnTo>
                    <a:pt x="21" y="34"/>
                  </a:lnTo>
                  <a:lnTo>
                    <a:pt x="21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4" name="Freeform 27"/>
            <p:cNvSpPr>
              <a:spLocks/>
            </p:cNvSpPr>
            <p:nvPr userDrawn="1"/>
          </p:nvSpPr>
          <p:spPr bwMode="auto">
            <a:xfrm>
              <a:off x="6818" y="364"/>
              <a:ext cx="97" cy="109"/>
            </a:xfrm>
            <a:custGeom>
              <a:avLst/>
              <a:gdLst>
                <a:gd name="T0" fmla="*/ 96 w 126"/>
                <a:gd name="T1" fmla="*/ 48 h 141"/>
                <a:gd name="T2" fmla="*/ 67 w 126"/>
                <a:gd name="T3" fmla="*/ 24 h 141"/>
                <a:gd name="T4" fmla="*/ 30 w 126"/>
                <a:gd name="T5" fmla="*/ 71 h 141"/>
                <a:gd name="T6" fmla="*/ 67 w 126"/>
                <a:gd name="T7" fmla="*/ 116 h 141"/>
                <a:gd name="T8" fmla="*/ 97 w 126"/>
                <a:gd name="T9" fmla="*/ 86 h 141"/>
                <a:gd name="T10" fmla="*/ 126 w 126"/>
                <a:gd name="T11" fmla="*/ 86 h 141"/>
                <a:gd name="T12" fmla="*/ 67 w 126"/>
                <a:gd name="T13" fmla="*/ 141 h 141"/>
                <a:gd name="T14" fmla="*/ 0 w 126"/>
                <a:gd name="T15" fmla="*/ 71 h 141"/>
                <a:gd name="T16" fmla="*/ 67 w 126"/>
                <a:gd name="T17" fmla="*/ 0 h 141"/>
                <a:gd name="T18" fmla="*/ 125 w 126"/>
                <a:gd name="T19" fmla="*/ 48 h 141"/>
                <a:gd name="T20" fmla="*/ 96 w 126"/>
                <a:gd name="T21" fmla="*/ 4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" h="141">
                  <a:moveTo>
                    <a:pt x="96" y="48"/>
                  </a:moveTo>
                  <a:cubicBezTo>
                    <a:pt x="94" y="35"/>
                    <a:pt x="82" y="24"/>
                    <a:pt x="67" y="24"/>
                  </a:cubicBezTo>
                  <a:cubicBezTo>
                    <a:pt x="40" y="24"/>
                    <a:pt x="30" y="47"/>
                    <a:pt x="30" y="71"/>
                  </a:cubicBezTo>
                  <a:cubicBezTo>
                    <a:pt x="30" y="93"/>
                    <a:pt x="40" y="116"/>
                    <a:pt x="67" y="116"/>
                  </a:cubicBezTo>
                  <a:cubicBezTo>
                    <a:pt x="85" y="116"/>
                    <a:pt x="95" y="104"/>
                    <a:pt x="97" y="86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3" y="119"/>
                    <a:pt x="100" y="141"/>
                    <a:pt x="67" y="141"/>
                  </a:cubicBezTo>
                  <a:cubicBezTo>
                    <a:pt x="25" y="141"/>
                    <a:pt x="0" y="110"/>
                    <a:pt x="0" y="71"/>
                  </a:cubicBezTo>
                  <a:cubicBezTo>
                    <a:pt x="0" y="31"/>
                    <a:pt x="25" y="0"/>
                    <a:pt x="67" y="0"/>
                  </a:cubicBezTo>
                  <a:cubicBezTo>
                    <a:pt x="97" y="0"/>
                    <a:pt x="121" y="17"/>
                    <a:pt x="125" y="48"/>
                  </a:cubicBezTo>
                  <a:lnTo>
                    <a:pt x="96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5" name="Freeform 28"/>
            <p:cNvSpPr>
              <a:spLocks/>
            </p:cNvSpPr>
            <p:nvPr userDrawn="1"/>
          </p:nvSpPr>
          <p:spPr bwMode="auto">
            <a:xfrm>
              <a:off x="6919" y="366"/>
              <a:ext cx="100" cy="104"/>
            </a:xfrm>
            <a:custGeom>
              <a:avLst/>
              <a:gdLst>
                <a:gd name="T0" fmla="*/ 38 w 100"/>
                <a:gd name="T1" fmla="*/ 64 h 104"/>
                <a:gd name="T2" fmla="*/ 0 w 100"/>
                <a:gd name="T3" fmla="*/ 0 h 104"/>
                <a:gd name="T4" fmla="*/ 26 w 100"/>
                <a:gd name="T5" fmla="*/ 0 h 104"/>
                <a:gd name="T6" fmla="*/ 50 w 100"/>
                <a:gd name="T7" fmla="*/ 41 h 104"/>
                <a:gd name="T8" fmla="*/ 74 w 100"/>
                <a:gd name="T9" fmla="*/ 0 h 104"/>
                <a:gd name="T10" fmla="*/ 100 w 100"/>
                <a:gd name="T11" fmla="*/ 0 h 104"/>
                <a:gd name="T12" fmla="*/ 61 w 100"/>
                <a:gd name="T13" fmla="*/ 64 h 104"/>
                <a:gd name="T14" fmla="*/ 61 w 100"/>
                <a:gd name="T15" fmla="*/ 104 h 104"/>
                <a:gd name="T16" fmla="*/ 38 w 100"/>
                <a:gd name="T17" fmla="*/ 104 h 104"/>
                <a:gd name="T18" fmla="*/ 38 w 100"/>
                <a:gd name="T19" fmla="*/ 6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104">
                  <a:moveTo>
                    <a:pt x="38" y="64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50" y="41"/>
                  </a:lnTo>
                  <a:lnTo>
                    <a:pt x="74" y="0"/>
                  </a:lnTo>
                  <a:lnTo>
                    <a:pt x="100" y="0"/>
                  </a:lnTo>
                  <a:lnTo>
                    <a:pt x="61" y="64"/>
                  </a:lnTo>
                  <a:lnTo>
                    <a:pt x="61" y="104"/>
                  </a:lnTo>
                  <a:lnTo>
                    <a:pt x="38" y="104"/>
                  </a:lnTo>
                  <a:lnTo>
                    <a:pt x="38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6" name="Rectangle 29"/>
            <p:cNvSpPr>
              <a:spLocks noChangeArrowheads="1"/>
            </p:cNvSpPr>
            <p:nvPr userDrawn="1"/>
          </p:nvSpPr>
          <p:spPr bwMode="auto">
            <a:xfrm>
              <a:off x="6531" y="185"/>
              <a:ext cx="23" cy="1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7" name="Freeform 30"/>
            <p:cNvSpPr>
              <a:spLocks/>
            </p:cNvSpPr>
            <p:nvPr userDrawn="1"/>
          </p:nvSpPr>
          <p:spPr bwMode="auto">
            <a:xfrm>
              <a:off x="6574" y="185"/>
              <a:ext cx="88" cy="104"/>
            </a:xfrm>
            <a:custGeom>
              <a:avLst/>
              <a:gdLst>
                <a:gd name="T0" fmla="*/ 0 w 88"/>
                <a:gd name="T1" fmla="*/ 0 h 104"/>
                <a:gd name="T2" fmla="*/ 23 w 88"/>
                <a:gd name="T3" fmla="*/ 0 h 104"/>
                <a:gd name="T4" fmla="*/ 66 w 88"/>
                <a:gd name="T5" fmla="*/ 69 h 104"/>
                <a:gd name="T6" fmla="*/ 66 w 88"/>
                <a:gd name="T7" fmla="*/ 69 h 104"/>
                <a:gd name="T8" fmla="*/ 66 w 88"/>
                <a:gd name="T9" fmla="*/ 0 h 104"/>
                <a:gd name="T10" fmla="*/ 88 w 88"/>
                <a:gd name="T11" fmla="*/ 0 h 104"/>
                <a:gd name="T12" fmla="*/ 88 w 88"/>
                <a:gd name="T13" fmla="*/ 104 h 104"/>
                <a:gd name="T14" fmla="*/ 65 w 88"/>
                <a:gd name="T15" fmla="*/ 104 h 104"/>
                <a:gd name="T16" fmla="*/ 22 w 88"/>
                <a:gd name="T17" fmla="*/ 34 h 104"/>
                <a:gd name="T18" fmla="*/ 22 w 88"/>
                <a:gd name="T19" fmla="*/ 34 h 104"/>
                <a:gd name="T20" fmla="*/ 22 w 88"/>
                <a:gd name="T21" fmla="*/ 104 h 104"/>
                <a:gd name="T22" fmla="*/ 0 w 88"/>
                <a:gd name="T23" fmla="*/ 104 h 104"/>
                <a:gd name="T24" fmla="*/ 0 w 88"/>
                <a:gd name="T2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4">
                  <a:moveTo>
                    <a:pt x="0" y="0"/>
                  </a:moveTo>
                  <a:lnTo>
                    <a:pt x="23" y="0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6" y="0"/>
                  </a:lnTo>
                  <a:lnTo>
                    <a:pt x="88" y="0"/>
                  </a:lnTo>
                  <a:lnTo>
                    <a:pt x="88" y="104"/>
                  </a:lnTo>
                  <a:lnTo>
                    <a:pt x="65" y="104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22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8" name="Freeform 31"/>
            <p:cNvSpPr>
              <a:spLocks/>
            </p:cNvSpPr>
            <p:nvPr userDrawn="1"/>
          </p:nvSpPr>
          <p:spPr bwMode="auto">
            <a:xfrm>
              <a:off x="6682" y="185"/>
              <a:ext cx="73" cy="104"/>
            </a:xfrm>
            <a:custGeom>
              <a:avLst/>
              <a:gdLst>
                <a:gd name="T0" fmla="*/ 0 w 73"/>
                <a:gd name="T1" fmla="*/ 0 h 104"/>
                <a:gd name="T2" fmla="*/ 73 w 73"/>
                <a:gd name="T3" fmla="*/ 0 h 104"/>
                <a:gd name="T4" fmla="*/ 73 w 73"/>
                <a:gd name="T5" fmla="*/ 19 h 104"/>
                <a:gd name="T6" fmla="*/ 23 w 73"/>
                <a:gd name="T7" fmla="*/ 19 h 104"/>
                <a:gd name="T8" fmla="*/ 23 w 73"/>
                <a:gd name="T9" fmla="*/ 43 h 104"/>
                <a:gd name="T10" fmla="*/ 66 w 73"/>
                <a:gd name="T11" fmla="*/ 43 h 104"/>
                <a:gd name="T12" fmla="*/ 66 w 73"/>
                <a:gd name="T13" fmla="*/ 61 h 104"/>
                <a:gd name="T14" fmla="*/ 23 w 73"/>
                <a:gd name="T15" fmla="*/ 61 h 104"/>
                <a:gd name="T16" fmla="*/ 23 w 73"/>
                <a:gd name="T17" fmla="*/ 104 h 104"/>
                <a:gd name="T18" fmla="*/ 0 w 73"/>
                <a:gd name="T19" fmla="*/ 104 h 104"/>
                <a:gd name="T20" fmla="*/ 0 w 73"/>
                <a:gd name="T21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" h="104">
                  <a:moveTo>
                    <a:pt x="0" y="0"/>
                  </a:moveTo>
                  <a:lnTo>
                    <a:pt x="73" y="0"/>
                  </a:lnTo>
                  <a:lnTo>
                    <a:pt x="73" y="19"/>
                  </a:lnTo>
                  <a:lnTo>
                    <a:pt x="23" y="19"/>
                  </a:lnTo>
                  <a:lnTo>
                    <a:pt x="23" y="43"/>
                  </a:lnTo>
                  <a:lnTo>
                    <a:pt x="66" y="43"/>
                  </a:lnTo>
                  <a:lnTo>
                    <a:pt x="66" y="61"/>
                  </a:lnTo>
                  <a:lnTo>
                    <a:pt x="23" y="61"/>
                  </a:lnTo>
                  <a:lnTo>
                    <a:pt x="23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29" name="Freeform 32"/>
            <p:cNvSpPr>
              <a:spLocks noEditPoints="1"/>
            </p:cNvSpPr>
            <p:nvPr userDrawn="1"/>
          </p:nvSpPr>
          <p:spPr bwMode="auto">
            <a:xfrm>
              <a:off x="6763" y="180"/>
              <a:ext cx="103" cy="109"/>
            </a:xfrm>
            <a:custGeom>
              <a:avLst/>
              <a:gdLst>
                <a:gd name="T0" fmla="*/ 66 w 133"/>
                <a:gd name="T1" fmla="*/ 0 h 142"/>
                <a:gd name="T2" fmla="*/ 133 w 133"/>
                <a:gd name="T3" fmla="*/ 72 h 142"/>
                <a:gd name="T4" fmla="*/ 66 w 133"/>
                <a:gd name="T5" fmla="*/ 142 h 142"/>
                <a:gd name="T6" fmla="*/ 0 w 133"/>
                <a:gd name="T7" fmla="*/ 72 h 142"/>
                <a:gd name="T8" fmla="*/ 66 w 133"/>
                <a:gd name="T9" fmla="*/ 0 h 142"/>
                <a:gd name="T10" fmla="*/ 66 w 133"/>
                <a:gd name="T11" fmla="*/ 117 h 142"/>
                <a:gd name="T12" fmla="*/ 103 w 133"/>
                <a:gd name="T13" fmla="*/ 72 h 142"/>
                <a:gd name="T14" fmla="*/ 66 w 133"/>
                <a:gd name="T15" fmla="*/ 25 h 142"/>
                <a:gd name="T16" fmla="*/ 30 w 133"/>
                <a:gd name="T17" fmla="*/ 72 h 142"/>
                <a:gd name="T18" fmla="*/ 66 w 133"/>
                <a:gd name="T19" fmla="*/ 11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" h="142">
                  <a:moveTo>
                    <a:pt x="66" y="0"/>
                  </a:moveTo>
                  <a:cubicBezTo>
                    <a:pt x="108" y="0"/>
                    <a:pt x="133" y="31"/>
                    <a:pt x="133" y="72"/>
                  </a:cubicBezTo>
                  <a:cubicBezTo>
                    <a:pt x="133" y="111"/>
                    <a:pt x="108" y="142"/>
                    <a:pt x="66" y="142"/>
                  </a:cubicBezTo>
                  <a:cubicBezTo>
                    <a:pt x="25" y="142"/>
                    <a:pt x="0" y="111"/>
                    <a:pt x="0" y="72"/>
                  </a:cubicBezTo>
                  <a:cubicBezTo>
                    <a:pt x="0" y="31"/>
                    <a:pt x="25" y="0"/>
                    <a:pt x="66" y="0"/>
                  </a:cubicBezTo>
                  <a:moveTo>
                    <a:pt x="66" y="117"/>
                  </a:moveTo>
                  <a:cubicBezTo>
                    <a:pt x="93" y="117"/>
                    <a:pt x="103" y="94"/>
                    <a:pt x="103" y="72"/>
                  </a:cubicBezTo>
                  <a:cubicBezTo>
                    <a:pt x="103" y="48"/>
                    <a:pt x="93" y="25"/>
                    <a:pt x="66" y="25"/>
                  </a:cubicBezTo>
                  <a:cubicBezTo>
                    <a:pt x="40" y="25"/>
                    <a:pt x="30" y="48"/>
                    <a:pt x="30" y="72"/>
                  </a:cubicBezTo>
                  <a:cubicBezTo>
                    <a:pt x="30" y="94"/>
                    <a:pt x="40" y="117"/>
                    <a:pt x="66" y="1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30" name="Freeform 33"/>
            <p:cNvSpPr>
              <a:spLocks noEditPoints="1"/>
            </p:cNvSpPr>
            <p:nvPr userDrawn="1"/>
          </p:nvSpPr>
          <p:spPr bwMode="auto">
            <a:xfrm>
              <a:off x="6881" y="185"/>
              <a:ext cx="89" cy="104"/>
            </a:xfrm>
            <a:custGeom>
              <a:avLst/>
              <a:gdLst>
                <a:gd name="T0" fmla="*/ 0 w 116"/>
                <a:gd name="T1" fmla="*/ 0 h 135"/>
                <a:gd name="T2" fmla="*/ 73 w 116"/>
                <a:gd name="T3" fmla="*/ 0 h 135"/>
                <a:gd name="T4" fmla="*/ 112 w 116"/>
                <a:gd name="T5" fmla="*/ 37 h 135"/>
                <a:gd name="T6" fmla="*/ 91 w 116"/>
                <a:gd name="T7" fmla="*/ 71 h 135"/>
                <a:gd name="T8" fmla="*/ 91 w 116"/>
                <a:gd name="T9" fmla="*/ 71 h 135"/>
                <a:gd name="T10" fmla="*/ 111 w 116"/>
                <a:gd name="T11" fmla="*/ 103 h 135"/>
                <a:gd name="T12" fmla="*/ 116 w 116"/>
                <a:gd name="T13" fmla="*/ 135 h 135"/>
                <a:gd name="T14" fmla="*/ 87 w 116"/>
                <a:gd name="T15" fmla="*/ 135 h 135"/>
                <a:gd name="T16" fmla="*/ 82 w 116"/>
                <a:gd name="T17" fmla="*/ 102 h 135"/>
                <a:gd name="T18" fmla="*/ 59 w 116"/>
                <a:gd name="T19" fmla="*/ 82 h 135"/>
                <a:gd name="T20" fmla="*/ 30 w 116"/>
                <a:gd name="T21" fmla="*/ 82 h 135"/>
                <a:gd name="T22" fmla="*/ 30 w 116"/>
                <a:gd name="T23" fmla="*/ 135 h 135"/>
                <a:gd name="T24" fmla="*/ 0 w 116"/>
                <a:gd name="T25" fmla="*/ 135 h 135"/>
                <a:gd name="T26" fmla="*/ 0 w 116"/>
                <a:gd name="T27" fmla="*/ 0 h 135"/>
                <a:gd name="T28" fmla="*/ 30 w 116"/>
                <a:gd name="T29" fmla="*/ 61 h 135"/>
                <a:gd name="T30" fmla="*/ 62 w 116"/>
                <a:gd name="T31" fmla="*/ 61 h 135"/>
                <a:gd name="T32" fmla="*/ 83 w 116"/>
                <a:gd name="T33" fmla="*/ 42 h 135"/>
                <a:gd name="T34" fmla="*/ 62 w 116"/>
                <a:gd name="T35" fmla="*/ 23 h 135"/>
                <a:gd name="T36" fmla="*/ 30 w 116"/>
                <a:gd name="T37" fmla="*/ 23 h 135"/>
                <a:gd name="T38" fmla="*/ 30 w 116"/>
                <a:gd name="T39" fmla="*/ 61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" h="135">
                  <a:moveTo>
                    <a:pt x="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97" y="0"/>
                    <a:pt x="112" y="17"/>
                    <a:pt x="112" y="37"/>
                  </a:cubicBezTo>
                  <a:cubicBezTo>
                    <a:pt x="112" y="53"/>
                    <a:pt x="106" y="65"/>
                    <a:pt x="91" y="71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106" y="75"/>
                    <a:pt x="110" y="89"/>
                    <a:pt x="111" y="103"/>
                  </a:cubicBezTo>
                  <a:cubicBezTo>
                    <a:pt x="111" y="111"/>
                    <a:pt x="111" y="127"/>
                    <a:pt x="11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3" y="126"/>
                    <a:pt x="83" y="113"/>
                    <a:pt x="82" y="102"/>
                  </a:cubicBezTo>
                  <a:cubicBezTo>
                    <a:pt x="80" y="88"/>
                    <a:pt x="74" y="82"/>
                    <a:pt x="59" y="82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30" y="135"/>
                    <a:pt x="30" y="135"/>
                    <a:pt x="30" y="135"/>
                  </a:cubicBezTo>
                  <a:cubicBezTo>
                    <a:pt x="0" y="135"/>
                    <a:pt x="0" y="135"/>
                    <a:pt x="0" y="135"/>
                  </a:cubicBezTo>
                  <a:lnTo>
                    <a:pt x="0" y="0"/>
                  </a:lnTo>
                  <a:close/>
                  <a:moveTo>
                    <a:pt x="30" y="61"/>
                  </a:moveTo>
                  <a:cubicBezTo>
                    <a:pt x="62" y="61"/>
                    <a:pt x="62" y="61"/>
                    <a:pt x="62" y="61"/>
                  </a:cubicBezTo>
                  <a:cubicBezTo>
                    <a:pt x="76" y="61"/>
                    <a:pt x="83" y="55"/>
                    <a:pt x="83" y="42"/>
                  </a:cubicBezTo>
                  <a:cubicBezTo>
                    <a:pt x="83" y="28"/>
                    <a:pt x="76" y="23"/>
                    <a:pt x="62" y="23"/>
                  </a:cubicBezTo>
                  <a:cubicBezTo>
                    <a:pt x="30" y="23"/>
                    <a:pt x="30" y="23"/>
                    <a:pt x="30" y="23"/>
                  </a:cubicBezTo>
                  <a:lnTo>
                    <a:pt x="30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31" name="Freeform 34"/>
            <p:cNvSpPr>
              <a:spLocks/>
            </p:cNvSpPr>
            <p:nvPr userDrawn="1"/>
          </p:nvSpPr>
          <p:spPr bwMode="auto">
            <a:xfrm>
              <a:off x="6986" y="185"/>
              <a:ext cx="112" cy="104"/>
            </a:xfrm>
            <a:custGeom>
              <a:avLst/>
              <a:gdLst>
                <a:gd name="T0" fmla="*/ 0 w 112"/>
                <a:gd name="T1" fmla="*/ 0 h 104"/>
                <a:gd name="T2" fmla="*/ 32 w 112"/>
                <a:gd name="T3" fmla="*/ 0 h 104"/>
                <a:gd name="T4" fmla="*/ 56 w 112"/>
                <a:gd name="T5" fmla="*/ 72 h 104"/>
                <a:gd name="T6" fmla="*/ 56 w 112"/>
                <a:gd name="T7" fmla="*/ 72 h 104"/>
                <a:gd name="T8" fmla="*/ 79 w 112"/>
                <a:gd name="T9" fmla="*/ 0 h 104"/>
                <a:gd name="T10" fmla="*/ 112 w 112"/>
                <a:gd name="T11" fmla="*/ 0 h 104"/>
                <a:gd name="T12" fmla="*/ 112 w 112"/>
                <a:gd name="T13" fmla="*/ 104 h 104"/>
                <a:gd name="T14" fmla="*/ 90 w 112"/>
                <a:gd name="T15" fmla="*/ 104 h 104"/>
                <a:gd name="T16" fmla="*/ 90 w 112"/>
                <a:gd name="T17" fmla="*/ 30 h 104"/>
                <a:gd name="T18" fmla="*/ 90 w 112"/>
                <a:gd name="T19" fmla="*/ 30 h 104"/>
                <a:gd name="T20" fmla="*/ 65 w 112"/>
                <a:gd name="T21" fmla="*/ 104 h 104"/>
                <a:gd name="T22" fmla="*/ 47 w 112"/>
                <a:gd name="T23" fmla="*/ 104 h 104"/>
                <a:gd name="T24" fmla="*/ 22 w 112"/>
                <a:gd name="T25" fmla="*/ 31 h 104"/>
                <a:gd name="T26" fmla="*/ 21 w 112"/>
                <a:gd name="T27" fmla="*/ 31 h 104"/>
                <a:gd name="T28" fmla="*/ 21 w 112"/>
                <a:gd name="T29" fmla="*/ 104 h 104"/>
                <a:gd name="T30" fmla="*/ 0 w 112"/>
                <a:gd name="T31" fmla="*/ 104 h 104"/>
                <a:gd name="T32" fmla="*/ 0 w 112"/>
                <a:gd name="T33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2" h="104">
                  <a:moveTo>
                    <a:pt x="0" y="0"/>
                  </a:moveTo>
                  <a:lnTo>
                    <a:pt x="32" y="0"/>
                  </a:lnTo>
                  <a:lnTo>
                    <a:pt x="56" y="72"/>
                  </a:lnTo>
                  <a:lnTo>
                    <a:pt x="56" y="72"/>
                  </a:lnTo>
                  <a:lnTo>
                    <a:pt x="79" y="0"/>
                  </a:lnTo>
                  <a:lnTo>
                    <a:pt x="112" y="0"/>
                  </a:lnTo>
                  <a:lnTo>
                    <a:pt x="112" y="104"/>
                  </a:lnTo>
                  <a:lnTo>
                    <a:pt x="90" y="104"/>
                  </a:lnTo>
                  <a:lnTo>
                    <a:pt x="90" y="30"/>
                  </a:lnTo>
                  <a:lnTo>
                    <a:pt x="90" y="30"/>
                  </a:lnTo>
                  <a:lnTo>
                    <a:pt x="65" y="104"/>
                  </a:lnTo>
                  <a:lnTo>
                    <a:pt x="47" y="104"/>
                  </a:lnTo>
                  <a:lnTo>
                    <a:pt x="22" y="31"/>
                  </a:lnTo>
                  <a:lnTo>
                    <a:pt x="21" y="31"/>
                  </a:lnTo>
                  <a:lnTo>
                    <a:pt x="21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32" name="Freeform 35"/>
            <p:cNvSpPr>
              <a:spLocks noEditPoints="1"/>
            </p:cNvSpPr>
            <p:nvPr userDrawn="1"/>
          </p:nvSpPr>
          <p:spPr bwMode="auto">
            <a:xfrm>
              <a:off x="7107" y="185"/>
              <a:ext cx="101" cy="104"/>
            </a:xfrm>
            <a:custGeom>
              <a:avLst/>
              <a:gdLst>
                <a:gd name="T0" fmla="*/ 39 w 101"/>
                <a:gd name="T1" fmla="*/ 0 h 104"/>
                <a:gd name="T2" fmla="*/ 62 w 101"/>
                <a:gd name="T3" fmla="*/ 0 h 104"/>
                <a:gd name="T4" fmla="*/ 101 w 101"/>
                <a:gd name="T5" fmla="*/ 104 h 104"/>
                <a:gd name="T6" fmla="*/ 78 w 101"/>
                <a:gd name="T7" fmla="*/ 104 h 104"/>
                <a:gd name="T8" fmla="*/ 70 w 101"/>
                <a:gd name="T9" fmla="*/ 81 h 104"/>
                <a:gd name="T10" fmla="*/ 31 w 101"/>
                <a:gd name="T11" fmla="*/ 81 h 104"/>
                <a:gd name="T12" fmla="*/ 23 w 101"/>
                <a:gd name="T13" fmla="*/ 104 h 104"/>
                <a:gd name="T14" fmla="*/ 0 w 101"/>
                <a:gd name="T15" fmla="*/ 104 h 104"/>
                <a:gd name="T16" fmla="*/ 39 w 101"/>
                <a:gd name="T17" fmla="*/ 0 h 104"/>
                <a:gd name="T18" fmla="*/ 37 w 101"/>
                <a:gd name="T19" fmla="*/ 64 h 104"/>
                <a:gd name="T20" fmla="*/ 64 w 101"/>
                <a:gd name="T21" fmla="*/ 64 h 104"/>
                <a:gd name="T22" fmla="*/ 51 w 101"/>
                <a:gd name="T23" fmla="*/ 26 h 104"/>
                <a:gd name="T24" fmla="*/ 51 w 101"/>
                <a:gd name="T25" fmla="*/ 26 h 104"/>
                <a:gd name="T26" fmla="*/ 37 w 101"/>
                <a:gd name="T27" fmla="*/ 6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04">
                  <a:moveTo>
                    <a:pt x="39" y="0"/>
                  </a:moveTo>
                  <a:lnTo>
                    <a:pt x="62" y="0"/>
                  </a:lnTo>
                  <a:lnTo>
                    <a:pt x="101" y="104"/>
                  </a:lnTo>
                  <a:lnTo>
                    <a:pt x="78" y="104"/>
                  </a:lnTo>
                  <a:lnTo>
                    <a:pt x="70" y="81"/>
                  </a:lnTo>
                  <a:lnTo>
                    <a:pt x="31" y="81"/>
                  </a:lnTo>
                  <a:lnTo>
                    <a:pt x="23" y="104"/>
                  </a:lnTo>
                  <a:lnTo>
                    <a:pt x="0" y="104"/>
                  </a:lnTo>
                  <a:lnTo>
                    <a:pt x="39" y="0"/>
                  </a:lnTo>
                  <a:close/>
                  <a:moveTo>
                    <a:pt x="37" y="64"/>
                  </a:moveTo>
                  <a:lnTo>
                    <a:pt x="64" y="64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37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33" name="Freeform 36"/>
            <p:cNvSpPr>
              <a:spLocks/>
            </p:cNvSpPr>
            <p:nvPr userDrawn="1"/>
          </p:nvSpPr>
          <p:spPr bwMode="auto">
            <a:xfrm>
              <a:off x="7198" y="185"/>
              <a:ext cx="86" cy="104"/>
            </a:xfrm>
            <a:custGeom>
              <a:avLst/>
              <a:gdLst>
                <a:gd name="T0" fmla="*/ 31 w 86"/>
                <a:gd name="T1" fmla="*/ 19 h 104"/>
                <a:gd name="T2" fmla="*/ 0 w 86"/>
                <a:gd name="T3" fmla="*/ 19 h 104"/>
                <a:gd name="T4" fmla="*/ 0 w 86"/>
                <a:gd name="T5" fmla="*/ 0 h 104"/>
                <a:gd name="T6" fmla="*/ 86 w 86"/>
                <a:gd name="T7" fmla="*/ 0 h 104"/>
                <a:gd name="T8" fmla="*/ 86 w 86"/>
                <a:gd name="T9" fmla="*/ 19 h 104"/>
                <a:gd name="T10" fmla="*/ 54 w 86"/>
                <a:gd name="T11" fmla="*/ 19 h 104"/>
                <a:gd name="T12" fmla="*/ 54 w 86"/>
                <a:gd name="T13" fmla="*/ 104 h 104"/>
                <a:gd name="T14" fmla="*/ 31 w 86"/>
                <a:gd name="T15" fmla="*/ 104 h 104"/>
                <a:gd name="T16" fmla="*/ 31 w 86"/>
                <a:gd name="T17" fmla="*/ 1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" h="104">
                  <a:moveTo>
                    <a:pt x="31" y="19"/>
                  </a:moveTo>
                  <a:lnTo>
                    <a:pt x="0" y="19"/>
                  </a:lnTo>
                  <a:lnTo>
                    <a:pt x="0" y="0"/>
                  </a:lnTo>
                  <a:lnTo>
                    <a:pt x="86" y="0"/>
                  </a:lnTo>
                  <a:lnTo>
                    <a:pt x="86" y="19"/>
                  </a:lnTo>
                  <a:lnTo>
                    <a:pt x="54" y="19"/>
                  </a:lnTo>
                  <a:lnTo>
                    <a:pt x="54" y="104"/>
                  </a:lnTo>
                  <a:lnTo>
                    <a:pt x="31" y="104"/>
                  </a:lnTo>
                  <a:lnTo>
                    <a:pt x="31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34" name="Rectangle 37"/>
            <p:cNvSpPr>
              <a:spLocks noChangeArrowheads="1"/>
            </p:cNvSpPr>
            <p:nvPr userDrawn="1"/>
          </p:nvSpPr>
          <p:spPr bwMode="auto">
            <a:xfrm>
              <a:off x="7295" y="185"/>
              <a:ext cx="23" cy="10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35" name="Freeform 38"/>
            <p:cNvSpPr>
              <a:spLocks noEditPoints="1"/>
            </p:cNvSpPr>
            <p:nvPr userDrawn="1"/>
          </p:nvSpPr>
          <p:spPr bwMode="auto">
            <a:xfrm>
              <a:off x="7334" y="180"/>
              <a:ext cx="102" cy="109"/>
            </a:xfrm>
            <a:custGeom>
              <a:avLst/>
              <a:gdLst>
                <a:gd name="T0" fmla="*/ 66 w 133"/>
                <a:gd name="T1" fmla="*/ 0 h 142"/>
                <a:gd name="T2" fmla="*/ 133 w 133"/>
                <a:gd name="T3" fmla="*/ 72 h 142"/>
                <a:gd name="T4" fmla="*/ 66 w 133"/>
                <a:gd name="T5" fmla="*/ 142 h 142"/>
                <a:gd name="T6" fmla="*/ 0 w 133"/>
                <a:gd name="T7" fmla="*/ 72 h 142"/>
                <a:gd name="T8" fmla="*/ 66 w 133"/>
                <a:gd name="T9" fmla="*/ 0 h 142"/>
                <a:gd name="T10" fmla="*/ 66 w 133"/>
                <a:gd name="T11" fmla="*/ 117 h 142"/>
                <a:gd name="T12" fmla="*/ 103 w 133"/>
                <a:gd name="T13" fmla="*/ 72 h 142"/>
                <a:gd name="T14" fmla="*/ 66 w 133"/>
                <a:gd name="T15" fmla="*/ 25 h 142"/>
                <a:gd name="T16" fmla="*/ 30 w 133"/>
                <a:gd name="T17" fmla="*/ 72 h 142"/>
                <a:gd name="T18" fmla="*/ 66 w 133"/>
                <a:gd name="T19" fmla="*/ 11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" h="142">
                  <a:moveTo>
                    <a:pt x="66" y="0"/>
                  </a:moveTo>
                  <a:cubicBezTo>
                    <a:pt x="108" y="0"/>
                    <a:pt x="133" y="31"/>
                    <a:pt x="133" y="72"/>
                  </a:cubicBezTo>
                  <a:cubicBezTo>
                    <a:pt x="133" y="111"/>
                    <a:pt x="108" y="142"/>
                    <a:pt x="66" y="142"/>
                  </a:cubicBezTo>
                  <a:cubicBezTo>
                    <a:pt x="25" y="142"/>
                    <a:pt x="0" y="111"/>
                    <a:pt x="0" y="72"/>
                  </a:cubicBezTo>
                  <a:cubicBezTo>
                    <a:pt x="0" y="31"/>
                    <a:pt x="25" y="0"/>
                    <a:pt x="66" y="0"/>
                  </a:cubicBezTo>
                  <a:moveTo>
                    <a:pt x="66" y="117"/>
                  </a:moveTo>
                  <a:cubicBezTo>
                    <a:pt x="93" y="117"/>
                    <a:pt x="103" y="94"/>
                    <a:pt x="103" y="72"/>
                  </a:cubicBezTo>
                  <a:cubicBezTo>
                    <a:pt x="103" y="48"/>
                    <a:pt x="93" y="25"/>
                    <a:pt x="66" y="25"/>
                  </a:cubicBezTo>
                  <a:cubicBezTo>
                    <a:pt x="40" y="25"/>
                    <a:pt x="30" y="48"/>
                    <a:pt x="30" y="72"/>
                  </a:cubicBezTo>
                  <a:cubicBezTo>
                    <a:pt x="30" y="94"/>
                    <a:pt x="40" y="117"/>
                    <a:pt x="66" y="1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  <p:sp>
          <p:nvSpPr>
            <p:cNvPr id="236" name="Freeform 39"/>
            <p:cNvSpPr>
              <a:spLocks/>
            </p:cNvSpPr>
            <p:nvPr userDrawn="1"/>
          </p:nvSpPr>
          <p:spPr bwMode="auto">
            <a:xfrm>
              <a:off x="7451" y="185"/>
              <a:ext cx="88" cy="104"/>
            </a:xfrm>
            <a:custGeom>
              <a:avLst/>
              <a:gdLst>
                <a:gd name="T0" fmla="*/ 0 w 88"/>
                <a:gd name="T1" fmla="*/ 0 h 104"/>
                <a:gd name="T2" fmla="*/ 23 w 88"/>
                <a:gd name="T3" fmla="*/ 0 h 104"/>
                <a:gd name="T4" fmla="*/ 66 w 88"/>
                <a:gd name="T5" fmla="*/ 69 h 104"/>
                <a:gd name="T6" fmla="*/ 66 w 88"/>
                <a:gd name="T7" fmla="*/ 69 h 104"/>
                <a:gd name="T8" fmla="*/ 66 w 88"/>
                <a:gd name="T9" fmla="*/ 0 h 104"/>
                <a:gd name="T10" fmla="*/ 88 w 88"/>
                <a:gd name="T11" fmla="*/ 0 h 104"/>
                <a:gd name="T12" fmla="*/ 88 w 88"/>
                <a:gd name="T13" fmla="*/ 104 h 104"/>
                <a:gd name="T14" fmla="*/ 65 w 88"/>
                <a:gd name="T15" fmla="*/ 104 h 104"/>
                <a:gd name="T16" fmla="*/ 22 w 88"/>
                <a:gd name="T17" fmla="*/ 34 h 104"/>
                <a:gd name="T18" fmla="*/ 22 w 88"/>
                <a:gd name="T19" fmla="*/ 34 h 104"/>
                <a:gd name="T20" fmla="*/ 22 w 88"/>
                <a:gd name="T21" fmla="*/ 104 h 104"/>
                <a:gd name="T22" fmla="*/ 0 w 88"/>
                <a:gd name="T23" fmla="*/ 104 h 104"/>
                <a:gd name="T24" fmla="*/ 0 w 88"/>
                <a:gd name="T2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04">
                  <a:moveTo>
                    <a:pt x="0" y="0"/>
                  </a:moveTo>
                  <a:lnTo>
                    <a:pt x="23" y="0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6" y="0"/>
                  </a:lnTo>
                  <a:lnTo>
                    <a:pt x="88" y="0"/>
                  </a:lnTo>
                  <a:lnTo>
                    <a:pt x="88" y="104"/>
                  </a:lnTo>
                  <a:lnTo>
                    <a:pt x="65" y="104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22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black"/>
                </a:solidFill>
                <a:latin typeface="Franklin Gothic Book"/>
                <a:ea typeface="Rix고딕 R"/>
              </a:endParaRPr>
            </a:p>
          </p:txBody>
        </p:sp>
      </p:grpSp>
      <p:grpSp>
        <p:nvGrpSpPr>
          <p:cNvPr id="237" name="그룹 236"/>
          <p:cNvGrpSpPr/>
          <p:nvPr userDrawn="1"/>
        </p:nvGrpSpPr>
        <p:grpSpPr>
          <a:xfrm flipH="1">
            <a:off x="0" y="2714"/>
            <a:ext cx="9841125" cy="908721"/>
            <a:chOff x="1763157" y="-4"/>
            <a:chExt cx="7380844" cy="908721"/>
          </a:xfrm>
        </p:grpSpPr>
        <p:sp>
          <p:nvSpPr>
            <p:cNvPr id="238" name="직사각형 237"/>
            <p:cNvSpPr/>
            <p:nvPr/>
          </p:nvSpPr>
          <p:spPr>
            <a:xfrm>
              <a:off x="2340977" y="0"/>
              <a:ext cx="6803024" cy="908717"/>
            </a:xfrm>
            <a:prstGeom prst="rect">
              <a:avLst/>
            </a:prstGeom>
            <a:solidFill>
              <a:srgbClr val="01A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 dirty="0">
                <a:solidFill>
                  <a:prstClr val="white"/>
                </a:solidFill>
              </a:endParaRPr>
            </a:p>
          </p:txBody>
        </p:sp>
        <p:sp>
          <p:nvSpPr>
            <p:cNvPr id="239" name="직각 삼각형 238"/>
            <p:cNvSpPr/>
            <p:nvPr/>
          </p:nvSpPr>
          <p:spPr>
            <a:xfrm flipH="1" flipV="1">
              <a:off x="1763157" y="-4"/>
              <a:ext cx="577819" cy="908721"/>
            </a:xfrm>
            <a:prstGeom prst="rtTriangle">
              <a:avLst/>
            </a:prstGeom>
            <a:solidFill>
              <a:srgbClr val="01A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</p:grpSp>
      <p:grpSp>
        <p:nvGrpSpPr>
          <p:cNvPr id="240" name="그룹 239"/>
          <p:cNvGrpSpPr/>
          <p:nvPr userDrawn="1"/>
        </p:nvGrpSpPr>
        <p:grpSpPr>
          <a:xfrm>
            <a:off x="324414" y="2716"/>
            <a:ext cx="1746722" cy="908717"/>
            <a:chOff x="4644008" y="541432"/>
            <a:chExt cx="1465489" cy="1167757"/>
          </a:xfrm>
        </p:grpSpPr>
        <p:sp>
          <p:nvSpPr>
            <p:cNvPr id="241" name="이등변 삼각형 240"/>
            <p:cNvSpPr/>
            <p:nvPr/>
          </p:nvSpPr>
          <p:spPr>
            <a:xfrm rot="10800000">
              <a:off x="4854444" y="541432"/>
              <a:ext cx="417585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42" name="이등변 삼각형 241"/>
            <p:cNvSpPr/>
            <p:nvPr/>
          </p:nvSpPr>
          <p:spPr>
            <a:xfrm>
              <a:off x="4644008" y="541596"/>
              <a:ext cx="417585" cy="389197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43" name="이등변 삼각형 242"/>
            <p:cNvSpPr/>
            <p:nvPr/>
          </p:nvSpPr>
          <p:spPr>
            <a:xfrm rot="10800000">
              <a:off x="5061592" y="930793"/>
              <a:ext cx="417584" cy="389197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44" name="이등변 삼각형 243"/>
            <p:cNvSpPr/>
            <p:nvPr/>
          </p:nvSpPr>
          <p:spPr>
            <a:xfrm>
              <a:off x="5061590" y="1319992"/>
              <a:ext cx="417586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45" name="이등변 삼각형 244"/>
            <p:cNvSpPr/>
            <p:nvPr/>
          </p:nvSpPr>
          <p:spPr>
            <a:xfrm>
              <a:off x="5272030" y="928691"/>
              <a:ext cx="417585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46" name="이등변 삼각형 245"/>
            <p:cNvSpPr/>
            <p:nvPr/>
          </p:nvSpPr>
          <p:spPr>
            <a:xfrm rot="10800000">
              <a:off x="5691912" y="1317888"/>
              <a:ext cx="417585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</p:grpSp>
      <p:grpSp>
        <p:nvGrpSpPr>
          <p:cNvPr id="247" name="그룹 246"/>
          <p:cNvGrpSpPr/>
          <p:nvPr userDrawn="1"/>
        </p:nvGrpSpPr>
        <p:grpSpPr>
          <a:xfrm>
            <a:off x="6145615" y="8419"/>
            <a:ext cx="2686401" cy="897566"/>
            <a:chOff x="-103490" y="908720"/>
            <a:chExt cx="4819506" cy="2466399"/>
          </a:xfrm>
          <a:noFill/>
        </p:grpSpPr>
        <p:sp>
          <p:nvSpPr>
            <p:cNvPr id="248" name="이등변 삼각형 247"/>
            <p:cNvSpPr/>
            <p:nvPr/>
          </p:nvSpPr>
          <p:spPr>
            <a:xfrm>
              <a:off x="1628680" y="2552986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49" name="이등변 삼각형 248"/>
            <p:cNvSpPr/>
            <p:nvPr/>
          </p:nvSpPr>
          <p:spPr>
            <a:xfrm rot="10800000">
              <a:off x="2514248" y="1730853"/>
              <a:ext cx="882098" cy="822133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0" name="이등변 삼각형 249"/>
            <p:cNvSpPr/>
            <p:nvPr/>
          </p:nvSpPr>
          <p:spPr>
            <a:xfrm>
              <a:off x="2510771" y="908720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1" name="이등변 삼각형 250"/>
            <p:cNvSpPr/>
            <p:nvPr/>
          </p:nvSpPr>
          <p:spPr>
            <a:xfrm rot="10800000">
              <a:off x="2955295" y="908720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2" name="이등변 삼각형 251"/>
            <p:cNvSpPr/>
            <p:nvPr/>
          </p:nvSpPr>
          <p:spPr>
            <a:xfrm>
              <a:off x="2951820" y="1730853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3" name="이등변 삼각형 252"/>
            <p:cNvSpPr/>
            <p:nvPr/>
          </p:nvSpPr>
          <p:spPr>
            <a:xfrm rot="10800000">
              <a:off x="3833918" y="2552986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4" name="이등변 삼각형 253"/>
            <p:cNvSpPr/>
            <p:nvPr/>
          </p:nvSpPr>
          <p:spPr>
            <a:xfrm rot="10800000">
              <a:off x="1632151" y="1730502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5" name="이등변 삼각형 254"/>
            <p:cNvSpPr/>
            <p:nvPr/>
          </p:nvSpPr>
          <p:spPr>
            <a:xfrm>
              <a:off x="1203641" y="1712451"/>
              <a:ext cx="882098" cy="822132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6" name="이등변 삼각형 255"/>
            <p:cNvSpPr/>
            <p:nvPr/>
          </p:nvSpPr>
          <p:spPr>
            <a:xfrm>
              <a:off x="-103490" y="908720"/>
              <a:ext cx="882098" cy="822132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  <p:sp>
          <p:nvSpPr>
            <p:cNvPr id="257" name="이등변 삼각형 256"/>
            <p:cNvSpPr/>
            <p:nvPr/>
          </p:nvSpPr>
          <p:spPr>
            <a:xfrm rot="10800000">
              <a:off x="309004" y="908720"/>
              <a:ext cx="882098" cy="822132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800" b="0">
                <a:solidFill>
                  <a:prstClr val="white"/>
                </a:solidFill>
              </a:endParaRPr>
            </a:p>
          </p:txBody>
        </p:sp>
      </p:grpSp>
      <p:sp>
        <p:nvSpPr>
          <p:cNvPr id="259" name="Title 1"/>
          <p:cNvSpPr>
            <a:spLocks noGrp="1"/>
          </p:cNvSpPr>
          <p:nvPr>
            <p:ph type="title"/>
          </p:nvPr>
        </p:nvSpPr>
        <p:spPr>
          <a:xfrm>
            <a:off x="239349" y="104909"/>
            <a:ext cx="7048418" cy="6156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85" spc="-138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11126" y="64930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9364607-68B2-4EF0-97C4-65D1FF3AFD34}" type="slidenum">
              <a:rPr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62" name="Picture 2" descr="Korea Polytechnic University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142" y="616519"/>
            <a:ext cx="2576855" cy="27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75259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H="1">
            <a:off x="0" y="4977174"/>
            <a:ext cx="12192000" cy="1880826"/>
          </a:xfrm>
          <a:prstGeom prst="rect">
            <a:avLst/>
          </a:prstGeom>
          <a:solidFill>
            <a:srgbClr val="01A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6" name="그룹 5"/>
          <p:cNvGrpSpPr/>
          <p:nvPr userDrawn="1"/>
        </p:nvGrpSpPr>
        <p:grpSpPr>
          <a:xfrm>
            <a:off x="69492" y="5868860"/>
            <a:ext cx="1612361" cy="908717"/>
            <a:chOff x="4644008" y="541432"/>
            <a:chExt cx="1465489" cy="1167757"/>
          </a:xfrm>
        </p:grpSpPr>
        <p:sp>
          <p:nvSpPr>
            <p:cNvPr id="7" name="이등변 삼각형 6"/>
            <p:cNvSpPr/>
            <p:nvPr/>
          </p:nvSpPr>
          <p:spPr>
            <a:xfrm rot="10800000">
              <a:off x="4854444" y="541432"/>
              <a:ext cx="417585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" name="이등변 삼각형 7"/>
            <p:cNvSpPr/>
            <p:nvPr/>
          </p:nvSpPr>
          <p:spPr>
            <a:xfrm>
              <a:off x="4644008" y="541596"/>
              <a:ext cx="417585" cy="389197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1" name="이등변 삼각형 10"/>
            <p:cNvSpPr/>
            <p:nvPr/>
          </p:nvSpPr>
          <p:spPr>
            <a:xfrm rot="10800000">
              <a:off x="5061592" y="930793"/>
              <a:ext cx="417584" cy="389197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2" name="이등변 삼각형 11"/>
            <p:cNvSpPr/>
            <p:nvPr/>
          </p:nvSpPr>
          <p:spPr>
            <a:xfrm>
              <a:off x="5061590" y="1319992"/>
              <a:ext cx="417586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3" name="이등변 삼각형 12"/>
            <p:cNvSpPr/>
            <p:nvPr/>
          </p:nvSpPr>
          <p:spPr>
            <a:xfrm>
              <a:off x="5272030" y="928691"/>
              <a:ext cx="417585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4" name="이등변 삼각형 13"/>
            <p:cNvSpPr/>
            <p:nvPr/>
          </p:nvSpPr>
          <p:spPr>
            <a:xfrm rot="10800000">
              <a:off x="5691912" y="1317888"/>
              <a:ext cx="417585" cy="389197"/>
            </a:xfrm>
            <a:prstGeom prst="triangle">
              <a:avLst/>
            </a:prstGeom>
            <a:solidFill>
              <a:srgbClr val="3366CC">
                <a:alpha val="4000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7293875" y="5915810"/>
            <a:ext cx="2479755" cy="897566"/>
            <a:chOff x="-103490" y="908720"/>
            <a:chExt cx="4819506" cy="2466399"/>
          </a:xfrm>
          <a:noFill/>
        </p:grpSpPr>
        <p:sp>
          <p:nvSpPr>
            <p:cNvPr id="16" name="이등변 삼각형 15"/>
            <p:cNvSpPr/>
            <p:nvPr/>
          </p:nvSpPr>
          <p:spPr>
            <a:xfrm>
              <a:off x="1628680" y="2552986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7" name="이등변 삼각형 16"/>
            <p:cNvSpPr/>
            <p:nvPr/>
          </p:nvSpPr>
          <p:spPr>
            <a:xfrm rot="10800000">
              <a:off x="2514248" y="1730853"/>
              <a:ext cx="882098" cy="822133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8" name="이등변 삼각형 17"/>
            <p:cNvSpPr/>
            <p:nvPr/>
          </p:nvSpPr>
          <p:spPr>
            <a:xfrm>
              <a:off x="2510771" y="908720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9" name="이등변 삼각형 18"/>
            <p:cNvSpPr/>
            <p:nvPr/>
          </p:nvSpPr>
          <p:spPr>
            <a:xfrm rot="10800000">
              <a:off x="2955295" y="908720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0" name="이등변 삼각형 19"/>
            <p:cNvSpPr/>
            <p:nvPr/>
          </p:nvSpPr>
          <p:spPr>
            <a:xfrm>
              <a:off x="2951820" y="1730853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1" name="이등변 삼각형 20"/>
            <p:cNvSpPr/>
            <p:nvPr/>
          </p:nvSpPr>
          <p:spPr>
            <a:xfrm rot="10800000">
              <a:off x="3833918" y="2552986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2" name="이등변 삼각형 21"/>
            <p:cNvSpPr/>
            <p:nvPr/>
          </p:nvSpPr>
          <p:spPr>
            <a:xfrm rot="10800000">
              <a:off x="1632151" y="1730502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3" name="이등변 삼각형 22"/>
            <p:cNvSpPr/>
            <p:nvPr/>
          </p:nvSpPr>
          <p:spPr>
            <a:xfrm>
              <a:off x="1203641" y="1712451"/>
              <a:ext cx="882098" cy="822132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4" name="이등변 삼각형 23"/>
            <p:cNvSpPr/>
            <p:nvPr/>
          </p:nvSpPr>
          <p:spPr>
            <a:xfrm>
              <a:off x="-103490" y="908720"/>
              <a:ext cx="882098" cy="822132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5" name="이등변 삼각형 24"/>
            <p:cNvSpPr/>
            <p:nvPr/>
          </p:nvSpPr>
          <p:spPr>
            <a:xfrm rot="10800000">
              <a:off x="309004" y="908720"/>
              <a:ext cx="882098" cy="822132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9554136" y="5910106"/>
            <a:ext cx="2479755" cy="897566"/>
            <a:chOff x="-103490" y="908720"/>
            <a:chExt cx="4819506" cy="2466399"/>
          </a:xfrm>
          <a:noFill/>
        </p:grpSpPr>
        <p:sp>
          <p:nvSpPr>
            <p:cNvPr id="27" name="이등변 삼각형 26"/>
            <p:cNvSpPr/>
            <p:nvPr/>
          </p:nvSpPr>
          <p:spPr>
            <a:xfrm>
              <a:off x="1628680" y="2552986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8" name="이등변 삼각형 27"/>
            <p:cNvSpPr/>
            <p:nvPr/>
          </p:nvSpPr>
          <p:spPr>
            <a:xfrm rot="10800000">
              <a:off x="2514248" y="1730853"/>
              <a:ext cx="882098" cy="822133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이등변 삼각형 28"/>
            <p:cNvSpPr/>
            <p:nvPr/>
          </p:nvSpPr>
          <p:spPr>
            <a:xfrm>
              <a:off x="2510771" y="908720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0" name="이등변 삼각형 29"/>
            <p:cNvSpPr/>
            <p:nvPr/>
          </p:nvSpPr>
          <p:spPr>
            <a:xfrm rot="10800000">
              <a:off x="2955295" y="908720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1" name="이등변 삼각형 30"/>
            <p:cNvSpPr/>
            <p:nvPr/>
          </p:nvSpPr>
          <p:spPr>
            <a:xfrm>
              <a:off x="2951820" y="1730853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2" name="이등변 삼각형 31"/>
            <p:cNvSpPr/>
            <p:nvPr/>
          </p:nvSpPr>
          <p:spPr>
            <a:xfrm rot="10800000">
              <a:off x="3833918" y="2552986"/>
              <a:ext cx="882098" cy="822133"/>
            </a:xfrm>
            <a:prstGeom prst="triangle">
              <a:avLst/>
            </a:prstGeom>
            <a:solidFill>
              <a:srgbClr val="0178D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3" name="이등변 삼각형 32"/>
            <p:cNvSpPr/>
            <p:nvPr/>
          </p:nvSpPr>
          <p:spPr>
            <a:xfrm rot="10800000">
              <a:off x="1632151" y="1730502"/>
              <a:ext cx="882098" cy="822133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4" name="이등변 삼각형 33"/>
            <p:cNvSpPr/>
            <p:nvPr/>
          </p:nvSpPr>
          <p:spPr>
            <a:xfrm>
              <a:off x="1203641" y="1712451"/>
              <a:ext cx="882098" cy="822132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5" name="이등변 삼각형 34"/>
            <p:cNvSpPr/>
            <p:nvPr/>
          </p:nvSpPr>
          <p:spPr>
            <a:xfrm>
              <a:off x="-103490" y="908720"/>
              <a:ext cx="882098" cy="822132"/>
            </a:xfrm>
            <a:prstGeom prst="triangle">
              <a:avLst/>
            </a:prstGeom>
            <a:solidFill>
              <a:srgbClr val="0094E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6" name="이등변 삼각형 35"/>
            <p:cNvSpPr/>
            <p:nvPr/>
          </p:nvSpPr>
          <p:spPr>
            <a:xfrm rot="10800000">
              <a:off x="309004" y="908720"/>
              <a:ext cx="882098" cy="822132"/>
            </a:xfrm>
            <a:prstGeom prst="triangle">
              <a:avLst/>
            </a:prstGeom>
            <a:solidFill>
              <a:srgbClr val="0084E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pic>
        <p:nvPicPr>
          <p:cNvPr id="10" name="그림 68" descr="bg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581" y="3005630"/>
            <a:ext cx="2921343" cy="2367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400265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177E05-0752-4A89-BF5D-0F5955AA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AC826-F06B-434E-A7C4-40F918E64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85EE85-9698-4A44-9EA1-E01C37E2B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72A1A-894E-4728-A419-18AD4065AAFA}" type="datetimeFigureOut">
              <a:rPr lang="ko-KR" altLang="en-US" smtClean="0"/>
              <a:t>2021-03-09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A9E3AF-7ADD-4A67-8DE6-C645FF9FC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BBF5C3-31AD-4EFB-8832-2A9956D2C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F2057-AABE-48AE-8281-0CDD5E2BF3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68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955540" y="1052736"/>
            <a:ext cx="8715068" cy="5544616"/>
            <a:chOff x="-437" y="-103"/>
            <a:chExt cx="7114" cy="4526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-437" y="-103"/>
              <a:ext cx="7114" cy="4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614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37" y="-103"/>
              <a:ext cx="7121" cy="4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24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2531604" y="2120918"/>
            <a:ext cx="7815662" cy="4512439"/>
            <a:chOff x="-466" y="175"/>
            <a:chExt cx="7172" cy="3970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-466" y="175"/>
              <a:ext cx="7172" cy="3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331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66" y="175"/>
              <a:ext cx="7179" cy="3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1559497" y="6489340"/>
            <a:ext cx="2331087" cy="29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</a:pPr>
            <a:r>
              <a:rPr lang="ko-KR" altLang="en-US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박병훈 마이크로서비스 아키텍처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9497" y="936204"/>
            <a:ext cx="9019269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업무상의 기능 또는 역할을 하나의 기능 묶음으로 개발된 컴포넌트 → 한 가지의 역할만 수행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REST API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등을 통하여 서비스들의 기능을 제공하고 사용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데이터를 공유하지 않고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서비스별로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독립적으로 가공하고 저장함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2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92149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9" y="1304764"/>
            <a:ext cx="8544889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59497" y="6489340"/>
            <a:ext cx="2331087" cy="29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</a:pPr>
            <a:r>
              <a:rPr lang="ko-KR" altLang="en-US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박병훈 마이크로서비스 아키텍처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3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9695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1919537" y="1055550"/>
            <a:ext cx="8386099" cy="5613811"/>
            <a:chOff x="-239" y="61"/>
            <a:chExt cx="6718" cy="4198"/>
          </a:xfrm>
        </p:grpSpPr>
        <p:sp>
          <p:nvSpPr>
            <p:cNvPr id="8" name="AutoShape 3"/>
            <p:cNvSpPr>
              <a:spLocks noChangeAspect="1" noChangeArrowheads="1" noTextEdit="1"/>
            </p:cNvSpPr>
            <p:nvPr/>
          </p:nvSpPr>
          <p:spPr bwMode="auto">
            <a:xfrm>
              <a:off x="-239" y="61"/>
              <a:ext cx="6718" cy="4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536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39" y="61"/>
              <a:ext cx="6725" cy="4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9497" y="6489340"/>
            <a:ext cx="2331087" cy="29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</a:pPr>
            <a:r>
              <a:rPr lang="ko-KR" altLang="en-US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박병훈 마이크로서비스 아키텍처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4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3764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415481" y="1745961"/>
            <a:ext cx="9397044" cy="4851391"/>
            <a:chOff x="502285" y="2215251"/>
            <a:chExt cx="8856983" cy="4008694"/>
          </a:xfrm>
        </p:grpSpPr>
        <p:cxnSp>
          <p:nvCxnSpPr>
            <p:cNvPr id="74" name="직선 연결선 73"/>
            <p:cNvCxnSpPr>
              <a:stCxn id="100" idx="2"/>
            </p:cNvCxnSpPr>
            <p:nvPr/>
          </p:nvCxnSpPr>
          <p:spPr>
            <a:xfrm flipH="1">
              <a:off x="7631076" y="5413066"/>
              <a:ext cx="7920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>
              <a:endCxn id="98" idx="2"/>
            </p:cNvCxnSpPr>
            <p:nvPr/>
          </p:nvCxnSpPr>
          <p:spPr>
            <a:xfrm flipV="1">
              <a:off x="7631076" y="3086459"/>
              <a:ext cx="792088" cy="107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6605453" y="2461343"/>
              <a:ext cx="858481" cy="2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기본 원리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502285" y="2945021"/>
              <a:ext cx="2333085" cy="236657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WAS</a:t>
              </a:r>
            </a:p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610109" y="3295372"/>
              <a:ext cx="2081244" cy="18722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WAR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697549" y="4003254"/>
              <a:ext cx="839355" cy="4564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Service 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709021" y="4003255"/>
              <a:ext cx="839355" cy="4564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Service B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726135" y="3570087"/>
              <a:ext cx="1822240" cy="288032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UI</a:t>
              </a:r>
              <a:endParaRPr lang="ko-KR" altLang="en-US" b="1" dirty="0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26136" y="4594959"/>
              <a:ext cx="839355" cy="4564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 Repository</a:t>
              </a:r>
            </a:p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1737608" y="4594960"/>
              <a:ext cx="839355" cy="4564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 Repository</a:t>
              </a:r>
            </a:p>
          </p:txBody>
        </p:sp>
        <p:sp>
          <p:nvSpPr>
            <p:cNvPr id="84" name="원통 83"/>
            <p:cNvSpPr/>
            <p:nvPr/>
          </p:nvSpPr>
          <p:spPr>
            <a:xfrm>
              <a:off x="3166611" y="3786111"/>
              <a:ext cx="1368152" cy="880855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Database</a:t>
              </a: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3274623" y="4303478"/>
              <a:ext cx="432048" cy="228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3995273" y="4303480"/>
              <a:ext cx="432048" cy="228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오른쪽 화살표 86"/>
            <p:cNvSpPr/>
            <p:nvPr/>
          </p:nvSpPr>
          <p:spPr>
            <a:xfrm>
              <a:off x="4750756" y="3864616"/>
              <a:ext cx="792088" cy="736839"/>
            </a:xfrm>
            <a:prstGeom prst="rightArrow">
              <a:avLst>
                <a:gd name="adj1" fmla="val 55455"/>
                <a:gd name="adj2" fmla="val 41817"/>
              </a:avLst>
            </a:prstGeom>
            <a:solidFill>
              <a:srgbClr val="3343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확장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5665377" y="4099287"/>
              <a:ext cx="671534" cy="288032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UI</a:t>
              </a:r>
              <a:endParaRPr lang="ko-KR" altLang="en-US" b="1" dirty="0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6527767" y="2215251"/>
              <a:ext cx="1622142" cy="15708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WAS</a:t>
              </a:r>
            </a:p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6657627" y="2485097"/>
              <a:ext cx="1418561" cy="12241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WAR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6745065" y="2831821"/>
              <a:ext cx="1187106" cy="3413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Service A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6773653" y="3308465"/>
              <a:ext cx="1158519" cy="32876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Repository A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605233" y="4899177"/>
              <a:ext cx="858481" cy="2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기본 원리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6527547" y="4653085"/>
              <a:ext cx="1622142" cy="15708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WAS</a:t>
              </a:r>
            </a:p>
            <a:p>
              <a:pPr algn="ctr"/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6657407" y="4922931"/>
              <a:ext cx="1418561" cy="12241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WAR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6744845" y="5269655"/>
              <a:ext cx="1187106" cy="3413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Service B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6773433" y="5746299"/>
              <a:ext cx="1158519" cy="32876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Repository B</a:t>
              </a:r>
            </a:p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8" name="원통 97"/>
            <p:cNvSpPr/>
            <p:nvPr/>
          </p:nvSpPr>
          <p:spPr>
            <a:xfrm>
              <a:off x="8423164" y="2704332"/>
              <a:ext cx="936104" cy="764252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Database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8675192" y="3187931"/>
              <a:ext cx="432048" cy="228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원통 99"/>
            <p:cNvSpPr/>
            <p:nvPr/>
          </p:nvSpPr>
          <p:spPr>
            <a:xfrm>
              <a:off x="8423164" y="5030940"/>
              <a:ext cx="936104" cy="764252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Database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8675192" y="5514539"/>
              <a:ext cx="432048" cy="228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2" name="직선 연결선 101"/>
            <p:cNvCxnSpPr>
              <a:stCxn id="80" idx="3"/>
              <a:endCxn id="84" idx="2"/>
            </p:cNvCxnSpPr>
            <p:nvPr/>
          </p:nvCxnSpPr>
          <p:spPr>
            <a:xfrm flipV="1">
              <a:off x="2548375" y="4226538"/>
              <a:ext cx="618236" cy="49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>
              <a:stCxn id="88" idx="3"/>
              <a:endCxn id="89" idx="1"/>
            </p:cNvCxnSpPr>
            <p:nvPr/>
          </p:nvCxnSpPr>
          <p:spPr>
            <a:xfrm flipV="1">
              <a:off x="6336911" y="3000681"/>
              <a:ext cx="190856" cy="12426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>
              <a:stCxn id="88" idx="3"/>
              <a:endCxn id="94" idx="1"/>
            </p:cNvCxnSpPr>
            <p:nvPr/>
          </p:nvCxnSpPr>
          <p:spPr>
            <a:xfrm>
              <a:off x="6336911" y="4243303"/>
              <a:ext cx="190636" cy="11952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직사각형 5"/>
          <p:cNvSpPr/>
          <p:nvPr/>
        </p:nvSpPr>
        <p:spPr>
          <a:xfrm>
            <a:off x="1620318" y="1269839"/>
            <a:ext cx="84471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defTabSz="801688"/>
            <a:r>
              <a:rPr lang="ko-KR" altLang="en-US" b="1" spc="-50" dirty="0">
                <a:latin typeface="+mn-ea"/>
                <a:ea typeface="맑은 고딕" panose="020B0503020000020004" pitchFamily="50" charset="-127"/>
                <a:cs typeface="Arial" pitchFamily="34" charset="0"/>
              </a:rPr>
              <a:t>서비스를 분할하고 </a:t>
            </a:r>
            <a:r>
              <a:rPr lang="ko-KR" altLang="en-US" b="1" spc="-50" dirty="0" err="1">
                <a:latin typeface="+mn-ea"/>
                <a:ea typeface="맑은 고딕" panose="020B0503020000020004" pitchFamily="50" charset="-127"/>
                <a:cs typeface="Arial" pitchFamily="34" charset="0"/>
              </a:rPr>
              <a:t>서비스별로</a:t>
            </a:r>
            <a:r>
              <a:rPr lang="ko-KR" altLang="en-US" b="1" spc="-50" dirty="0">
                <a:latin typeface="+mn-ea"/>
                <a:ea typeface="맑은 고딕" panose="020B0503020000020004" pitchFamily="50" charset="-127"/>
                <a:cs typeface="Arial" pitchFamily="34" charset="0"/>
              </a:rPr>
              <a:t> 별도의 데이터베이스 구축</a:t>
            </a:r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5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625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1143001" y="2564905"/>
            <a:ext cx="9906000" cy="4160648"/>
            <a:chOff x="415327" y="3794977"/>
            <a:chExt cx="9002169" cy="2930575"/>
          </a:xfrm>
        </p:grpSpPr>
        <p:cxnSp>
          <p:nvCxnSpPr>
            <p:cNvPr id="11" name="직선 연결선 10"/>
            <p:cNvCxnSpPr/>
            <p:nvPr/>
          </p:nvCxnSpPr>
          <p:spPr>
            <a:xfrm>
              <a:off x="7538160" y="5223458"/>
              <a:ext cx="655201" cy="61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48" idx="3"/>
            </p:cNvCxnSpPr>
            <p:nvPr/>
          </p:nvCxnSpPr>
          <p:spPr>
            <a:xfrm>
              <a:off x="7538160" y="4716069"/>
              <a:ext cx="724073" cy="214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58" idx="3"/>
            </p:cNvCxnSpPr>
            <p:nvPr/>
          </p:nvCxnSpPr>
          <p:spPr>
            <a:xfrm>
              <a:off x="7538160" y="4104130"/>
              <a:ext cx="655201" cy="61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5233135" y="4791384"/>
              <a:ext cx="3849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>
              <a:stCxn id="23" idx="3"/>
            </p:cNvCxnSpPr>
            <p:nvPr/>
          </p:nvCxnSpPr>
          <p:spPr>
            <a:xfrm>
              <a:off x="2598955" y="4779270"/>
              <a:ext cx="3849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/>
            <p:cNvSpPr/>
            <p:nvPr/>
          </p:nvSpPr>
          <p:spPr>
            <a:xfrm>
              <a:off x="2094899" y="4635254"/>
              <a:ext cx="504056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L4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983867" y="4464401"/>
              <a:ext cx="721922" cy="5760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850983" y="4294023"/>
              <a:ext cx="801236" cy="69772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Content</a:t>
              </a:r>
            </a:p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Router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4844989" y="4664107"/>
              <a:ext cx="504056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L4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327" y="4294023"/>
              <a:ext cx="1449526" cy="946219"/>
            </a:xfrm>
            <a:prstGeom prst="rect">
              <a:avLst/>
            </a:prstGeom>
          </p:spPr>
        </p:pic>
        <p:cxnSp>
          <p:nvCxnSpPr>
            <p:cNvPr id="28" name="직선 연결선 27"/>
            <p:cNvCxnSpPr>
              <a:endCxn id="23" idx="1"/>
            </p:cNvCxnSpPr>
            <p:nvPr/>
          </p:nvCxnSpPr>
          <p:spPr>
            <a:xfrm>
              <a:off x="1640633" y="4773202"/>
              <a:ext cx="454267" cy="60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/>
            <p:cNvSpPr/>
            <p:nvPr/>
          </p:nvSpPr>
          <p:spPr>
            <a:xfrm>
              <a:off x="3956753" y="3975276"/>
              <a:ext cx="691525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903183" y="3926562"/>
              <a:ext cx="745094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A UI</a:t>
              </a:r>
              <a:endParaRPr lang="ko-KR" altLang="en-US" sz="160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956753" y="4538501"/>
              <a:ext cx="691525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903183" y="4489787"/>
              <a:ext cx="745094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A UI</a:t>
              </a:r>
              <a:endParaRPr lang="ko-KR" altLang="en-US" sz="1600" dirty="0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956753" y="5052054"/>
              <a:ext cx="691525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903183" y="5003340"/>
              <a:ext cx="745094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A UI</a:t>
              </a:r>
              <a:endParaRPr lang="ko-KR" altLang="en-US" sz="1600" dirty="0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956753" y="5592760"/>
              <a:ext cx="691525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903183" y="5544046"/>
              <a:ext cx="745094" cy="367461"/>
            </a:xfrm>
            <a:prstGeom prst="rect">
              <a:avLst/>
            </a:prstGeom>
            <a:solidFill>
              <a:srgbClr val="26B8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A UI</a:t>
              </a:r>
              <a:endParaRPr lang="ko-KR" altLang="en-US" sz="1600" dirty="0"/>
            </a:p>
          </p:txBody>
        </p:sp>
        <p:cxnSp>
          <p:nvCxnSpPr>
            <p:cNvPr id="37" name="직선 연결선 36"/>
            <p:cNvCxnSpPr>
              <a:stCxn id="24" idx="3"/>
              <a:endCxn id="30" idx="1"/>
            </p:cNvCxnSpPr>
            <p:nvPr/>
          </p:nvCxnSpPr>
          <p:spPr>
            <a:xfrm flipV="1">
              <a:off x="3705789" y="4110293"/>
              <a:ext cx="197394" cy="6421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>
              <a:stCxn id="24" idx="3"/>
              <a:endCxn id="32" idx="1"/>
            </p:cNvCxnSpPr>
            <p:nvPr/>
          </p:nvCxnSpPr>
          <p:spPr>
            <a:xfrm flipV="1">
              <a:off x="3705789" y="4673517"/>
              <a:ext cx="197394" cy="789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>
              <a:stCxn id="24" idx="3"/>
              <a:endCxn id="36" idx="1"/>
            </p:cNvCxnSpPr>
            <p:nvPr/>
          </p:nvCxnSpPr>
          <p:spPr>
            <a:xfrm>
              <a:off x="3705789" y="4752434"/>
              <a:ext cx="197394" cy="9753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>
              <a:stCxn id="24" idx="3"/>
              <a:endCxn id="34" idx="1"/>
            </p:cNvCxnSpPr>
            <p:nvPr/>
          </p:nvCxnSpPr>
          <p:spPr>
            <a:xfrm>
              <a:off x="3705789" y="4752434"/>
              <a:ext cx="197394" cy="4346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>
              <a:stCxn id="29" idx="3"/>
              <a:endCxn id="26" idx="1"/>
            </p:cNvCxnSpPr>
            <p:nvPr/>
          </p:nvCxnSpPr>
          <p:spPr>
            <a:xfrm>
              <a:off x="4648277" y="4159007"/>
              <a:ext cx="196712" cy="6491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>
              <a:stCxn id="31" idx="3"/>
              <a:endCxn id="26" idx="1"/>
            </p:cNvCxnSpPr>
            <p:nvPr/>
          </p:nvCxnSpPr>
          <p:spPr>
            <a:xfrm>
              <a:off x="4648277" y="4722231"/>
              <a:ext cx="196712" cy="858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>
              <a:stCxn id="33" idx="3"/>
              <a:endCxn id="26" idx="1"/>
            </p:cNvCxnSpPr>
            <p:nvPr/>
          </p:nvCxnSpPr>
          <p:spPr>
            <a:xfrm flipV="1">
              <a:off x="4648277" y="4808124"/>
              <a:ext cx="196712" cy="4276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>
              <a:stCxn id="35" idx="3"/>
              <a:endCxn id="26" idx="1"/>
            </p:cNvCxnSpPr>
            <p:nvPr/>
          </p:nvCxnSpPr>
          <p:spPr>
            <a:xfrm flipV="1">
              <a:off x="4648277" y="4808124"/>
              <a:ext cx="196712" cy="9683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/>
            <p:cNvSpPr/>
            <p:nvPr/>
          </p:nvSpPr>
          <p:spPr>
            <a:xfrm>
              <a:off x="5618047" y="4558471"/>
              <a:ext cx="721922" cy="5760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485163" y="4388093"/>
              <a:ext cx="801236" cy="69772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API Gateway (White base)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6846635" y="3969113"/>
              <a:ext cx="691525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6846635" y="4532338"/>
              <a:ext cx="691525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6793065" y="4483624"/>
              <a:ext cx="745094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MS-B (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Nodejs</a:t>
              </a:r>
              <a:r>
                <a:rPr lang="en-US" altLang="ko-KR" sz="1100" dirty="0">
                  <a:solidFill>
                    <a:schemeClr val="tx1"/>
                  </a:solidFill>
                </a:rPr>
                <a:t>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6846635" y="5045891"/>
              <a:ext cx="691525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793065" y="4997177"/>
              <a:ext cx="745094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MS-C (</a:t>
              </a:r>
              <a:r>
                <a:rPr lang="en-US" altLang="ko-KR" sz="1100" dirty="0" err="1">
                  <a:solidFill>
                    <a:schemeClr val="tx1"/>
                  </a:solidFill>
                </a:rPr>
                <a:t>Nodejs</a:t>
              </a:r>
              <a:r>
                <a:rPr lang="en-US" altLang="ko-KR" sz="1100" dirty="0">
                  <a:solidFill>
                    <a:schemeClr val="tx1"/>
                  </a:solidFill>
                </a:rPr>
                <a:t>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6846635" y="5586597"/>
              <a:ext cx="691525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6793065" y="5537883"/>
              <a:ext cx="745094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MS-D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(Java)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직선 연결선 53"/>
            <p:cNvCxnSpPr>
              <a:stCxn id="45" idx="3"/>
              <a:endCxn id="58" idx="1"/>
            </p:cNvCxnSpPr>
            <p:nvPr/>
          </p:nvCxnSpPr>
          <p:spPr>
            <a:xfrm flipV="1">
              <a:off x="6339969" y="4104129"/>
              <a:ext cx="453096" cy="7423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>
              <a:stCxn id="45" idx="3"/>
              <a:endCxn id="49" idx="1"/>
            </p:cNvCxnSpPr>
            <p:nvPr/>
          </p:nvCxnSpPr>
          <p:spPr>
            <a:xfrm flipV="1">
              <a:off x="6339969" y="4667355"/>
              <a:ext cx="453096" cy="179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>
              <a:stCxn id="45" idx="3"/>
              <a:endCxn id="53" idx="1"/>
            </p:cNvCxnSpPr>
            <p:nvPr/>
          </p:nvCxnSpPr>
          <p:spPr>
            <a:xfrm>
              <a:off x="6339969" y="4846503"/>
              <a:ext cx="453096" cy="8751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>
              <a:stCxn id="45" idx="3"/>
              <a:endCxn id="51" idx="1"/>
            </p:cNvCxnSpPr>
            <p:nvPr/>
          </p:nvCxnSpPr>
          <p:spPr>
            <a:xfrm>
              <a:off x="6339969" y="4846503"/>
              <a:ext cx="453096" cy="3344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/>
            <p:cNvSpPr/>
            <p:nvPr/>
          </p:nvSpPr>
          <p:spPr>
            <a:xfrm>
              <a:off x="6793065" y="3920399"/>
              <a:ext cx="745094" cy="3674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MS-A</a:t>
              </a:r>
            </a:p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(Java)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96059" y="4242148"/>
              <a:ext cx="357193" cy="173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</a:t>
              </a:r>
              <a:endPara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359240" y="4589109"/>
              <a:ext cx="357193" cy="173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</a:t>
              </a:r>
              <a:endPara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367334" y="4840806"/>
              <a:ext cx="357193" cy="173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</a:t>
              </a:r>
              <a:endPara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296059" y="5207040"/>
              <a:ext cx="357193" cy="1734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</a:t>
              </a:r>
              <a:endPara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원통 62"/>
            <p:cNvSpPr/>
            <p:nvPr/>
          </p:nvSpPr>
          <p:spPr>
            <a:xfrm>
              <a:off x="7741550" y="3826123"/>
              <a:ext cx="753798" cy="510451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DB (MySQL)</a:t>
              </a:r>
            </a:p>
          </p:txBody>
        </p:sp>
        <p:sp>
          <p:nvSpPr>
            <p:cNvPr id="64" name="원통 63"/>
            <p:cNvSpPr/>
            <p:nvPr/>
          </p:nvSpPr>
          <p:spPr>
            <a:xfrm>
              <a:off x="7719373" y="6215101"/>
              <a:ext cx="753798" cy="510451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DB (MySQL)</a:t>
              </a:r>
            </a:p>
          </p:txBody>
        </p:sp>
        <p:sp>
          <p:nvSpPr>
            <p:cNvPr id="65" name="원통 64"/>
            <p:cNvSpPr/>
            <p:nvPr/>
          </p:nvSpPr>
          <p:spPr>
            <a:xfrm>
              <a:off x="7741550" y="5032547"/>
              <a:ext cx="753798" cy="510451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 err="1">
                  <a:solidFill>
                    <a:schemeClr val="tx1"/>
                  </a:solidFill>
                </a:rPr>
                <a:t>Redis</a:t>
              </a:r>
              <a:r>
                <a:rPr lang="en-US" altLang="ko-KR" sz="1050" dirty="0">
                  <a:solidFill>
                    <a:schemeClr val="tx1"/>
                  </a:solidFill>
                </a:rPr>
                <a:t> (MySQL)</a:t>
              </a:r>
            </a:p>
          </p:txBody>
        </p:sp>
        <p:sp>
          <p:nvSpPr>
            <p:cNvPr id="66" name="원통 65"/>
            <p:cNvSpPr/>
            <p:nvPr/>
          </p:nvSpPr>
          <p:spPr>
            <a:xfrm>
              <a:off x="7710245" y="5615053"/>
              <a:ext cx="753798" cy="510451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File Storage</a:t>
              </a:r>
            </a:p>
          </p:txBody>
        </p:sp>
        <p:sp>
          <p:nvSpPr>
            <p:cNvPr id="67" name="원통 66"/>
            <p:cNvSpPr/>
            <p:nvPr/>
          </p:nvSpPr>
          <p:spPr>
            <a:xfrm>
              <a:off x="7721003" y="4432807"/>
              <a:ext cx="753798" cy="510451"/>
            </a:xfrm>
            <a:prstGeom prst="can">
              <a:avLst/>
            </a:prstGeom>
            <a:gradFill>
              <a:gsLst>
                <a:gs pos="0">
                  <a:srgbClr val="FFFFFF"/>
                </a:gs>
                <a:gs pos="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  <a:gs pos="100000">
                  <a:srgbClr val="7D8496"/>
                </a:gs>
                <a:gs pos="100000">
                  <a:srgbClr val="E6E6E6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DB (MySQL)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495348" y="3794977"/>
              <a:ext cx="922148" cy="1138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•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서비스는 개별적으로 업데이트되고 배포됨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대부분 자동화된 스크립트를 통해 이루어짐</a:t>
              </a:r>
            </a:p>
            <a:p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•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서비스의 위치를 알려주는 유일한 주소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(URL)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가짐</a:t>
              </a:r>
            </a:p>
            <a:p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4169845" y="6126253"/>
              <a:ext cx="927172" cy="329042"/>
            </a:xfrm>
            <a:prstGeom prst="rect">
              <a:avLst/>
            </a:prstGeom>
            <a:solidFill>
              <a:srgbClr val="12D4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 err="1">
                  <a:solidFill>
                    <a:schemeClr val="tx1"/>
                  </a:solidFill>
                </a:rPr>
                <a:t>Config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 Service</a:t>
              </a: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5154300" y="6117794"/>
              <a:ext cx="927172" cy="329042"/>
            </a:xfrm>
            <a:prstGeom prst="rect">
              <a:avLst/>
            </a:prstGeom>
            <a:solidFill>
              <a:srgbClr val="12D4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Service Registry</a:t>
              </a: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6195698" y="6117794"/>
              <a:ext cx="927172" cy="329042"/>
            </a:xfrm>
            <a:prstGeom prst="rect">
              <a:avLst/>
            </a:prstGeom>
            <a:solidFill>
              <a:srgbClr val="12D4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Event Broker</a:t>
              </a:r>
            </a:p>
          </p:txBody>
        </p:sp>
        <p:cxnSp>
          <p:nvCxnSpPr>
            <p:cNvPr id="72" name="직선 연결선 71"/>
            <p:cNvCxnSpPr>
              <a:stCxn id="52" idx="3"/>
              <a:endCxn id="66" idx="2"/>
            </p:cNvCxnSpPr>
            <p:nvPr/>
          </p:nvCxnSpPr>
          <p:spPr>
            <a:xfrm>
              <a:off x="7538159" y="5770328"/>
              <a:ext cx="172086" cy="999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>
              <a:stCxn id="53" idx="3"/>
              <a:endCxn id="64" idx="2"/>
            </p:cNvCxnSpPr>
            <p:nvPr/>
          </p:nvCxnSpPr>
          <p:spPr>
            <a:xfrm>
              <a:off x="7538159" y="5721614"/>
              <a:ext cx="181214" cy="7487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8328447" y="1922167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8327" y="1203874"/>
            <a:ext cx="9058632" cy="1389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독립된 서비스들은 표준화된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통해서 서로 통신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결합→ 다른 관련 서비스를 바꾸지 않고도 원하는 특정 서비스만 변경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시 중점 사항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느슨하게 결합된 구성요소들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확장성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코드의 분리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(partitioning),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업그레이드와 변경을 쉽고 빠르게 하고 유연성을 보장하는 상태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6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23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7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775521" y="1772816"/>
            <a:ext cx="9008449" cy="4608512"/>
            <a:chOff x="-508" y="304"/>
            <a:chExt cx="7256" cy="3712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-508" y="304"/>
              <a:ext cx="7256" cy="3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717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08" y="304"/>
              <a:ext cx="7263" cy="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3178" y="1098791"/>
            <a:ext cx="9019269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마이크로서비스는 기능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(Function)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단위로 분화되고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향후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서버리스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컴퓨팅 시대가 도래할 것으로 예상됨</a:t>
            </a:r>
          </a:p>
        </p:txBody>
      </p:sp>
    </p:spTree>
    <p:extLst>
      <p:ext uri="{BB962C8B-B14F-4D97-AF65-F5344CB8AC3E}">
        <p14:creationId xmlns:p14="http://schemas.microsoft.com/office/powerpoint/2010/main" val="185449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8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66" y="1664804"/>
            <a:ext cx="9755224" cy="4909914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1415480" y="246532"/>
            <a:ext cx="5726840" cy="615602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585" spc="-138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b="1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 </a:t>
            </a:r>
            <a:endParaRPr lang="ko-KR" altLang="en-US" sz="2800" b="1" kern="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3178" y="1098791"/>
            <a:ext cx="9019269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마이크로서비스는 컨테이너에 독립적으로 탑재되어 실행됨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마이크로서비스의 개수가 많아지면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부하분산과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컨테이너 오케스트레이션 메커니즘 필요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최근 </a:t>
            </a:r>
            <a:r>
              <a:rPr lang="ko-KR" altLang="en-US" sz="1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쿠버네티스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각광 받음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25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모서리가 둥근 직사각형 89"/>
          <p:cNvSpPr/>
          <p:nvPr/>
        </p:nvSpPr>
        <p:spPr bwMode="gray">
          <a:xfrm>
            <a:off x="1451747" y="1004093"/>
            <a:ext cx="9285197" cy="4432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marL="176213" defTabSz="801688">
              <a:defRPr/>
            </a:pP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클라우드 플랫폼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(PaaS) 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기술을 통한 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[HW 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및 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 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자원의 효율적인 관리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]</a:t>
            </a:r>
            <a:endParaRPr lang="ko-KR" altLang="en-US" sz="1600" b="1" spc="-5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1469405" y="1605112"/>
            <a:ext cx="9326062" cy="4848225"/>
            <a:chOff x="268405" y="1736725"/>
            <a:chExt cx="8688120" cy="4572001"/>
          </a:xfrm>
        </p:grpSpPr>
        <p:grpSp>
          <p:nvGrpSpPr>
            <p:cNvPr id="60" name="그룹 59"/>
            <p:cNvGrpSpPr/>
            <p:nvPr/>
          </p:nvGrpSpPr>
          <p:grpSpPr>
            <a:xfrm>
              <a:off x="268405" y="1736725"/>
              <a:ext cx="4134783" cy="4572001"/>
              <a:chOff x="268405" y="1736725"/>
              <a:chExt cx="4134783" cy="4572001"/>
            </a:xfrm>
          </p:grpSpPr>
          <p:sp>
            <p:nvSpPr>
              <p:cNvPr id="103" name="AutoShape 2"/>
              <p:cNvSpPr>
                <a:spLocks noChangeArrowheads="1"/>
              </p:cNvSpPr>
              <p:nvPr/>
            </p:nvSpPr>
            <p:spPr bwMode="gray">
              <a:xfrm>
                <a:off x="268405" y="1750172"/>
                <a:ext cx="4134783" cy="455855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 algn="ctr">
                <a:solidFill>
                  <a:sysClr val="window" lastClr="FFFFFF">
                    <a:lumMod val="75000"/>
                  </a:sysClr>
                </a:solidFill>
                <a:round/>
                <a:headEnd/>
                <a:tailEnd/>
              </a:ln>
              <a:effectLst>
                <a:outerShdw blurRad="50800" dist="25400" dir="4020000" algn="tl" rotWithShape="0">
                  <a:prstClr val="black">
                    <a:alpha val="28000"/>
                  </a:prstClr>
                </a:outerShdw>
              </a:effectLst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>
                  <a:defRPr/>
                </a:pPr>
                <a:endParaRPr lang="ko-KR" altLang="ko-KR" kern="0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104" name="모서리가 둥근 직사각형 103"/>
              <p:cNvSpPr/>
              <p:nvPr/>
            </p:nvSpPr>
            <p:spPr bwMode="gray">
              <a:xfrm>
                <a:off x="268405" y="1736725"/>
                <a:ext cx="4134783" cy="360000"/>
              </a:xfrm>
              <a:prstGeom prst="roundRect">
                <a:avLst>
                  <a:gd name="adj" fmla="val 0"/>
                </a:avLst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  <p:txBody>
              <a:bodyPr vert="horz" wrap="none" lIns="72000" tIns="72000" rIns="72000" bIns="9000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801688" latinLnBrk="0">
                  <a:defRPr/>
                </a:pPr>
                <a:r>
                  <a:rPr lang="en-US" altLang="ko-KR" b="1" kern="0" spc="-5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IaaS </a:t>
                </a:r>
                <a:r>
                  <a:rPr lang="ko-KR" altLang="en-US" b="1" kern="0" spc="-5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환경 응용 </a:t>
                </a:r>
                <a:r>
                  <a:rPr lang="en-US" altLang="ko-KR" b="1" kern="0" spc="-5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SW </a:t>
                </a:r>
                <a:r>
                  <a:rPr lang="ko-KR" altLang="en-US" b="1" kern="0" spc="-5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개발</a:t>
                </a:r>
              </a:p>
            </p:txBody>
          </p:sp>
        </p:grpSp>
        <p:sp>
          <p:nvSpPr>
            <p:cNvPr id="61" name="AutoShape 2"/>
            <p:cNvSpPr>
              <a:spLocks noChangeArrowheads="1"/>
            </p:cNvSpPr>
            <p:nvPr/>
          </p:nvSpPr>
          <p:spPr bwMode="gray">
            <a:xfrm>
              <a:off x="4748710" y="1750172"/>
              <a:ext cx="4134783" cy="455855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  <a:effectLst>
              <a:outerShdw blurRad="50800" dist="25400" dir="4020000" algn="tl" rotWithShape="0">
                <a:prstClr val="black">
                  <a:alpha val="28000"/>
                </a:prstClr>
              </a:outerShdw>
            </a:effectLst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>
                <a:defRPr/>
              </a:pPr>
              <a:endParaRPr lang="ko-KR" altLang="ko-KR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 bwMode="gray">
            <a:xfrm>
              <a:off x="4748710" y="1736725"/>
              <a:ext cx="4134783" cy="360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4DABF5"/>
                </a:gs>
                <a:gs pos="47000">
                  <a:srgbClr val="0173D4"/>
                </a:gs>
                <a:gs pos="100000">
                  <a:srgbClr val="0048AC"/>
                </a:gs>
              </a:gsLst>
              <a:lin ang="2700000" scaled="1"/>
            </a:gradFill>
            <a:ln w="6350" algn="ctr">
              <a:solidFill>
                <a:srgbClr val="0173D4"/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01688" latinLnBrk="0">
                <a:defRPr/>
              </a:pPr>
              <a:r>
                <a:rPr lang="en-US" altLang="ko-KR" b="1" kern="0" spc="-50" dirty="0">
                  <a:solidFill>
                    <a:prstClr val="white">
                      <a:lumMod val="9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PaaS </a:t>
              </a:r>
              <a:r>
                <a:rPr lang="ko-KR" altLang="en-US" b="1" kern="0" spc="-50" dirty="0">
                  <a:solidFill>
                    <a:prstClr val="white">
                      <a:lumMod val="9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환경 응용 </a:t>
              </a:r>
              <a:r>
                <a:rPr lang="en-US" altLang="ko-KR" b="1" kern="0" spc="-50" dirty="0">
                  <a:solidFill>
                    <a:prstClr val="white">
                      <a:lumMod val="9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SW </a:t>
              </a:r>
              <a:r>
                <a:rPr lang="ko-KR" altLang="en-US" b="1" kern="0" spc="-50" dirty="0">
                  <a:solidFill>
                    <a:prstClr val="white">
                      <a:lumMod val="9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개발</a:t>
              </a:r>
            </a:p>
          </p:txBody>
        </p:sp>
        <p:grpSp>
          <p:nvGrpSpPr>
            <p:cNvPr id="63" name="그룹 62"/>
            <p:cNvGrpSpPr/>
            <p:nvPr/>
          </p:nvGrpSpPr>
          <p:grpSpPr>
            <a:xfrm>
              <a:off x="326405" y="2293032"/>
              <a:ext cx="4144700" cy="3917570"/>
              <a:chOff x="4767221" y="2293032"/>
              <a:chExt cx="4144700" cy="3917570"/>
            </a:xfrm>
          </p:grpSpPr>
          <p:sp>
            <p:nvSpPr>
              <p:cNvPr id="86" name="Text Box 69"/>
              <p:cNvSpPr txBox="1">
                <a:spLocks noChangeArrowheads="1"/>
              </p:cNvSpPr>
              <p:nvPr/>
            </p:nvSpPr>
            <p:spPr bwMode="auto">
              <a:xfrm>
                <a:off x="4895557" y="3933826"/>
                <a:ext cx="483388" cy="1067968"/>
              </a:xfrm>
              <a:prstGeom prst="rect">
                <a:avLst/>
              </a:prstGeom>
              <a:gradFill flip="none" rotWithShape="1">
                <a:gsLst>
                  <a:gs pos="0">
                    <a:srgbClr val="ED7D31">
                      <a:lumMod val="67000"/>
                    </a:srgbClr>
                  </a:gs>
                  <a:gs pos="48000">
                    <a:srgbClr val="ED7D31">
                      <a:lumMod val="97000"/>
                      <a:lumOff val="3000"/>
                    </a:srgbClr>
                  </a:gs>
                  <a:gs pos="100000">
                    <a:srgbClr val="ED7D31">
                      <a:lumMod val="60000"/>
                      <a:lumOff val="40000"/>
                    </a:srgbClr>
                  </a:gs>
                </a:gsLst>
                <a:lin ang="13500000" scaled="1"/>
                <a:tileRect/>
              </a:gradFill>
              <a:ln w="9525" cap="flat" cmpd="sng" algn="ctr">
                <a:noFill/>
                <a:prstDash val="solid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72000" tIns="72000" rIns="72000" bIns="9000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R="0" lvl="0" indent="0" algn="ctr" defTabSz="801688" fontAlgn="base" latinLnBrk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 kumimoji="1" sz="1400" b="1" i="0" u="none" strike="noStrike" kern="0" cap="none" spc="-50" normalizeH="0" baseline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+mn-ea"/>
                    <a:cs typeface="Arial" pitchFamily="34" charset="0"/>
                  </a:defRPr>
                </a:lvl1pPr>
              </a:lstStyle>
              <a:p>
                <a:pPr>
                  <a:defRPr/>
                </a:pPr>
                <a:r>
                  <a:rPr lang="en-US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IaaS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endParaRPr>
              </a:p>
            </p:txBody>
          </p:sp>
          <p:cxnSp>
            <p:nvCxnSpPr>
              <p:cNvPr id="87" name="직선 연결선 86"/>
              <p:cNvCxnSpPr/>
              <p:nvPr/>
            </p:nvCxnSpPr>
            <p:spPr>
              <a:xfrm flipV="1">
                <a:off x="7122624" y="2304169"/>
                <a:ext cx="0" cy="2275997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dash"/>
              </a:ln>
              <a:effectLst/>
            </p:spPr>
          </p:cxnSp>
          <p:grpSp>
            <p:nvGrpSpPr>
              <p:cNvPr id="88" name="그룹 87"/>
              <p:cNvGrpSpPr/>
              <p:nvPr/>
            </p:nvGrpSpPr>
            <p:grpSpPr>
              <a:xfrm>
                <a:off x="5458222" y="3753852"/>
                <a:ext cx="2432213" cy="1229875"/>
                <a:chOff x="5458222" y="3972853"/>
                <a:chExt cx="2432213" cy="930573"/>
              </a:xfrm>
            </p:grpSpPr>
            <p:sp>
              <p:nvSpPr>
                <p:cNvPr id="99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5458222" y="4577713"/>
                  <a:ext cx="2306272" cy="325713"/>
                </a:xfrm>
                <a:prstGeom prst="rect">
                  <a:avLst/>
                </a:prstGeom>
                <a:solidFill>
                  <a:srgbClr val="F79646">
                    <a:lumMod val="60000"/>
                    <a:lumOff val="40000"/>
                  </a:srgbClr>
                </a:solidFill>
                <a:ln w="9525" algn="ctr">
                  <a:solidFill>
                    <a:sysClr val="window" lastClr="FFFFFF">
                      <a:lumMod val="75000"/>
                    </a:sysClr>
                  </a:solidFill>
                  <a:round/>
                  <a:headEnd/>
                  <a:tailEnd/>
                </a:ln>
                <a:effectLst/>
              </p:spPr>
              <p:txBody>
                <a:bodyPr vert="horz" wrap="none" lIns="72000" tIns="72000" rIns="72000" bIns="72000" numCol="1" rtlCol="0" anchor="ctr" anchorCtr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ko-KR"/>
                  </a:defPPr>
                  <a:lvl1pPr algn="ctr" defTabSz="801688" eaLnBrk="0" hangingPunct="0">
                    <a:lnSpc>
                      <a:spcPct val="100000"/>
                    </a:lnSpc>
                    <a:defRPr sz="1100" b="1" spc="-50"/>
                  </a:lvl1pPr>
                </a:lstStyle>
                <a:p>
                  <a:pPr latinLnBrk="0">
                    <a:defRPr/>
                  </a:pPr>
                  <a:r>
                    <a:rPr lang="en-US" altLang="ko-KR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HW </a:t>
                  </a:r>
                  <a:r>
                    <a:rPr lang="ko-KR" altLang="en-US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자원</a:t>
                  </a:r>
                  <a:endParaRPr lang="en-US" altLang="ko-KR" kern="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endParaRPr>
                </a:p>
              </p:txBody>
            </p:sp>
            <p:sp>
              <p:nvSpPr>
                <p:cNvPr id="100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7176009" y="4118392"/>
                  <a:ext cx="321141" cy="366543"/>
                </a:xfrm>
                <a:prstGeom prst="rect">
                  <a:avLst/>
                </a:prstGeom>
                <a:solidFill>
                  <a:srgbClr val="F79646">
                    <a:lumMod val="60000"/>
                    <a:lumOff val="40000"/>
                  </a:srgbClr>
                </a:solidFill>
                <a:ln w="9525" algn="ctr">
                  <a:solidFill>
                    <a:sysClr val="window" lastClr="FFFFFF">
                      <a:lumMod val="75000"/>
                    </a:sysClr>
                  </a:solidFill>
                  <a:round/>
                  <a:headEnd/>
                  <a:tailEnd/>
                </a:ln>
                <a:effectLst/>
              </p:spPr>
              <p:txBody>
                <a:bodyPr vert="horz" wrap="none" lIns="72000" tIns="72000" rIns="72000" bIns="72000" numCol="1" rtlCol="0" anchor="ctr" anchorCtr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ko-KR"/>
                  </a:defPPr>
                  <a:lvl1pPr algn="ctr" defTabSz="801688" eaLnBrk="0" hangingPunct="0">
                    <a:lnSpc>
                      <a:spcPct val="100000"/>
                    </a:lnSpc>
                    <a:defRPr sz="1100" b="1" spc="-50"/>
                  </a:lvl1pPr>
                </a:lstStyle>
                <a:p>
                  <a:pPr latinLnBrk="0">
                    <a:defRPr/>
                  </a:pPr>
                  <a:endParaRPr lang="en-US" altLang="ko-KR" kern="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endParaRPr>
                </a:p>
              </p:txBody>
            </p:sp>
            <p:sp>
              <p:nvSpPr>
                <p:cNvPr id="101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5458222" y="4118392"/>
                  <a:ext cx="1601577" cy="366543"/>
                </a:xfrm>
                <a:prstGeom prst="rect">
                  <a:avLst/>
                </a:prstGeom>
                <a:solidFill>
                  <a:srgbClr val="F79646">
                    <a:lumMod val="60000"/>
                    <a:lumOff val="40000"/>
                  </a:srgbClr>
                </a:solidFill>
                <a:ln w="9525" algn="ctr">
                  <a:solidFill>
                    <a:sysClr val="window" lastClr="FFFFFF">
                      <a:lumMod val="75000"/>
                    </a:sysClr>
                  </a:solidFill>
                  <a:round/>
                  <a:headEnd/>
                  <a:tailEnd/>
                </a:ln>
                <a:effectLst/>
              </p:spPr>
              <p:txBody>
                <a:bodyPr vert="horz" wrap="none" lIns="72000" tIns="72000" rIns="72000" bIns="72000" numCol="1" rtlCol="0" anchor="ctr" anchorCtr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ko-KR"/>
                  </a:defPPr>
                  <a:lvl1pPr algn="ctr" defTabSz="801688" eaLnBrk="0" hangingPunct="0">
                    <a:lnSpc>
                      <a:spcPct val="100000"/>
                    </a:lnSpc>
                    <a:defRPr sz="1100" b="1" spc="-50"/>
                  </a:lvl1pPr>
                </a:lstStyle>
                <a:p>
                  <a:pPr latinLnBrk="0">
                    <a:defRPr/>
                  </a:pPr>
                  <a:r>
                    <a:rPr lang="en-US" altLang="ko-KR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VM </a:t>
                  </a:r>
                  <a:br>
                    <a:rPr lang="en-US" altLang="ko-KR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</a:br>
                  <a:r>
                    <a:rPr lang="en-US" altLang="ko-KR" b="0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(</a:t>
                  </a:r>
                  <a:r>
                    <a:rPr lang="ko-KR" altLang="en-US" b="0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가상머신</a:t>
                  </a:r>
                  <a:r>
                    <a:rPr lang="en-US" altLang="ko-KR" b="0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)</a:t>
                  </a:r>
                </a:p>
              </p:txBody>
            </p:sp>
            <p:sp>
              <p:nvSpPr>
                <p:cNvPr id="102" name="직사각형 101"/>
                <p:cNvSpPr/>
                <p:nvPr/>
              </p:nvSpPr>
              <p:spPr>
                <a:xfrm>
                  <a:off x="7466024" y="3972853"/>
                  <a:ext cx="424411" cy="4300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atinLnBrk="0">
                    <a:lnSpc>
                      <a:spcPct val="160000"/>
                    </a:lnSpc>
                    <a:defRPr/>
                  </a:pPr>
                  <a:r>
                    <a:rPr lang="en-US" altLang="ko-KR" sz="2400" b="1" kern="0" dirty="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…</a:t>
                  </a:r>
                  <a:endParaRPr lang="ko-KR" altLang="en-US" sz="1000" kern="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89" name="그룹 88"/>
              <p:cNvGrpSpPr/>
              <p:nvPr/>
            </p:nvGrpSpPr>
            <p:grpSpPr>
              <a:xfrm>
                <a:off x="7825818" y="3946201"/>
                <a:ext cx="1086103" cy="1037526"/>
                <a:chOff x="7825818" y="2679832"/>
                <a:chExt cx="1086103" cy="2223592"/>
              </a:xfrm>
            </p:grpSpPr>
            <p:sp>
              <p:nvSpPr>
                <p:cNvPr id="97" name="오른쪽 중괄호 96"/>
                <p:cNvSpPr/>
                <p:nvPr/>
              </p:nvSpPr>
              <p:spPr>
                <a:xfrm>
                  <a:off x="7825818" y="2679832"/>
                  <a:ext cx="144105" cy="2223592"/>
                </a:xfrm>
                <a:prstGeom prst="rightBrace">
                  <a:avLst/>
                </a:prstGeom>
                <a:noFill/>
                <a:ln w="190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latinLnBrk="0">
                    <a:defRPr/>
                  </a:pPr>
                  <a:endParaRPr lang="ko-KR" altLang="en-US" kern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98" name="직사각형 97"/>
                <p:cNvSpPr/>
                <p:nvPr/>
              </p:nvSpPr>
              <p:spPr>
                <a:xfrm>
                  <a:off x="7856516" y="3199140"/>
                  <a:ext cx="1055405" cy="1212968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①</a:t>
                  </a:r>
                </a:p>
                <a:p>
                  <a:pPr algn="ctr" latinLnBrk="0">
                    <a:defRPr/>
                  </a:pPr>
                  <a:r>
                    <a:rPr lang="en-US" altLang="ko-KR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HW</a:t>
                  </a:r>
                </a:p>
                <a:p>
                  <a:pPr algn="ctr" latinLnBrk="0">
                    <a:defRPr/>
                  </a:pPr>
                  <a:r>
                    <a:rPr lang="ko-KR" altLang="en-US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설치</a:t>
                  </a:r>
                  <a:r>
                    <a:rPr lang="en-US" altLang="ko-KR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·</a:t>
                  </a:r>
                  <a:r>
                    <a:rPr lang="ko-KR" altLang="en-US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구성</a:t>
                  </a:r>
                  <a:r>
                    <a:rPr lang="en-US" altLang="ko-KR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·</a:t>
                  </a:r>
                  <a:r>
                    <a:rPr lang="ko-KR" altLang="en-US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관리</a:t>
                  </a:r>
                </a:p>
              </p:txBody>
            </p:sp>
          </p:grpSp>
          <p:grpSp>
            <p:nvGrpSpPr>
              <p:cNvPr id="91" name="그룹 90"/>
              <p:cNvGrpSpPr/>
              <p:nvPr/>
            </p:nvGrpSpPr>
            <p:grpSpPr>
              <a:xfrm>
                <a:off x="5464834" y="4986294"/>
                <a:ext cx="2299659" cy="393983"/>
                <a:chOff x="6136448" y="4835605"/>
                <a:chExt cx="2515815" cy="397458"/>
              </a:xfrm>
            </p:grpSpPr>
            <p:sp>
              <p:nvSpPr>
                <p:cNvPr id="95" name="오른쪽 중괄호 94"/>
                <p:cNvSpPr/>
                <p:nvPr/>
              </p:nvSpPr>
              <p:spPr>
                <a:xfrm rot="5400000">
                  <a:off x="7315531" y="3656522"/>
                  <a:ext cx="157650" cy="2515815"/>
                </a:xfrm>
                <a:prstGeom prst="rightBrace">
                  <a:avLst/>
                </a:prstGeom>
                <a:noFill/>
                <a:ln w="190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latinLnBrk="0">
                    <a:defRPr/>
                  </a:pPr>
                  <a:endParaRPr lang="ko-KR" altLang="en-US" kern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96" name="직사각형 95"/>
                <p:cNvSpPr/>
                <p:nvPr/>
              </p:nvSpPr>
              <p:spPr>
                <a:xfrm>
                  <a:off x="6443711" y="4984182"/>
                  <a:ext cx="1882030" cy="2488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② HW </a:t>
                  </a:r>
                  <a:r>
                    <a:rPr lang="ko-KR" altLang="en-US" sz="1100" b="1" kern="0" dirty="0">
                      <a:solidFill>
                        <a:srgbClr val="FF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sym typeface="Wingdings"/>
                    </a:rPr>
                    <a:t>자원 공동 활용</a:t>
                  </a:r>
                  <a:endParaRPr lang="en-US" altLang="ko-KR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endParaRPr>
                </a:p>
              </p:txBody>
            </p:sp>
          </p:grpSp>
          <p:sp>
            <p:nvSpPr>
              <p:cNvPr id="92" name="Text Box 69"/>
              <p:cNvSpPr txBox="1">
                <a:spLocks noChangeArrowheads="1"/>
              </p:cNvSpPr>
              <p:nvPr/>
            </p:nvSpPr>
            <p:spPr bwMode="auto">
              <a:xfrm>
                <a:off x="5463344" y="2293032"/>
                <a:ext cx="1580099" cy="346465"/>
              </a:xfrm>
              <a:prstGeom prst="rect">
                <a:avLst/>
              </a:prstGeom>
              <a:gradFill flip="none" rotWithShape="1">
                <a:gsLst>
                  <a:gs pos="0">
                    <a:srgbClr val="70AD47">
                      <a:lumMod val="89000"/>
                    </a:srgbClr>
                  </a:gs>
                  <a:gs pos="23000">
                    <a:srgbClr val="70AD47">
                      <a:lumMod val="89000"/>
                    </a:srgbClr>
                  </a:gs>
                  <a:gs pos="69000">
                    <a:srgbClr val="70AD47">
                      <a:lumMod val="75000"/>
                    </a:srgbClr>
                  </a:gs>
                  <a:gs pos="97000">
                    <a:srgbClr val="70AD47">
                      <a:lumMod val="70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9525" cap="flat" cmpd="sng" algn="ctr">
                <a:noFill/>
                <a:prstDash val="solid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none" lIns="72000" tIns="72000" rIns="72000" bIns="9000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ko-KR"/>
                </a:defPPr>
                <a:lvl1pPr marR="0" lvl="0" algn="ctr" defTabSz="801688" fontAlgn="base" latinLnBrk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 kumimoji="1" sz="1400" b="1" i="0" u="none" strike="noStrike" kern="0" cap="none" spc="-50" normalizeH="0" baseline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+mn-ea"/>
                    <a:cs typeface="Arial" pitchFamily="34" charset="0"/>
                  </a:defRPr>
                </a:lvl1pPr>
              </a:lstStyle>
              <a:p>
                <a:pPr>
                  <a:defRPr/>
                </a:pPr>
                <a:r>
                  <a:rPr lang="ko-KR" altLang="en-US" sz="1200" dirty="0"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응용 </a:t>
                </a:r>
                <a:r>
                  <a:rPr lang="en-US" altLang="ko-KR" sz="1200" dirty="0"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SW</a:t>
                </a:r>
              </a:p>
            </p:txBody>
          </p:sp>
          <p:sp>
            <p:nvSpPr>
              <p:cNvPr id="93" name="Text Box 69"/>
              <p:cNvSpPr txBox="1">
                <a:spLocks noChangeArrowheads="1"/>
              </p:cNvSpPr>
              <p:nvPr/>
            </p:nvSpPr>
            <p:spPr bwMode="auto">
              <a:xfrm>
                <a:off x="5458223" y="2747077"/>
                <a:ext cx="1580099" cy="1058545"/>
              </a:xfrm>
              <a:prstGeom prst="rect">
                <a:avLst/>
              </a:prstGeom>
              <a:solidFill>
                <a:sysClr val="window" lastClr="FFFFFF"/>
              </a:solidFill>
              <a:ln w="6350" algn="ctr">
                <a:solidFill>
                  <a:sysClr val="window" lastClr="FFFFFF">
                    <a:lumMod val="75000"/>
                  </a:sysClr>
                </a:solidFill>
                <a:round/>
                <a:headEnd/>
                <a:tailEnd/>
              </a:ln>
              <a:effectLst>
                <a:outerShdw blurRad="50800" dist="25400" dir="4020000" algn="tl" rotWithShape="0">
                  <a:prstClr val="black">
                    <a:alpha val="28000"/>
                  </a:prstClr>
                </a:outerShdw>
              </a:effectLst>
            </p:spPr>
            <p:txBody>
              <a:bodyPr wrap="none" lIns="72000" tIns="72000" rIns="72000" bIns="72000" anchor="ctr"/>
              <a:lstStyle>
                <a:defPPr>
                  <a:defRPr lang="ko-KR"/>
                </a:defPPr>
                <a:lvl1pPr algn="ctr" defTabSz="801688" eaLnBrk="0" latinLnBrk="0" hangingPunct="0">
                  <a:defRPr sz="1400" b="1" spc="-50">
                    <a:solidFill>
                      <a:prstClr val="black"/>
                    </a:solidFill>
                    <a:latin typeface="+mn-ea"/>
                    <a:cs typeface="Arial" pitchFamily="34" charset="0"/>
                  </a:defRPr>
                </a:lvl1pPr>
              </a:lstStyle>
              <a:p>
                <a:pPr>
                  <a:defRPr/>
                </a:pPr>
                <a:r>
                  <a:rPr lang="en-US" altLang="ko-KR" sz="1100" kern="0" dirty="0"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SW </a:t>
                </a:r>
                <a:r>
                  <a:rPr lang="ko-KR" altLang="en-US" sz="1100" kern="0" dirty="0"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자원</a:t>
                </a:r>
                <a:endParaRPr lang="en-US" altLang="ko-KR" sz="1100" kern="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endParaRPr>
              </a:p>
            </p:txBody>
          </p:sp>
          <p:sp>
            <p:nvSpPr>
              <p:cNvPr id="94" name="직사각형 93"/>
              <p:cNvSpPr>
                <a:spLocks noChangeArrowheads="1"/>
              </p:cNvSpPr>
              <p:nvPr/>
            </p:nvSpPr>
            <p:spPr bwMode="auto">
              <a:xfrm>
                <a:off x="4767221" y="5597247"/>
                <a:ext cx="4134783" cy="6133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0000" tIns="36000" anchor="t"/>
              <a:lstStyle/>
              <a:p>
                <a:pPr marL="176213" indent="-176213" latinLnBrk="0">
                  <a:spcBef>
                    <a:spcPts val="400"/>
                  </a:spcBef>
                  <a:buClr>
                    <a:prstClr val="black">
                      <a:lumMod val="50000"/>
                      <a:lumOff val="50000"/>
                    </a:prstClr>
                  </a:buClr>
                  <a:buFont typeface="Arial" pitchFamily="34" charset="0"/>
                  <a:buChar char="•"/>
                  <a:defRPr/>
                </a:pPr>
                <a:r>
                  <a:rPr lang="en-US" altLang="ko-KR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HW </a:t>
                </a:r>
                <a:r>
                  <a:rPr lang="ko-KR" altLang="en-US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자원의 공동 활용 ▶ </a:t>
                </a:r>
                <a:r>
                  <a:rPr lang="en-US" altLang="ko-KR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IT </a:t>
                </a:r>
                <a:r>
                  <a:rPr lang="ko-KR" altLang="en-US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비용 절감</a:t>
                </a:r>
                <a:endParaRPr lang="en-US" altLang="ko-KR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176213" indent="-176213" latinLnBrk="0">
                  <a:spcBef>
                    <a:spcPts val="400"/>
                  </a:spcBef>
                  <a:buClr>
                    <a:prstClr val="black">
                      <a:lumMod val="50000"/>
                      <a:lumOff val="50000"/>
                    </a:prstClr>
                  </a:buClr>
                  <a:buFont typeface="Arial" pitchFamily="34" charset="0"/>
                  <a:buChar char="•"/>
                  <a:defRPr/>
                </a:pPr>
                <a:r>
                  <a:rPr lang="en-US" altLang="ko-KR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HW </a:t>
                </a:r>
                <a:r>
                  <a:rPr lang="ko-KR" altLang="en-US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설치</a:t>
                </a:r>
                <a:r>
                  <a:rPr lang="en-US" altLang="ko-KR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·</a:t>
                </a:r>
                <a:r>
                  <a:rPr lang="ko-KR" altLang="en-US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 자동화</a:t>
                </a:r>
                <a:r>
                  <a:rPr lang="en-US" altLang="ko-KR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▶ </a:t>
                </a:r>
                <a:r>
                  <a:rPr lang="ko-KR" altLang="en-US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개발</a:t>
                </a:r>
                <a:r>
                  <a:rPr lang="en-US" altLang="ko-KR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400" b="1" kern="0" spc="-50" dirty="0">
                    <a:solidFill>
                      <a:srgbClr val="00206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생산성 향상</a:t>
                </a:r>
              </a:p>
            </p:txBody>
          </p:sp>
        </p:grpSp>
        <p:sp>
          <p:nvSpPr>
            <p:cNvPr id="64" name="Text Box 69"/>
            <p:cNvSpPr txBox="1">
              <a:spLocks noChangeArrowheads="1"/>
            </p:cNvSpPr>
            <p:nvPr/>
          </p:nvSpPr>
          <p:spPr bwMode="auto">
            <a:xfrm>
              <a:off x="4895557" y="3933826"/>
              <a:ext cx="483388" cy="1067968"/>
            </a:xfrm>
            <a:prstGeom prst="rect">
              <a:avLst/>
            </a:prstGeom>
            <a:gradFill flip="none" rotWithShape="1">
              <a:gsLst>
                <a:gs pos="0">
                  <a:srgbClr val="ED7D31">
                    <a:lumMod val="67000"/>
                  </a:srgbClr>
                </a:gs>
                <a:gs pos="48000">
                  <a:srgbClr val="ED7D31">
                    <a:lumMod val="97000"/>
                    <a:lumOff val="3000"/>
                  </a:srgbClr>
                </a:gs>
                <a:gs pos="100000">
                  <a:srgbClr val="ED7D31">
                    <a:lumMod val="60000"/>
                    <a:lumOff val="40000"/>
                  </a:srgbClr>
                </a:gs>
              </a:gsLst>
              <a:lin ang="13500000" scaled="1"/>
              <a:tileRect/>
            </a:gradFill>
            <a:ln w="9525" cap="flat" cmpd="sng" algn="ctr">
              <a:noFill/>
              <a:prstDash val="solid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R="0" lvl="0" indent="0" algn="ctr" defTabSz="801688" fontAlgn="base" latinLnBrk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400" b="1" i="0" u="none" strike="noStrike" kern="0" cap="none" spc="-50" normalizeH="0" baseline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+mn-ea"/>
                  <a:cs typeface="Arial" pitchFamily="34" charset="0"/>
                </a:defRPr>
              </a:lvl1pPr>
            </a:lstStyle>
            <a:p>
              <a:pPr>
                <a:defRPr/>
              </a:pPr>
              <a:r>
                <a:rPr lang="en-US" altLang="ko-KR" dirty="0" err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IaaS</a:t>
              </a:r>
              <a:endPara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/>
              </a:endParaRPr>
            </a:p>
          </p:txBody>
        </p:sp>
        <p:cxnSp>
          <p:nvCxnSpPr>
            <p:cNvPr id="65" name="직선 연결선 64"/>
            <p:cNvCxnSpPr/>
            <p:nvPr/>
          </p:nvCxnSpPr>
          <p:spPr>
            <a:xfrm flipV="1">
              <a:off x="7122624" y="2304169"/>
              <a:ext cx="0" cy="2275997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dash"/>
            </a:ln>
            <a:effectLst/>
          </p:spPr>
        </p:cxnSp>
        <p:sp>
          <p:nvSpPr>
            <p:cNvPr id="66" name="Text Box 69"/>
            <p:cNvSpPr txBox="1">
              <a:spLocks noChangeArrowheads="1"/>
            </p:cNvSpPr>
            <p:nvPr/>
          </p:nvSpPr>
          <p:spPr bwMode="auto">
            <a:xfrm>
              <a:off x="5458222" y="4553254"/>
              <a:ext cx="2306272" cy="430473"/>
            </a:xfrm>
            <a:prstGeom prst="rect">
              <a:avLst/>
            </a:prstGeom>
            <a:solidFill>
              <a:srgbClr val="F79646">
                <a:lumMod val="60000"/>
                <a:lumOff val="40000"/>
              </a:srgbClr>
            </a:solidFill>
            <a:ln w="9525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 defTabSz="801688" eaLnBrk="0" hangingPunct="0">
                <a:lnSpc>
                  <a:spcPct val="100000"/>
                </a:lnSpc>
                <a:defRPr sz="1100" b="1" spc="-50"/>
              </a:lvl1pPr>
            </a:lstStyle>
            <a:p>
              <a:pPr latinLnBrk="0">
                <a:defRPr/>
              </a:pPr>
              <a:r>
                <a:rPr lang="en-US" altLang="ko-KR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HW </a:t>
              </a:r>
              <a:r>
                <a:rPr lang="ko-KR" altLang="en-US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자원</a:t>
              </a:r>
              <a:endParaRPr lang="en-US" altLang="ko-KR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/>
              </a:endParaRPr>
            </a:p>
          </p:txBody>
        </p:sp>
        <p:grpSp>
          <p:nvGrpSpPr>
            <p:cNvPr id="67" name="그룹 66"/>
            <p:cNvGrpSpPr/>
            <p:nvPr/>
          </p:nvGrpSpPr>
          <p:grpSpPr>
            <a:xfrm>
              <a:off x="7176009" y="3753852"/>
              <a:ext cx="714426" cy="676784"/>
              <a:chOff x="7176009" y="3753852"/>
              <a:chExt cx="714426" cy="676784"/>
            </a:xfrm>
          </p:grpSpPr>
          <p:sp>
            <p:nvSpPr>
              <p:cNvPr id="84" name="Text Box 69"/>
              <p:cNvSpPr txBox="1">
                <a:spLocks noChangeArrowheads="1"/>
              </p:cNvSpPr>
              <p:nvPr/>
            </p:nvSpPr>
            <p:spPr bwMode="auto">
              <a:xfrm>
                <a:off x="7176009" y="3946201"/>
                <a:ext cx="321141" cy="484435"/>
              </a:xfrm>
              <a:prstGeom prst="rect">
                <a:avLst/>
              </a:prstGeom>
              <a:solidFill>
                <a:srgbClr val="F79646">
                  <a:lumMod val="60000"/>
                  <a:lumOff val="40000"/>
                </a:srgbClr>
              </a:solidFill>
              <a:ln w="9525" algn="ctr">
                <a:solidFill>
                  <a:sysClr val="window" lastClr="FFFFFF">
                    <a:lumMod val="75000"/>
                  </a:sysClr>
                </a:solidFill>
                <a:round/>
                <a:headEnd/>
                <a:tailEnd/>
              </a:ln>
              <a:effectLst/>
            </p:spPr>
            <p:txBody>
              <a:bodyPr vert="horz" wrap="none" lIns="72000" tIns="72000" rIns="72000" bIns="7200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algn="ctr" defTabSz="801688" eaLnBrk="0" hangingPunct="0">
                  <a:lnSpc>
                    <a:spcPct val="100000"/>
                  </a:lnSpc>
                  <a:defRPr sz="1100" b="1" spc="-50"/>
                </a:lvl1pPr>
              </a:lstStyle>
              <a:p>
                <a:pPr latinLnBrk="0">
                  <a:defRPr/>
                </a:pPr>
                <a:endParaRPr lang="en-US" altLang="ko-KR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endParaRPr>
              </a:p>
            </p:txBody>
          </p:sp>
          <p:sp>
            <p:nvSpPr>
              <p:cNvPr id="85" name="직사각형 84"/>
              <p:cNvSpPr/>
              <p:nvPr/>
            </p:nvSpPr>
            <p:spPr>
              <a:xfrm>
                <a:off x="7466024" y="3753852"/>
                <a:ext cx="424411" cy="568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lnSpc>
                    <a:spcPct val="160000"/>
                  </a:lnSpc>
                  <a:defRPr/>
                </a:pPr>
                <a:r>
                  <a:rPr lang="en-US" altLang="ko-KR" sz="2400" b="1" kern="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  <a:endParaRPr lang="ko-KR" altLang="en-US" sz="10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7825818" y="2741612"/>
              <a:ext cx="1130707" cy="2242115"/>
              <a:chOff x="7825818" y="2679832"/>
              <a:chExt cx="1130707" cy="2223592"/>
            </a:xfrm>
          </p:grpSpPr>
          <p:sp>
            <p:nvSpPr>
              <p:cNvPr id="82" name="오른쪽 중괄호 81"/>
              <p:cNvSpPr/>
              <p:nvPr/>
            </p:nvSpPr>
            <p:spPr>
              <a:xfrm>
                <a:off x="7825818" y="2679832"/>
                <a:ext cx="144105" cy="2223592"/>
              </a:xfrm>
              <a:prstGeom prst="rightBrac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>
                  <a:defRPr/>
                </a:pPr>
                <a:endParaRPr lang="ko-KR" altLang="en-US" kern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3" name="직사각형 82"/>
              <p:cNvSpPr/>
              <p:nvPr/>
            </p:nvSpPr>
            <p:spPr>
              <a:xfrm>
                <a:off x="7856516" y="3524976"/>
                <a:ext cx="1100009" cy="56129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 latinLnBrk="0">
                  <a:defRPr/>
                </a:pPr>
                <a:r>
                  <a:rPr lang="en-US" altLang="ko-KR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①</a:t>
                </a:r>
              </a:p>
              <a:p>
                <a:pPr algn="ctr" latinLnBrk="0">
                  <a:defRPr/>
                </a:pPr>
                <a:r>
                  <a:rPr lang="en-US" altLang="ko-KR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SW, HW</a:t>
                </a:r>
              </a:p>
              <a:p>
                <a:pPr algn="ctr" latinLnBrk="0">
                  <a:defRPr/>
                </a:pPr>
                <a:r>
                  <a:rPr lang="ko-KR" altLang="en-US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설치</a:t>
                </a:r>
                <a:r>
                  <a:rPr lang="en-US" altLang="ko-KR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·</a:t>
                </a:r>
                <a:r>
                  <a:rPr lang="ko-KR" altLang="en-US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구성</a:t>
                </a:r>
                <a:r>
                  <a:rPr lang="en-US" altLang="ko-KR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·</a:t>
                </a:r>
                <a:r>
                  <a:rPr lang="ko-KR" altLang="en-US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관리</a:t>
                </a:r>
              </a:p>
            </p:txBody>
          </p:sp>
        </p:grpSp>
        <p:grpSp>
          <p:nvGrpSpPr>
            <p:cNvPr id="69" name="그룹 68"/>
            <p:cNvGrpSpPr/>
            <p:nvPr/>
          </p:nvGrpSpPr>
          <p:grpSpPr>
            <a:xfrm>
              <a:off x="5447228" y="4986293"/>
              <a:ext cx="2317266" cy="393982"/>
              <a:chOff x="6117187" y="4835605"/>
              <a:chExt cx="2535077" cy="397457"/>
            </a:xfrm>
          </p:grpSpPr>
          <p:sp>
            <p:nvSpPr>
              <p:cNvPr id="80" name="오른쪽 중괄호 79"/>
              <p:cNvSpPr/>
              <p:nvPr/>
            </p:nvSpPr>
            <p:spPr>
              <a:xfrm rot="5400000">
                <a:off x="7315531" y="3656522"/>
                <a:ext cx="157650" cy="2515815"/>
              </a:xfrm>
              <a:prstGeom prst="rightBrace">
                <a:avLst/>
              </a:prstGeom>
              <a:noFill/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latinLnBrk="0">
                  <a:defRPr/>
                </a:pPr>
                <a:endParaRPr lang="ko-KR" altLang="en-US" kern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1" name="직사각형 80"/>
              <p:cNvSpPr/>
              <p:nvPr/>
            </p:nvSpPr>
            <p:spPr>
              <a:xfrm>
                <a:off x="6117187" y="4984182"/>
                <a:ext cx="2535077" cy="2488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latinLnBrk="0">
                  <a:defRPr/>
                </a:pPr>
                <a:r>
                  <a:rPr lang="en-US" altLang="ko-KR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② HW, SW </a:t>
                </a:r>
                <a:r>
                  <a:rPr lang="ko-KR" altLang="en-US" sz="1100" b="1" kern="0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/>
                  </a:rPr>
                  <a:t>자원 공동 활용</a:t>
                </a:r>
                <a:endParaRPr lang="en-US" altLang="ko-KR" sz="1100" b="1" kern="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endParaRPr>
              </a:p>
            </p:txBody>
          </p:sp>
        </p:grpSp>
        <p:sp>
          <p:nvSpPr>
            <p:cNvPr id="70" name="Text Box 69"/>
            <p:cNvSpPr txBox="1">
              <a:spLocks noChangeArrowheads="1"/>
            </p:cNvSpPr>
            <p:nvPr/>
          </p:nvSpPr>
          <p:spPr bwMode="auto">
            <a:xfrm>
              <a:off x="5463344" y="2293032"/>
              <a:ext cx="825161" cy="346465"/>
            </a:xfrm>
            <a:prstGeom prst="rect">
              <a:avLst/>
            </a:prstGeom>
            <a:gradFill flip="none" rotWithShape="1">
              <a:gsLst>
                <a:gs pos="0">
                  <a:srgbClr val="70AD47">
                    <a:lumMod val="89000"/>
                  </a:srgbClr>
                </a:gs>
                <a:gs pos="23000">
                  <a:srgbClr val="70AD47">
                    <a:lumMod val="89000"/>
                  </a:srgbClr>
                </a:gs>
                <a:gs pos="69000">
                  <a:srgbClr val="70AD47">
                    <a:lumMod val="75000"/>
                  </a:srgbClr>
                </a:gs>
                <a:gs pos="97000">
                  <a:srgbClr val="70AD47">
                    <a:lumMod val="7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 w="9525" cap="flat" cmpd="sng" algn="ctr">
              <a:noFill/>
              <a:prstDash val="solid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R="0" lvl="0" algn="ctr" defTabSz="801688" fontAlgn="base" latinLnBrk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400" b="1" i="0" u="none" strike="noStrike" kern="0" cap="none" spc="-50" normalizeH="0" baseline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+mn-ea"/>
                  <a:cs typeface="Arial" pitchFamily="34" charset="0"/>
                </a:defRPr>
              </a:lvl1pPr>
            </a:lstStyle>
            <a:p>
              <a:pPr>
                <a:defRPr/>
              </a:pP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응용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SW</a:t>
              </a:r>
            </a:p>
          </p:txBody>
        </p:sp>
        <p:sp>
          <p:nvSpPr>
            <p:cNvPr id="71" name="직사각형 70"/>
            <p:cNvSpPr>
              <a:spLocks noChangeArrowheads="1"/>
            </p:cNvSpPr>
            <p:nvPr/>
          </p:nvSpPr>
          <p:spPr bwMode="auto">
            <a:xfrm>
              <a:off x="4767221" y="5597247"/>
              <a:ext cx="4134783" cy="6133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0" tIns="36000" anchor="t"/>
            <a:lstStyle/>
            <a:p>
              <a:pPr marL="176213" indent="-176213" latinLnBrk="0">
                <a:spcBef>
                  <a:spcPts val="400"/>
                </a:spcBef>
                <a:buClr>
                  <a:prstClr val="black">
                    <a:lumMod val="50000"/>
                    <a:lumOff val="50000"/>
                  </a:prstClr>
                </a:buClr>
                <a:buFont typeface="Arial" pitchFamily="34" charset="0"/>
                <a:buChar char="•"/>
                <a:defRPr/>
              </a:pPr>
              <a:r>
                <a:rPr lang="en-US" altLang="ko-KR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HW, SW </a:t>
              </a:r>
              <a:r>
                <a:rPr lang="ko-KR" altLang="en-US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자원의 공동 활용 ▶ </a:t>
              </a:r>
              <a:r>
                <a:rPr lang="en-US" altLang="ko-KR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IT </a:t>
              </a:r>
              <a:r>
                <a:rPr lang="ko-KR" altLang="en-US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비용 절감 극대화</a:t>
              </a:r>
              <a:endParaRPr lang="en-US" altLang="ko-KR" sz="1400" b="1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6213" indent="-176213" latinLnBrk="0">
                <a:spcBef>
                  <a:spcPts val="400"/>
                </a:spcBef>
                <a:buClr>
                  <a:prstClr val="black">
                    <a:lumMod val="50000"/>
                    <a:lumOff val="50000"/>
                  </a:prstClr>
                </a:buClr>
                <a:buFont typeface="Arial" pitchFamily="34" charset="0"/>
                <a:buChar char="•"/>
                <a:defRPr/>
              </a:pPr>
              <a:r>
                <a:rPr lang="en-US" altLang="ko-KR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HW, SW </a:t>
              </a:r>
              <a:r>
                <a:rPr lang="ko-KR" altLang="en-US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설치</a:t>
              </a:r>
              <a:r>
                <a:rPr lang="en-US" altLang="ko-KR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 자동화</a:t>
              </a:r>
              <a:r>
                <a:rPr lang="en-US" altLang="ko-KR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▶ </a:t>
              </a:r>
              <a:r>
                <a:rPr lang="ko-KR" altLang="en-US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</a:t>
              </a:r>
              <a:r>
                <a:rPr lang="en-US" altLang="ko-KR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400" b="1" kern="0" spc="-50" dirty="0">
                  <a:solidFill>
                    <a:srgbClr val="00206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생산성 극대화</a:t>
              </a:r>
            </a:p>
          </p:txBody>
        </p:sp>
        <p:sp>
          <p:nvSpPr>
            <p:cNvPr id="72" name="Text Box 69"/>
            <p:cNvSpPr txBox="1">
              <a:spLocks noChangeArrowheads="1"/>
            </p:cNvSpPr>
            <p:nvPr/>
          </p:nvSpPr>
          <p:spPr bwMode="auto">
            <a:xfrm>
              <a:off x="4895557" y="2757751"/>
              <a:ext cx="483388" cy="1067968"/>
            </a:xfrm>
            <a:prstGeom prst="rect">
              <a:avLst/>
            </a:prstGeom>
            <a:gradFill flip="none" rotWithShape="1">
              <a:gsLst>
                <a:gs pos="0">
                  <a:srgbClr val="ED7D31">
                    <a:lumMod val="67000"/>
                  </a:srgbClr>
                </a:gs>
                <a:gs pos="48000">
                  <a:srgbClr val="ED7D31">
                    <a:lumMod val="97000"/>
                    <a:lumOff val="3000"/>
                  </a:srgbClr>
                </a:gs>
                <a:gs pos="100000">
                  <a:srgbClr val="ED7D31">
                    <a:lumMod val="60000"/>
                    <a:lumOff val="40000"/>
                  </a:srgbClr>
                </a:gs>
              </a:gsLst>
              <a:lin ang="13500000" scaled="1"/>
              <a:tileRect/>
            </a:gradFill>
            <a:ln w="9525" cap="flat" cmpd="sng" algn="ctr">
              <a:noFill/>
              <a:prstDash val="solid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ko-KR"/>
              </a:defPPr>
              <a:lvl1pPr marR="0" lvl="0" indent="0" algn="ctr" defTabSz="801688" fontAlgn="base" latinLnBrk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1" sz="1400" b="1" i="0" u="none" strike="noStrike" kern="0" cap="none" spc="-50" normalizeH="0" baseline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+mn-ea"/>
                  <a:cs typeface="Arial" pitchFamily="34" charset="0"/>
                </a:defRPr>
              </a:lvl1pPr>
            </a:lstStyle>
            <a:p>
              <a:pPr>
                <a:defRPr/>
              </a:pP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PaaS</a:t>
              </a:r>
            </a:p>
          </p:txBody>
        </p:sp>
        <p:sp>
          <p:nvSpPr>
            <p:cNvPr id="73" name="Text Box 69"/>
            <p:cNvSpPr txBox="1">
              <a:spLocks noChangeArrowheads="1"/>
            </p:cNvSpPr>
            <p:nvPr/>
          </p:nvSpPr>
          <p:spPr bwMode="auto">
            <a:xfrm>
              <a:off x="5458126" y="3328162"/>
              <a:ext cx="830379" cy="484435"/>
            </a:xfrm>
            <a:prstGeom prst="rect">
              <a:avLst/>
            </a:prstGeom>
            <a:solidFill>
              <a:srgbClr val="F79646">
                <a:lumMod val="60000"/>
                <a:lumOff val="40000"/>
              </a:srgbClr>
            </a:solidFill>
            <a:ln w="9525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 defTabSz="801688" eaLnBrk="0" hangingPunct="0">
                <a:lnSpc>
                  <a:spcPct val="100000"/>
                </a:lnSpc>
                <a:defRPr sz="1100" b="1" spc="-50"/>
              </a:lvl1pPr>
            </a:lstStyle>
            <a:p>
              <a:pPr latinLnBrk="0">
                <a:defRPr/>
              </a:pPr>
              <a:r>
                <a:rPr lang="en-US" altLang="ko-KR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Container</a:t>
              </a:r>
            </a:p>
            <a:p>
              <a:pPr latinLnBrk="0">
                <a:defRPr/>
              </a:pPr>
              <a:r>
                <a:rPr lang="en-US" altLang="ko-KR" b="0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(</a:t>
              </a:r>
              <a:r>
                <a:rPr lang="ko-KR" altLang="en-US" b="0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컨테이너</a:t>
              </a:r>
              <a:r>
                <a:rPr lang="en-US" altLang="ko-KR" b="0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)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5464834" y="2741612"/>
              <a:ext cx="830379" cy="484435"/>
            </a:xfrm>
            <a:prstGeom prst="rect">
              <a:avLst/>
            </a:prstGeom>
            <a:solidFill>
              <a:srgbClr val="F79646">
                <a:lumMod val="60000"/>
                <a:lumOff val="40000"/>
              </a:srgbClr>
            </a:solidFill>
            <a:ln w="9525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 defTabSz="801688" eaLnBrk="0" hangingPunct="0">
                <a:lnSpc>
                  <a:spcPct val="100000"/>
                </a:lnSpc>
                <a:defRPr sz="1100" b="1" spc="-50"/>
              </a:lvl1pPr>
            </a:lstStyle>
            <a:p>
              <a:pPr latinLnBrk="0">
                <a:defRPr/>
              </a:pPr>
              <a:r>
                <a:rPr lang="en-US" altLang="ko-KR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SW </a:t>
              </a:r>
              <a:r>
                <a:rPr lang="ko-KR" altLang="en-US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자원</a:t>
              </a:r>
              <a:endParaRPr lang="en-US" altLang="ko-KR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/>
              </a:endParaRPr>
            </a:p>
          </p:txBody>
        </p:sp>
        <p:cxnSp>
          <p:nvCxnSpPr>
            <p:cNvPr id="75" name="직선 연결선 74"/>
            <p:cNvCxnSpPr/>
            <p:nvPr/>
          </p:nvCxnSpPr>
          <p:spPr>
            <a:xfrm flipV="1">
              <a:off x="6353908" y="2314701"/>
              <a:ext cx="6716" cy="1682868"/>
            </a:xfrm>
            <a:prstGeom prst="line">
              <a:avLst/>
            </a:prstGeom>
            <a:noFill/>
            <a:ln w="19050" cap="flat" cmpd="sng" algn="ctr">
              <a:solidFill>
                <a:sysClr val="window" lastClr="FFFFFF">
                  <a:lumMod val="50000"/>
                </a:sysClr>
              </a:solidFill>
              <a:prstDash val="dash"/>
            </a:ln>
            <a:effectLst/>
          </p:spPr>
        </p:cxnSp>
        <p:grpSp>
          <p:nvGrpSpPr>
            <p:cNvPr id="76" name="그룹 75"/>
            <p:cNvGrpSpPr/>
            <p:nvPr/>
          </p:nvGrpSpPr>
          <p:grpSpPr>
            <a:xfrm>
              <a:off x="6402959" y="3147860"/>
              <a:ext cx="714426" cy="676784"/>
              <a:chOff x="7176009" y="3753852"/>
              <a:chExt cx="714426" cy="676784"/>
            </a:xfrm>
          </p:grpSpPr>
          <p:sp>
            <p:nvSpPr>
              <p:cNvPr id="78" name="Text Box 69"/>
              <p:cNvSpPr txBox="1">
                <a:spLocks noChangeArrowheads="1"/>
              </p:cNvSpPr>
              <p:nvPr/>
            </p:nvSpPr>
            <p:spPr bwMode="auto">
              <a:xfrm>
                <a:off x="7176009" y="3946201"/>
                <a:ext cx="321141" cy="484435"/>
              </a:xfrm>
              <a:prstGeom prst="rect">
                <a:avLst/>
              </a:prstGeom>
              <a:solidFill>
                <a:srgbClr val="F79646">
                  <a:lumMod val="60000"/>
                  <a:lumOff val="40000"/>
                </a:srgbClr>
              </a:solidFill>
              <a:ln w="9525" algn="ctr">
                <a:solidFill>
                  <a:sysClr val="window" lastClr="FFFFFF">
                    <a:lumMod val="75000"/>
                  </a:sysClr>
                </a:solidFill>
                <a:round/>
                <a:headEnd/>
                <a:tailEnd/>
              </a:ln>
              <a:effectLst/>
            </p:spPr>
            <p:txBody>
              <a:bodyPr vert="horz" wrap="none" lIns="72000" tIns="72000" rIns="72000" bIns="7200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algn="ctr" defTabSz="801688" eaLnBrk="0" hangingPunct="0">
                  <a:lnSpc>
                    <a:spcPct val="100000"/>
                  </a:lnSpc>
                  <a:defRPr sz="1100" b="1" spc="-50"/>
                </a:lvl1pPr>
              </a:lstStyle>
              <a:p>
                <a:pPr latinLnBrk="0">
                  <a:defRPr/>
                </a:pPr>
                <a:endParaRPr lang="en-US" altLang="ko-KR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endParaRPr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7466024" y="3753852"/>
                <a:ext cx="424411" cy="568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atinLnBrk="0">
                  <a:lnSpc>
                    <a:spcPct val="160000"/>
                  </a:lnSpc>
                  <a:defRPr/>
                </a:pPr>
                <a:r>
                  <a:rPr lang="en-US" altLang="ko-KR" sz="2400" b="1" kern="0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  <a:endParaRPr lang="ko-KR" altLang="en-US" sz="10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77" name="Text Box 69"/>
            <p:cNvSpPr txBox="1">
              <a:spLocks noChangeArrowheads="1"/>
            </p:cNvSpPr>
            <p:nvPr/>
          </p:nvSpPr>
          <p:spPr bwMode="auto">
            <a:xfrm>
              <a:off x="5458222" y="3946201"/>
              <a:ext cx="1601577" cy="484435"/>
            </a:xfrm>
            <a:prstGeom prst="rect">
              <a:avLst/>
            </a:prstGeom>
            <a:solidFill>
              <a:srgbClr val="F79646">
                <a:lumMod val="60000"/>
                <a:lumOff val="40000"/>
              </a:srgbClr>
            </a:solidFill>
            <a:ln w="9525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 defTabSz="801688" eaLnBrk="0" hangingPunct="0">
                <a:lnSpc>
                  <a:spcPct val="100000"/>
                </a:lnSpc>
                <a:defRPr sz="1100" b="1" spc="-50"/>
              </a:lvl1pPr>
            </a:lstStyle>
            <a:p>
              <a:pPr latinLnBrk="0">
                <a:defRPr/>
              </a:pPr>
              <a:r>
                <a:rPr lang="en-US" altLang="ko-KR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VM </a:t>
              </a:r>
              <a:br>
                <a:rPr lang="en-US" altLang="ko-KR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</a:br>
              <a:r>
                <a:rPr lang="en-US" altLang="ko-KR" b="0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(</a:t>
              </a:r>
              <a:r>
                <a:rPr lang="ko-KR" altLang="en-US" b="0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가상머신</a:t>
              </a:r>
              <a:r>
                <a:rPr lang="en-US" altLang="ko-KR" b="0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/>
                </a:rPr>
                <a:t>)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9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0" name="제목 1"/>
          <p:cNvSpPr txBox="1">
            <a:spLocks/>
          </p:cNvSpPr>
          <p:nvPr/>
        </p:nvSpPr>
        <p:spPr>
          <a:xfrm>
            <a:off x="1418853" y="116632"/>
            <a:ext cx="7185961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74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oShape 2"/>
          <p:cNvSpPr>
            <a:spLocks noChangeArrowheads="1"/>
          </p:cNvSpPr>
          <p:nvPr/>
        </p:nvSpPr>
        <p:spPr bwMode="gray">
          <a:xfrm>
            <a:off x="6406171" y="4752406"/>
            <a:ext cx="4321730" cy="1736935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algn="ctr">
            <a:solidFill>
              <a:srgbClr val="B2B2B2"/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sz="1600" kern="0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18" name="AutoShape 2"/>
          <p:cNvSpPr>
            <a:spLocks noChangeArrowheads="1"/>
          </p:cNvSpPr>
          <p:nvPr/>
        </p:nvSpPr>
        <p:spPr bwMode="gray">
          <a:xfrm>
            <a:off x="1450975" y="1636152"/>
            <a:ext cx="4321730" cy="1826886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algn="ctr">
            <a:solidFill>
              <a:srgbClr val="B2B2B2"/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sz="1600" kern="0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19" name="AutoShape 2"/>
          <p:cNvSpPr>
            <a:spLocks noChangeArrowheads="1"/>
          </p:cNvSpPr>
          <p:nvPr/>
        </p:nvSpPr>
        <p:spPr bwMode="gray">
          <a:xfrm>
            <a:off x="6406171" y="1636155"/>
            <a:ext cx="4321730" cy="1826887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algn="ctr">
            <a:solidFill>
              <a:srgbClr val="B2B2B2"/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sz="1600" kern="0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20" name="AutoShape 2"/>
          <p:cNvSpPr>
            <a:spLocks noChangeArrowheads="1"/>
          </p:cNvSpPr>
          <p:nvPr/>
        </p:nvSpPr>
        <p:spPr bwMode="gray">
          <a:xfrm>
            <a:off x="1450975" y="4752406"/>
            <a:ext cx="4321730" cy="1736935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12700" algn="ctr">
            <a:solidFill>
              <a:srgbClr val="B2B2B2"/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sz="1600" kern="0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4" name="모서리가 둥근 직사각형 83"/>
          <p:cNvSpPr/>
          <p:nvPr/>
        </p:nvSpPr>
        <p:spPr bwMode="gray">
          <a:xfrm>
            <a:off x="1452656" y="1044715"/>
            <a:ext cx="4327453" cy="4539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defTabSz="801688"/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    국내 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PaaS 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표준 선도</a:t>
            </a:r>
          </a:p>
        </p:txBody>
      </p:sp>
      <p:sp>
        <p:nvSpPr>
          <p:cNvPr id="85" name="모서리가 둥근 직사각형 84"/>
          <p:cNvSpPr/>
          <p:nvPr/>
        </p:nvSpPr>
        <p:spPr bwMode="gray">
          <a:xfrm>
            <a:off x="6413573" y="1044715"/>
            <a:ext cx="4327453" cy="4539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defTabSz="801688"/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오픈소스기반 자체적 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PaaS 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생태계 발전</a:t>
            </a:r>
          </a:p>
        </p:txBody>
      </p:sp>
      <p:sp>
        <p:nvSpPr>
          <p:cNvPr id="86" name="모서리가 둥근 직사각형 85"/>
          <p:cNvSpPr/>
          <p:nvPr/>
        </p:nvSpPr>
        <p:spPr bwMode="gray">
          <a:xfrm>
            <a:off x="1452656" y="4107480"/>
            <a:ext cx="4327453" cy="4539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defTabSz="801688"/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    국산 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 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산업 발전</a:t>
            </a:r>
          </a:p>
        </p:txBody>
      </p:sp>
      <p:sp>
        <p:nvSpPr>
          <p:cNvPr id="87" name="모서리가 둥근 직사각형 86"/>
          <p:cNvSpPr/>
          <p:nvPr/>
        </p:nvSpPr>
        <p:spPr bwMode="gray">
          <a:xfrm>
            <a:off x="6413573" y="4107480"/>
            <a:ext cx="4327453" cy="4539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r" defTabSz="801688"/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공공클라우드 환경의 발전 </a:t>
            </a:r>
          </a:p>
        </p:txBody>
      </p:sp>
      <p:grpSp>
        <p:nvGrpSpPr>
          <p:cNvPr id="89" name="그룹 88"/>
          <p:cNvGrpSpPr/>
          <p:nvPr/>
        </p:nvGrpSpPr>
        <p:grpSpPr>
          <a:xfrm>
            <a:off x="1598234" y="1726523"/>
            <a:ext cx="8981627" cy="393231"/>
            <a:chOff x="461489" y="1459835"/>
            <a:chExt cx="9014863" cy="383975"/>
          </a:xfrm>
        </p:grpSpPr>
        <p:sp>
          <p:nvSpPr>
            <p:cNvPr id="93" name="TextBox 92"/>
            <p:cNvSpPr txBox="1"/>
            <p:nvPr/>
          </p:nvSpPr>
          <p:spPr>
            <a:xfrm>
              <a:off x="461489" y="1459835"/>
              <a:ext cx="4033383" cy="383975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spAutoFit/>
            </a:bodyPr>
            <a:lstStyle/>
            <a:p>
              <a:pPr latinLnBrk="0">
                <a:lnSpc>
                  <a:spcPct val="110000"/>
                </a:lnSpc>
                <a:buClr>
                  <a:prstClr val="black"/>
                </a:buClr>
                <a:defRPr/>
              </a:pPr>
              <a:r>
                <a:rPr lang="ko-KR" altLang="en-US" sz="1600" b="1" kern="0" spc="-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국내 </a:t>
              </a:r>
              <a:r>
                <a:rPr lang="en-US" altLang="ko-KR" sz="1600" b="1" kern="0" spc="-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PaaS </a:t>
              </a:r>
              <a:r>
                <a:rPr lang="ko-KR" altLang="en-US" sz="1600" b="1" kern="0" spc="-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표준 선도 및 시장 보호</a:t>
              </a:r>
              <a:endParaRPr lang="en-US" altLang="ko-KR" sz="1600" b="1" kern="0" spc="-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442969" y="1459835"/>
              <a:ext cx="4033383" cy="383975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spAutoFit/>
            </a:bodyPr>
            <a:lstStyle/>
            <a:p>
              <a:pPr algn="r" latinLnBrk="0">
                <a:lnSpc>
                  <a:spcPct val="110000"/>
                </a:lnSpc>
                <a:buClr>
                  <a:prstClr val="black"/>
                </a:buClr>
                <a:defRPr/>
              </a:pPr>
              <a:r>
                <a:rPr lang="ko-KR" altLang="en-US" sz="1600" b="1" kern="0" spc="-5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플랫폼 중심적인 생태계의 육성과 발전</a:t>
              </a:r>
              <a:endParaRPr lang="en-US" altLang="ko-KR" sz="1600" b="1" kern="0" spc="-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7" name="타원 106"/>
          <p:cNvSpPr/>
          <p:nvPr/>
        </p:nvSpPr>
        <p:spPr>
          <a:xfrm>
            <a:off x="4464911" y="2108479"/>
            <a:ext cx="3188085" cy="3304232"/>
          </a:xfrm>
          <a:prstGeom prst="ellipse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</a:ln>
          <a:effectLst/>
        </p:spPr>
        <p:txBody>
          <a:bodyPr rtlCol="0" anchor="t"/>
          <a:lstStyle/>
          <a:p>
            <a:pPr algn="ctr" latinLnBrk="0">
              <a:defRPr/>
            </a:pPr>
            <a:endParaRPr lang="ko-KR" altLang="en-US" sz="100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갈매기형 수장 108"/>
          <p:cNvSpPr/>
          <p:nvPr/>
        </p:nvSpPr>
        <p:spPr>
          <a:xfrm rot="18833699" flipV="1">
            <a:off x="4934825" y="4447776"/>
            <a:ext cx="485932" cy="494535"/>
          </a:xfrm>
          <a:prstGeom prst="chevron">
            <a:avLst>
              <a:gd name="adj" fmla="val 52360"/>
            </a:avLst>
          </a:prstGeom>
          <a:solidFill>
            <a:schemeClr val="accent5">
              <a:lumMod val="50000"/>
            </a:schemeClr>
          </a:soli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latinLnBrk="0">
              <a:defRPr/>
            </a:pPr>
            <a:endParaRPr lang="ko-KR" altLang="en-US" sz="2400" b="1" kern="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10" name="갈매기형 수장 109"/>
          <p:cNvSpPr/>
          <p:nvPr/>
        </p:nvSpPr>
        <p:spPr>
          <a:xfrm rot="8033699" flipV="1">
            <a:off x="6736912" y="2590089"/>
            <a:ext cx="485932" cy="494535"/>
          </a:xfrm>
          <a:prstGeom prst="chevron">
            <a:avLst>
              <a:gd name="adj" fmla="val 52360"/>
            </a:avLst>
          </a:prstGeom>
          <a:solidFill>
            <a:schemeClr val="accent5">
              <a:lumMod val="50000"/>
            </a:schemeClr>
          </a:soli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latinLnBrk="0">
              <a:defRPr/>
            </a:pPr>
            <a:endParaRPr lang="ko-KR" altLang="en-US" sz="2400" b="1" kern="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11" name="갈매기형 수장 110"/>
          <p:cNvSpPr/>
          <p:nvPr/>
        </p:nvSpPr>
        <p:spPr>
          <a:xfrm rot="13566301" flipH="1" flipV="1">
            <a:off x="4934825" y="2590089"/>
            <a:ext cx="485932" cy="494535"/>
          </a:xfrm>
          <a:prstGeom prst="chevron">
            <a:avLst>
              <a:gd name="adj" fmla="val 52360"/>
            </a:avLst>
          </a:prstGeom>
          <a:solidFill>
            <a:schemeClr val="accent5">
              <a:lumMod val="50000"/>
            </a:schemeClr>
          </a:soli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latinLnBrk="0">
              <a:defRPr/>
            </a:pPr>
            <a:endParaRPr lang="ko-KR" altLang="en-US" sz="2400" b="1" kern="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12" name="갈매기형 수장 111"/>
          <p:cNvSpPr/>
          <p:nvPr/>
        </p:nvSpPr>
        <p:spPr>
          <a:xfrm rot="2766301" flipH="1" flipV="1">
            <a:off x="6736912" y="4447776"/>
            <a:ext cx="485932" cy="494535"/>
          </a:xfrm>
          <a:prstGeom prst="chevron">
            <a:avLst>
              <a:gd name="adj" fmla="val 52360"/>
            </a:avLst>
          </a:prstGeom>
          <a:solidFill>
            <a:schemeClr val="accent5">
              <a:lumMod val="50000"/>
            </a:schemeClr>
          </a:soli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latinLnBrk="0">
              <a:defRPr/>
            </a:pPr>
            <a:endParaRPr lang="ko-KR" altLang="en-US" sz="2400" b="1" kern="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1598234" y="4785425"/>
            <a:ext cx="8981627" cy="424265"/>
            <a:chOff x="461489" y="1459835"/>
            <a:chExt cx="9014863" cy="414279"/>
          </a:xfrm>
        </p:grpSpPr>
        <p:sp>
          <p:nvSpPr>
            <p:cNvPr id="91" name="TextBox 90"/>
            <p:cNvSpPr txBox="1"/>
            <p:nvPr/>
          </p:nvSpPr>
          <p:spPr>
            <a:xfrm>
              <a:off x="461489" y="1459835"/>
              <a:ext cx="4033383" cy="414279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spAutoFit/>
            </a:bodyPr>
            <a:lstStyle/>
            <a:p>
              <a:pPr latinLnBrk="0">
                <a:lnSpc>
                  <a:spcPct val="110000"/>
                </a:lnSpc>
                <a:buClr>
                  <a:prstClr val="black"/>
                </a:buClr>
                <a:defRPr/>
              </a:pPr>
              <a:r>
                <a:rPr lang="ko-KR" altLang="en-US" b="1" kern="0" spc="-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국산 </a:t>
              </a:r>
              <a:r>
                <a:rPr lang="en-US" altLang="ko-KR" b="1" kern="0" spc="-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SW </a:t>
              </a:r>
              <a:r>
                <a:rPr lang="ko-KR" altLang="en-US" b="1" kern="0" spc="-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산업의 동반 성장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442969" y="1459835"/>
              <a:ext cx="4033383" cy="383975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spAutoFit/>
            </a:bodyPr>
            <a:lstStyle/>
            <a:p>
              <a:pPr algn="r" latinLnBrk="0">
                <a:lnSpc>
                  <a:spcPct val="110000"/>
                </a:lnSpc>
                <a:buClr>
                  <a:prstClr val="black"/>
                </a:buClr>
                <a:defRPr/>
              </a:pPr>
              <a:r>
                <a:rPr lang="ko-KR" altLang="en-US" sz="1600" b="1" kern="0" spc="-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인프라 위주에서 플랫폼 위주로</a:t>
              </a:r>
              <a:endParaRPr lang="en-US" altLang="ko-KR" sz="1600" b="1" kern="0" spc="-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26" name="Picture 2" descr="http://files.softicons.com/download/web-icons/vector-stylish-weather-icons-by-bartosz-kaszubowski/png/256x256/clou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996" y="2526345"/>
            <a:ext cx="2691198" cy="242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직사각형 127"/>
          <p:cNvSpPr/>
          <p:nvPr/>
        </p:nvSpPr>
        <p:spPr>
          <a:xfrm>
            <a:off x="5038253" y="3160640"/>
            <a:ext cx="2061469" cy="1275014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 defTabSz="801688" eaLnBrk="0" latinLnBrk="0" hangingPunct="0">
              <a:defRPr/>
            </a:pPr>
            <a:r>
              <a:rPr lang="en-US" altLang="ko-KR" sz="24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PaaS TA</a:t>
            </a:r>
          </a:p>
          <a:p>
            <a:pPr algn="ctr" defTabSz="801688" eaLnBrk="0" latinLnBrk="0" hangingPunct="0">
              <a:defRPr/>
            </a:pPr>
            <a:r>
              <a:rPr lang="ko-KR" altLang="en-US" sz="24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en-US" altLang="ko-KR" sz="24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endParaRPr lang="en-US" altLang="ko-KR" sz="2400" b="1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제목 1"/>
          <p:cNvSpPr txBox="1">
            <a:spLocks/>
          </p:cNvSpPr>
          <p:nvPr/>
        </p:nvSpPr>
        <p:spPr>
          <a:xfrm>
            <a:off x="1418853" y="116632"/>
            <a:ext cx="7185961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390" y="5464774"/>
            <a:ext cx="942223" cy="657291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75"/>
          <a:stretch/>
        </p:blipFill>
        <p:spPr>
          <a:xfrm>
            <a:off x="2874241" y="5470180"/>
            <a:ext cx="1187913" cy="646476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2" t="16882" r="35785" b="17176"/>
          <a:stretch/>
        </p:blipFill>
        <p:spPr>
          <a:xfrm>
            <a:off x="1746036" y="5216771"/>
            <a:ext cx="1013254" cy="115329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995" y="2108479"/>
            <a:ext cx="951818" cy="95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4" name="그림 1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938" y="2287990"/>
            <a:ext cx="1746922" cy="1098730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852" y="2881089"/>
            <a:ext cx="1502705" cy="460506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233" y="2172200"/>
            <a:ext cx="2866677" cy="1290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3919" y="2604618"/>
            <a:ext cx="925519" cy="426000"/>
          </a:xfrm>
          <a:prstGeom prst="rect">
            <a:avLst/>
          </a:prstGeom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687" y="5308659"/>
            <a:ext cx="39909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10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698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/>
        </p:nvSpPr>
        <p:spPr>
          <a:xfrm>
            <a:off x="1450975" y="1550490"/>
            <a:ext cx="9290050" cy="4830839"/>
          </a:xfrm>
          <a:custGeom>
            <a:avLst/>
            <a:gdLst>
              <a:gd name="connsiteX0" fmla="*/ 0 w 8700247"/>
              <a:gd name="connsiteY0" fmla="*/ 3966883 h 3980330"/>
              <a:gd name="connsiteX1" fmla="*/ 26894 w 8700247"/>
              <a:gd name="connsiteY1" fmla="*/ 0 h 3980330"/>
              <a:gd name="connsiteX2" fmla="*/ 8700247 w 8700247"/>
              <a:gd name="connsiteY2" fmla="*/ 0 h 3980330"/>
              <a:gd name="connsiteX3" fmla="*/ 8686800 w 8700247"/>
              <a:gd name="connsiteY3" fmla="*/ 3966883 h 3980330"/>
              <a:gd name="connsiteX4" fmla="*/ 6992471 w 8700247"/>
              <a:gd name="connsiteY4" fmla="*/ 3980330 h 3980330"/>
              <a:gd name="connsiteX5" fmla="*/ 6979024 w 8700247"/>
              <a:gd name="connsiteY5" fmla="*/ 806824 h 3980330"/>
              <a:gd name="connsiteX6" fmla="*/ 1694329 w 8700247"/>
              <a:gd name="connsiteY6" fmla="*/ 806824 h 3980330"/>
              <a:gd name="connsiteX7" fmla="*/ 1721224 w 8700247"/>
              <a:gd name="connsiteY7" fmla="*/ 3966883 h 3980330"/>
              <a:gd name="connsiteX8" fmla="*/ 0 w 8700247"/>
              <a:gd name="connsiteY8" fmla="*/ 3966883 h 3980330"/>
              <a:gd name="connsiteX0" fmla="*/ 0 w 8700247"/>
              <a:gd name="connsiteY0" fmla="*/ 3966883 h 3980330"/>
              <a:gd name="connsiteX1" fmla="*/ 26894 w 8700247"/>
              <a:gd name="connsiteY1" fmla="*/ 0 h 3980330"/>
              <a:gd name="connsiteX2" fmla="*/ 8700247 w 8700247"/>
              <a:gd name="connsiteY2" fmla="*/ 0 h 3980330"/>
              <a:gd name="connsiteX3" fmla="*/ 8686800 w 8700247"/>
              <a:gd name="connsiteY3" fmla="*/ 3966883 h 3980330"/>
              <a:gd name="connsiteX4" fmla="*/ 6992471 w 8700247"/>
              <a:gd name="connsiteY4" fmla="*/ 3980330 h 3980330"/>
              <a:gd name="connsiteX5" fmla="*/ 6979024 w 8700247"/>
              <a:gd name="connsiteY5" fmla="*/ 1180513 h 3980330"/>
              <a:gd name="connsiteX6" fmla="*/ 1694329 w 8700247"/>
              <a:gd name="connsiteY6" fmla="*/ 806824 h 3980330"/>
              <a:gd name="connsiteX7" fmla="*/ 1721224 w 8700247"/>
              <a:gd name="connsiteY7" fmla="*/ 3966883 h 3980330"/>
              <a:gd name="connsiteX8" fmla="*/ 0 w 8700247"/>
              <a:gd name="connsiteY8" fmla="*/ 3966883 h 3980330"/>
              <a:gd name="connsiteX0" fmla="*/ 0 w 8700247"/>
              <a:gd name="connsiteY0" fmla="*/ 3966883 h 3980330"/>
              <a:gd name="connsiteX1" fmla="*/ 26894 w 8700247"/>
              <a:gd name="connsiteY1" fmla="*/ 0 h 3980330"/>
              <a:gd name="connsiteX2" fmla="*/ 8700247 w 8700247"/>
              <a:gd name="connsiteY2" fmla="*/ 0 h 3980330"/>
              <a:gd name="connsiteX3" fmla="*/ 8686800 w 8700247"/>
              <a:gd name="connsiteY3" fmla="*/ 3966883 h 3980330"/>
              <a:gd name="connsiteX4" fmla="*/ 6992471 w 8700247"/>
              <a:gd name="connsiteY4" fmla="*/ 3980330 h 3980330"/>
              <a:gd name="connsiteX5" fmla="*/ 6979024 w 8700247"/>
              <a:gd name="connsiteY5" fmla="*/ 1180513 h 3980330"/>
              <a:gd name="connsiteX6" fmla="*/ 1707776 w 8700247"/>
              <a:gd name="connsiteY6" fmla="*/ 1157156 h 3980330"/>
              <a:gd name="connsiteX7" fmla="*/ 1721224 w 8700247"/>
              <a:gd name="connsiteY7" fmla="*/ 3966883 h 3980330"/>
              <a:gd name="connsiteX8" fmla="*/ 0 w 8700247"/>
              <a:gd name="connsiteY8" fmla="*/ 3966883 h 3980330"/>
              <a:gd name="connsiteX0" fmla="*/ 0 w 8700247"/>
              <a:gd name="connsiteY0" fmla="*/ 3966883 h 3980330"/>
              <a:gd name="connsiteX1" fmla="*/ 26894 w 8700247"/>
              <a:gd name="connsiteY1" fmla="*/ 0 h 3980330"/>
              <a:gd name="connsiteX2" fmla="*/ 8700247 w 8700247"/>
              <a:gd name="connsiteY2" fmla="*/ 0 h 3980330"/>
              <a:gd name="connsiteX3" fmla="*/ 8686800 w 8700247"/>
              <a:gd name="connsiteY3" fmla="*/ 3966883 h 3980330"/>
              <a:gd name="connsiteX4" fmla="*/ 6992471 w 8700247"/>
              <a:gd name="connsiteY4" fmla="*/ 3980330 h 3980330"/>
              <a:gd name="connsiteX5" fmla="*/ 6979024 w 8700247"/>
              <a:gd name="connsiteY5" fmla="*/ 1180513 h 3980330"/>
              <a:gd name="connsiteX6" fmla="*/ 1707776 w 8700247"/>
              <a:gd name="connsiteY6" fmla="*/ 1192190 h 3980330"/>
              <a:gd name="connsiteX7" fmla="*/ 1721224 w 8700247"/>
              <a:gd name="connsiteY7" fmla="*/ 3966883 h 3980330"/>
              <a:gd name="connsiteX8" fmla="*/ 0 w 8700247"/>
              <a:gd name="connsiteY8" fmla="*/ 3966883 h 3980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00247" h="3980330">
                <a:moveTo>
                  <a:pt x="0" y="3966883"/>
                </a:moveTo>
                <a:lnTo>
                  <a:pt x="26894" y="0"/>
                </a:lnTo>
                <a:lnTo>
                  <a:pt x="8700247" y="0"/>
                </a:lnTo>
                <a:cubicBezTo>
                  <a:pt x="8695765" y="1322294"/>
                  <a:pt x="8691282" y="2644589"/>
                  <a:pt x="8686800" y="3966883"/>
                </a:cubicBezTo>
                <a:lnTo>
                  <a:pt x="6992471" y="3980330"/>
                </a:lnTo>
                <a:cubicBezTo>
                  <a:pt x="6987989" y="2922495"/>
                  <a:pt x="6983506" y="2238348"/>
                  <a:pt x="6979024" y="1180513"/>
                </a:cubicBezTo>
                <a:lnTo>
                  <a:pt x="1707776" y="1192190"/>
                </a:lnTo>
                <a:cubicBezTo>
                  <a:pt x="1712259" y="2128766"/>
                  <a:pt x="1716741" y="3030307"/>
                  <a:pt x="1721224" y="3966883"/>
                </a:cubicBezTo>
                <a:lnTo>
                  <a:pt x="0" y="396688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rgbClr val="0070C0"/>
            </a:solidFill>
            <a:prstDash val="sysDot"/>
          </a:ln>
          <a:effectLst/>
        </p:spPr>
        <p:txBody>
          <a:bodyPr rtlCol="0" anchor="t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lang="ko-KR" altLang="en-US" sz="1000" ker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 bwMode="gray">
          <a:xfrm>
            <a:off x="1479120" y="1053114"/>
            <a:ext cx="9227084" cy="4671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marL="176213" defTabSz="801688">
              <a:defRPr/>
            </a:pP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파스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-</a:t>
            </a:r>
            <a:r>
              <a:rPr lang="ko-KR" altLang="en-US" sz="1600" b="1" spc="-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타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주요 개발 내용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473549" y="2502406"/>
            <a:ext cx="5101564" cy="376568"/>
            <a:chOff x="2136214" y="2747062"/>
            <a:chExt cx="4777678" cy="432702"/>
          </a:xfrm>
        </p:grpSpPr>
        <p:grpSp>
          <p:nvGrpSpPr>
            <p:cNvPr id="187" name="그룹 186"/>
            <p:cNvGrpSpPr/>
            <p:nvPr/>
          </p:nvGrpSpPr>
          <p:grpSpPr>
            <a:xfrm>
              <a:off x="2136214" y="2747062"/>
              <a:ext cx="4777678" cy="388017"/>
              <a:chOff x="2136214" y="2747062"/>
              <a:chExt cx="4970139" cy="388017"/>
            </a:xfrm>
          </p:grpSpPr>
          <p:sp>
            <p:nvSpPr>
              <p:cNvPr id="159" name="Chevron 188"/>
              <p:cNvSpPr/>
              <p:nvPr/>
            </p:nvSpPr>
            <p:spPr>
              <a:xfrm>
                <a:off x="2136214" y="2747062"/>
                <a:ext cx="1722266" cy="388017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57" name="Chevron 186"/>
              <p:cNvSpPr/>
              <p:nvPr/>
            </p:nvSpPr>
            <p:spPr>
              <a:xfrm>
                <a:off x="3760149" y="2747062"/>
                <a:ext cx="1722266" cy="388017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55" name="Chevron 184"/>
              <p:cNvSpPr/>
              <p:nvPr/>
            </p:nvSpPr>
            <p:spPr>
              <a:xfrm>
                <a:off x="5384087" y="2747062"/>
                <a:ext cx="1722266" cy="388017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</p:grpSp>
        <p:sp>
          <p:nvSpPr>
            <p:cNvPr id="160" name="Chevron 4"/>
            <p:cNvSpPr/>
            <p:nvPr/>
          </p:nvSpPr>
          <p:spPr>
            <a:xfrm>
              <a:off x="2399279" y="2753882"/>
              <a:ext cx="1171079" cy="3880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76010" tIns="25337" rIns="25337" bIns="25337" numCol="1" spcCol="1270" anchor="ctr" anchorCtr="0">
              <a:noAutofit/>
            </a:bodyPr>
            <a:lstStyle/>
            <a:p>
              <a:pPr algn="ctr" defTabSz="844550" latinLnBrk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ko-KR" altLang="en-US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어플리케이션 설정 관리</a:t>
              </a:r>
              <a:endParaRPr lang="en-US" sz="1200" kern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8" name="Chevron 6"/>
            <p:cNvSpPr/>
            <p:nvPr/>
          </p:nvSpPr>
          <p:spPr>
            <a:xfrm>
              <a:off x="3872910" y="2763348"/>
              <a:ext cx="1288187" cy="3880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76010" tIns="25337" rIns="25337" bIns="25337" numCol="1" spcCol="1270" anchor="ctr" anchorCtr="0">
              <a:noAutofit/>
            </a:bodyPr>
            <a:lstStyle/>
            <a:p>
              <a:pPr algn="ctr" defTabSz="844550" latinLnBrk="0">
                <a:lnSpc>
                  <a:spcPct val="70000"/>
                </a:lnSpc>
                <a:spcAft>
                  <a:spcPct val="35000"/>
                </a:spcAft>
                <a:defRPr/>
              </a:pPr>
              <a:r>
                <a:rPr lang="ko-KR" altLang="en-US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웹</a:t>
              </a:r>
              <a:r>
                <a:rPr lang="en-US" altLang="ko-KR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ker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기반 개발환경</a:t>
              </a:r>
              <a:endParaRPr lang="en-US" sz="1200" kern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6" name="Chevron 8"/>
            <p:cNvSpPr/>
            <p:nvPr/>
          </p:nvSpPr>
          <p:spPr>
            <a:xfrm>
              <a:off x="5366521" y="2791746"/>
              <a:ext cx="1288187" cy="3880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76010" tIns="25337" rIns="25337" bIns="25337" numCol="1" spcCol="1270" anchor="ctr" anchorCtr="0">
              <a:noAutofit/>
            </a:bodyPr>
            <a:lstStyle/>
            <a:p>
              <a:pPr algn="ctr" defTabSz="844550" latinLnBrk="0">
                <a:lnSpc>
                  <a:spcPct val="50000"/>
                </a:lnSpc>
                <a:spcAft>
                  <a:spcPct val="35000"/>
                </a:spcAft>
                <a:defRPr/>
              </a:pPr>
              <a:r>
                <a:rPr lang="ko-KR" altLang="en-US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어플리케이션</a:t>
              </a:r>
              <a:endParaRPr lang="en-US" altLang="ko-KR" sz="1200" kern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 defTabSz="844550" latinLnBrk="0">
                <a:lnSpc>
                  <a:spcPct val="50000"/>
                </a:lnSpc>
                <a:spcAft>
                  <a:spcPct val="35000"/>
                </a:spcAft>
                <a:defRPr/>
              </a:pPr>
              <a:r>
                <a:rPr lang="ko-KR" altLang="en-US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 관리</a:t>
              </a:r>
              <a:endParaRPr lang="en-US" sz="1200" kern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4" name="Rectangle 23"/>
          <p:cNvSpPr/>
          <p:nvPr/>
        </p:nvSpPr>
        <p:spPr>
          <a:xfrm>
            <a:off x="3473550" y="3242087"/>
            <a:ext cx="5209447" cy="3127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rgbClr val="FF0000"/>
            </a:solidFill>
            <a:prstDash val="sysDot"/>
          </a:ln>
          <a:effectLst/>
        </p:spPr>
        <p:txBody>
          <a:bodyPr rtlCol="0" anchor="t"/>
          <a:lstStyle/>
          <a:p>
            <a:pPr algn="ctr" latinLnBrk="0">
              <a:defRPr/>
            </a:pPr>
            <a:endParaRPr lang="en-US" sz="100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3482674" y="3432605"/>
            <a:ext cx="5197540" cy="40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ko-KR" altLang="en-US" sz="2000" b="1" kern="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        핵심 기능</a:t>
            </a:r>
          </a:p>
        </p:txBody>
      </p:sp>
      <p:sp>
        <p:nvSpPr>
          <p:cNvPr id="116" name="모서리가 둥근 직사각형 115"/>
          <p:cNvSpPr/>
          <p:nvPr/>
        </p:nvSpPr>
        <p:spPr bwMode="auto">
          <a:xfrm>
            <a:off x="3736463" y="4971440"/>
            <a:ext cx="4723787" cy="38762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2150C"/>
              </a:gs>
              <a:gs pos="47000">
                <a:srgbClr val="CB120D"/>
              </a:gs>
              <a:gs pos="100000">
                <a:srgbClr val="A11201"/>
              </a:gs>
            </a:gsLst>
            <a:lin ang="2700000" scaled="1"/>
          </a:gradFill>
          <a:ln w="6350" algn="ctr">
            <a:solidFill>
              <a:srgbClr val="CB120D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marL="0" lvl="1" algn="ctr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오픈소스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PaaS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검증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안정화</a:t>
            </a:r>
          </a:p>
        </p:txBody>
      </p:sp>
      <p:sp>
        <p:nvSpPr>
          <p:cNvPr id="118" name="모서리가 둥근 직사각형 117"/>
          <p:cNvSpPr/>
          <p:nvPr/>
        </p:nvSpPr>
        <p:spPr bwMode="auto">
          <a:xfrm>
            <a:off x="3736462" y="4475653"/>
            <a:ext cx="2295404" cy="38762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2150C"/>
              </a:gs>
              <a:gs pos="47000">
                <a:srgbClr val="CB120D"/>
              </a:gs>
              <a:gs pos="100000">
                <a:srgbClr val="A11201"/>
              </a:gs>
            </a:gsLst>
            <a:lin ang="2700000" scaled="1"/>
          </a:gradFill>
          <a:ln w="6350" algn="ctr">
            <a:solidFill>
              <a:srgbClr val="CB120D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marL="0" lvl="1" algn="ctr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다양한 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IaaS 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</a:p>
        </p:txBody>
      </p:sp>
      <p:sp>
        <p:nvSpPr>
          <p:cNvPr id="119" name="모서리가 둥근 직사각형 118"/>
          <p:cNvSpPr/>
          <p:nvPr/>
        </p:nvSpPr>
        <p:spPr bwMode="auto">
          <a:xfrm>
            <a:off x="6164845" y="4475654"/>
            <a:ext cx="2295404" cy="38762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2150C"/>
              </a:gs>
              <a:gs pos="47000">
                <a:srgbClr val="CB120D"/>
              </a:gs>
              <a:gs pos="100000">
                <a:srgbClr val="A11201"/>
              </a:gs>
            </a:gsLst>
            <a:lin ang="2700000" scaled="1"/>
          </a:gradFill>
          <a:ln w="6350" algn="ctr">
            <a:solidFill>
              <a:srgbClr val="CB120D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marL="0" lvl="1" algn="ctr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설치 자동화</a:t>
            </a:r>
          </a:p>
        </p:txBody>
      </p:sp>
      <p:sp>
        <p:nvSpPr>
          <p:cNvPr id="175" name="모서리가 둥근 직사각형 174"/>
          <p:cNvSpPr/>
          <p:nvPr/>
        </p:nvSpPr>
        <p:spPr bwMode="auto">
          <a:xfrm>
            <a:off x="3736462" y="3988114"/>
            <a:ext cx="4723787" cy="38762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2150C"/>
              </a:gs>
              <a:gs pos="47000">
                <a:srgbClr val="CB120D"/>
              </a:gs>
              <a:gs pos="100000">
                <a:srgbClr val="A11201"/>
              </a:gs>
            </a:gsLst>
            <a:lin ang="2700000" scaled="1"/>
          </a:gradFill>
          <a:ln w="6350" algn="ctr">
            <a:solidFill>
              <a:srgbClr val="CB120D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marL="0" lvl="1" algn="ctr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표준프레임워크 및 국산 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탑재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584929" y="3017129"/>
            <a:ext cx="1560967" cy="2718691"/>
            <a:chOff x="488519" y="3128240"/>
            <a:chExt cx="1461865" cy="2579434"/>
          </a:xfrm>
        </p:grpSpPr>
        <p:grpSp>
          <p:nvGrpSpPr>
            <p:cNvPr id="183" name="그룹 182"/>
            <p:cNvGrpSpPr/>
            <p:nvPr/>
          </p:nvGrpSpPr>
          <p:grpSpPr>
            <a:xfrm>
              <a:off x="488519" y="3569851"/>
              <a:ext cx="1456233" cy="2137823"/>
              <a:chOff x="528860" y="3502616"/>
              <a:chExt cx="1456233" cy="2137823"/>
            </a:xfrm>
          </p:grpSpPr>
          <p:sp>
            <p:nvSpPr>
              <p:cNvPr id="150" name="Chevron 191"/>
              <p:cNvSpPr/>
              <p:nvPr/>
            </p:nvSpPr>
            <p:spPr>
              <a:xfrm rot="16200000" flipV="1">
                <a:off x="1303754" y="4830592"/>
                <a:ext cx="801160" cy="561505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51" name="Chevron 4"/>
              <p:cNvSpPr/>
              <p:nvPr/>
            </p:nvSpPr>
            <p:spPr>
              <a:xfrm>
                <a:off x="1423583" y="4951113"/>
                <a:ext cx="561504" cy="3204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76010" tIns="25337" rIns="25337" bIns="25337" numCol="1" spcCol="1270" anchor="ctr" anchorCtr="0">
                <a:noAutofit/>
              </a:bodyPr>
              <a:lstStyle/>
              <a:p>
                <a:pPr algn="ctr" defTabSz="844550" latinLnBrk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ko-KR" altLang="en-US" sz="12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개발</a:t>
                </a:r>
                <a:endParaRPr lang="en-US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8" name="Chevron 200"/>
              <p:cNvSpPr/>
              <p:nvPr/>
            </p:nvSpPr>
            <p:spPr>
              <a:xfrm rot="16200000" flipV="1">
                <a:off x="1303757" y="4230949"/>
                <a:ext cx="801160" cy="561505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49" name="Chevron 4"/>
              <p:cNvSpPr/>
              <p:nvPr/>
            </p:nvSpPr>
            <p:spPr>
              <a:xfrm>
                <a:off x="1423586" y="4351470"/>
                <a:ext cx="561504" cy="3204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76010" tIns="25337" rIns="25337" bIns="25337" numCol="1" spcCol="1270" anchor="ctr" anchorCtr="0">
                <a:noAutofit/>
              </a:bodyPr>
              <a:lstStyle/>
              <a:p>
                <a:pPr algn="ctr" defTabSz="844550" latinLnBrk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ko-KR" altLang="en-US" sz="12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테스트</a:t>
                </a:r>
                <a:endParaRPr lang="en-US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6" name="Chevron 203"/>
              <p:cNvSpPr/>
              <p:nvPr/>
            </p:nvSpPr>
            <p:spPr>
              <a:xfrm rot="16200000" flipV="1">
                <a:off x="1303760" y="3622443"/>
                <a:ext cx="801160" cy="561505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47" name="Chevron 4"/>
              <p:cNvSpPr/>
              <p:nvPr/>
            </p:nvSpPr>
            <p:spPr>
              <a:xfrm>
                <a:off x="1423589" y="3742964"/>
                <a:ext cx="561504" cy="3204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76010" tIns="25337" rIns="25337" bIns="25337" numCol="1" spcCol="1270" anchor="ctr" anchorCtr="0">
                <a:noAutofit/>
              </a:bodyPr>
              <a:lstStyle/>
              <a:p>
                <a:pPr algn="ctr" defTabSz="844550" latinLnBrk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ko-KR" altLang="en-US" sz="12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등록</a:t>
                </a:r>
                <a:endParaRPr lang="en-US" sz="12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103" name="Group 19"/>
              <p:cNvGrpSpPr/>
              <p:nvPr/>
            </p:nvGrpSpPr>
            <p:grpSpPr>
              <a:xfrm>
                <a:off x="528860" y="3502617"/>
                <a:ext cx="813696" cy="2137822"/>
                <a:chOff x="467998" y="3890898"/>
                <a:chExt cx="865205" cy="2294303"/>
              </a:xfrm>
            </p:grpSpPr>
            <p:pic>
              <p:nvPicPr>
                <p:cNvPr id="128" name="Picture 4" descr="http://2.s3.envato.com/files/69318836/preview.jpg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clrChange>
                    <a:clrFrom>
                      <a:srgbClr val="FCFCFC"/>
                    </a:clrFrom>
                    <a:clrTo>
                      <a:srgbClr val="FCFCFC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711" t="5411" r="54327" b="50222"/>
                <a:stretch/>
              </p:blipFill>
              <p:spPr bwMode="auto">
                <a:xfrm>
                  <a:off x="615788" y="3890898"/>
                  <a:ext cx="513765" cy="5125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9" name="Picture 8" descr="Business people, human resources and management icon set - stock vector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5531" t="9454" r="10160" b="76735"/>
                <a:stretch/>
              </p:blipFill>
              <p:spPr bwMode="auto">
                <a:xfrm>
                  <a:off x="615788" y="4684293"/>
                  <a:ext cx="477121" cy="450836"/>
                </a:xfrm>
                <a:prstGeom prst="rect">
                  <a:avLst/>
                </a:prstGeom>
                <a:noFill/>
              </p:spPr>
            </p:pic>
            <p:pic>
              <p:nvPicPr>
                <p:cNvPr id="130" name="Picture 8" descr="Business people, human resources and management icon set - stock vector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708" t="72758" r="55006" b="13858"/>
                <a:stretch/>
              </p:blipFill>
              <p:spPr bwMode="auto">
                <a:xfrm>
                  <a:off x="616304" y="5385320"/>
                  <a:ext cx="513249" cy="524800"/>
                </a:xfrm>
                <a:prstGeom prst="rect">
                  <a:avLst/>
                </a:prstGeom>
                <a:noFill/>
              </p:spPr>
            </p:pic>
            <p:sp>
              <p:nvSpPr>
                <p:cNvPr id="131" name="직사각형 130"/>
                <p:cNvSpPr/>
                <p:nvPr/>
              </p:nvSpPr>
              <p:spPr>
                <a:xfrm>
                  <a:off x="574452" y="4405822"/>
                  <a:ext cx="613817" cy="2757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spcFirstLastPara="0" vert="horz" wrap="none" lIns="8890" tIns="8890" rIns="8890" bIns="8890" numCol="1" spcCol="1270" anchor="ctr" anchorCtr="0">
                  <a:noAutofit/>
                </a:bodyPr>
                <a:lstStyle/>
                <a:p>
                  <a:pPr algn="ctr" defTabSz="622300" latinLnBrk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ko-KR" altLang="en-US" sz="1200" b="1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개발자</a:t>
                  </a:r>
                </a:p>
              </p:txBody>
            </p:sp>
            <p:sp>
              <p:nvSpPr>
                <p:cNvPr id="132" name="직사각형 131"/>
                <p:cNvSpPr/>
                <p:nvPr/>
              </p:nvSpPr>
              <p:spPr>
                <a:xfrm>
                  <a:off x="480825" y="5109473"/>
                  <a:ext cx="852378" cy="2757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spcFirstLastPara="0" vert="horz" wrap="none" lIns="8890" tIns="8890" rIns="8890" bIns="8890" numCol="1" spcCol="1270" anchor="ctr" anchorCtr="0">
                  <a:noAutofit/>
                </a:bodyPr>
                <a:lstStyle/>
                <a:p>
                  <a:pPr algn="ctr" defTabSz="622300" latinLnBrk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SW</a:t>
                  </a:r>
                  <a:r>
                    <a:rPr lang="ko-KR" altLang="en-US" sz="1200" b="1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기업</a:t>
                  </a:r>
                </a:p>
              </p:txBody>
            </p:sp>
            <p:sp>
              <p:nvSpPr>
                <p:cNvPr id="133" name="직사각형 132"/>
                <p:cNvSpPr/>
                <p:nvPr/>
              </p:nvSpPr>
              <p:spPr>
                <a:xfrm>
                  <a:off x="467998" y="5909463"/>
                  <a:ext cx="852378" cy="2757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spcFirstLastPara="0" vert="horz" wrap="none" lIns="8890" tIns="8890" rIns="8890" bIns="8890" numCol="1" spcCol="1270" anchor="ctr" anchorCtr="0">
                  <a:noAutofit/>
                </a:bodyPr>
                <a:lstStyle/>
                <a:p>
                  <a:pPr algn="ctr" defTabSz="622300" latinLnBrk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1</a:t>
                  </a:r>
                  <a:r>
                    <a:rPr lang="ko-KR" altLang="en-US" sz="1200" b="1" kern="0" dirty="0" err="1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인창조기업</a:t>
                  </a:r>
                  <a:endParaRPr lang="ko-KR" altLang="en-US" sz="1200" b="1" kern="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182" name="모서리가 둥근 직사각형 181"/>
            <p:cNvSpPr/>
            <p:nvPr/>
          </p:nvSpPr>
          <p:spPr bwMode="auto">
            <a:xfrm>
              <a:off x="588635" y="3128240"/>
              <a:ext cx="1361749" cy="30394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4F81BD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4F81BD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4F81BD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90000" rIns="90000" anchor="ctr"/>
            <a:lstStyle/>
            <a:p>
              <a:pPr marL="0" lvl="1" algn="ctr" eaLnBrk="0" latinLnBrk="0" hangingPunct="0"/>
              <a:r>
                <a:rPr lang="ko-KR" altLang="en-US" sz="1200" b="1" kern="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⑤ 개발도구</a:t>
              </a:r>
            </a:p>
          </p:txBody>
        </p:sp>
      </p:grpSp>
      <p:sp>
        <p:nvSpPr>
          <p:cNvPr id="184" name="모서리가 둥근 직사각형 183"/>
          <p:cNvSpPr/>
          <p:nvPr/>
        </p:nvSpPr>
        <p:spPr bwMode="auto">
          <a:xfrm>
            <a:off x="5143730" y="1981802"/>
            <a:ext cx="1921531" cy="32035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F81B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4F81B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4F81B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90000" rIns="90000" anchor="ctr"/>
          <a:lstStyle/>
          <a:p>
            <a:pPr marL="0" lvl="1" algn="ctr" eaLnBrk="0" latinLnBrk="0" hangingPunct="0"/>
            <a:r>
              <a:rPr lang="ko-KR" altLang="en-US" sz="12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 사용자 포탈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975450" y="3017129"/>
            <a:ext cx="1609588" cy="2583239"/>
            <a:chOff x="7100550" y="3128240"/>
            <a:chExt cx="1507398" cy="2450920"/>
          </a:xfrm>
        </p:grpSpPr>
        <p:grpSp>
          <p:nvGrpSpPr>
            <p:cNvPr id="186" name="그룹 185"/>
            <p:cNvGrpSpPr/>
            <p:nvPr/>
          </p:nvGrpSpPr>
          <p:grpSpPr>
            <a:xfrm>
              <a:off x="7100550" y="3569850"/>
              <a:ext cx="1507398" cy="2009310"/>
              <a:chOff x="7100550" y="3502614"/>
              <a:chExt cx="1507398" cy="2009311"/>
            </a:xfrm>
          </p:grpSpPr>
          <p:sp>
            <p:nvSpPr>
              <p:cNvPr id="141" name="Chevron 213"/>
              <p:cNvSpPr/>
              <p:nvPr/>
            </p:nvSpPr>
            <p:spPr>
              <a:xfrm rot="5400000">
                <a:off x="7054068" y="3622442"/>
                <a:ext cx="801161" cy="561505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42" name="Chevron 4"/>
              <p:cNvSpPr/>
              <p:nvPr/>
            </p:nvSpPr>
            <p:spPr>
              <a:xfrm>
                <a:off x="7173897" y="3853997"/>
                <a:ext cx="561504" cy="320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76010" tIns="25337" rIns="25337" bIns="25337" numCol="1" spcCol="1270" anchor="ctr" anchorCtr="0">
                <a:noAutofit/>
              </a:bodyPr>
              <a:lstStyle/>
              <a:p>
                <a:pPr algn="ctr" defTabSz="844550" latinLnBrk="0">
                  <a:lnSpc>
                    <a:spcPct val="70000"/>
                  </a:lnSpc>
                  <a:spcAft>
                    <a:spcPct val="35000"/>
                  </a:spcAft>
                  <a:defRPr/>
                </a:pPr>
                <a:r>
                  <a:rPr lang="ko-KR" altLang="en-US" sz="11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이용량</a:t>
                </a:r>
                <a:endParaRPr lang="en-US" altLang="ko-KR" sz="11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 defTabSz="844550" latinLnBrk="0">
                  <a:lnSpc>
                    <a:spcPct val="70000"/>
                  </a:lnSpc>
                  <a:spcAft>
                    <a:spcPct val="35000"/>
                  </a:spcAft>
                  <a:defRPr/>
                </a:pPr>
                <a:r>
                  <a:rPr lang="ko-KR" altLang="en-US" sz="11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측정</a:t>
                </a:r>
                <a:endParaRPr lang="en-US" sz="11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9" name="Chevron 211"/>
              <p:cNvSpPr/>
              <p:nvPr/>
            </p:nvSpPr>
            <p:spPr>
              <a:xfrm rot="5400000">
                <a:off x="7054071" y="4222086"/>
                <a:ext cx="801161" cy="561505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40" name="Chevron 4"/>
              <p:cNvSpPr/>
              <p:nvPr/>
            </p:nvSpPr>
            <p:spPr>
              <a:xfrm>
                <a:off x="7100550" y="4434188"/>
                <a:ext cx="679420" cy="198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76010" tIns="25337" rIns="25337" bIns="25337" numCol="1" spcCol="1270" anchor="ctr" anchorCtr="0">
                <a:noAutofit/>
              </a:bodyPr>
              <a:lstStyle/>
              <a:p>
                <a:pPr algn="ctr" defTabSz="844550" latinLnBrk="0">
                  <a:lnSpc>
                    <a:spcPct val="70000"/>
                  </a:lnSpc>
                  <a:spcAft>
                    <a:spcPct val="35000"/>
                  </a:spcAft>
                  <a:defRPr/>
                </a:pPr>
                <a:r>
                  <a:rPr lang="ko-KR" altLang="en-US" sz="11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모니터링</a:t>
                </a:r>
                <a:endParaRPr lang="en-US" sz="11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37" name="Chevron 209"/>
              <p:cNvSpPr/>
              <p:nvPr/>
            </p:nvSpPr>
            <p:spPr>
              <a:xfrm rot="5400000">
                <a:off x="7054073" y="4830592"/>
                <a:ext cx="801161" cy="561505"/>
              </a:xfrm>
              <a:prstGeom prst="chevron">
                <a:avLst/>
              </a:prstGeom>
              <a:solidFill>
                <a:srgbClr val="1F497D">
                  <a:lumMod val="20000"/>
                  <a:lumOff val="80000"/>
                </a:srgbClr>
              </a:solidFill>
              <a:ln w="6350" algn="ctr">
                <a:solidFill>
                  <a:srgbClr val="4BACC6">
                    <a:lumMod val="60000"/>
                    <a:lumOff val="40000"/>
                  </a:srgbClr>
                </a:solidFill>
                <a:round/>
                <a:headEnd/>
                <a:tailEnd/>
              </a:ln>
              <a:effectLst/>
            </p:spPr>
          </p:sp>
          <p:sp>
            <p:nvSpPr>
              <p:cNvPr id="138" name="Chevron 4"/>
              <p:cNvSpPr/>
              <p:nvPr/>
            </p:nvSpPr>
            <p:spPr>
              <a:xfrm>
                <a:off x="7166519" y="5062146"/>
                <a:ext cx="561504" cy="320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76010" tIns="25337" rIns="25337" bIns="25337" numCol="1" spcCol="1270" anchor="ctr" anchorCtr="0">
                <a:noAutofit/>
              </a:bodyPr>
              <a:lstStyle/>
              <a:p>
                <a:pPr algn="ctr" defTabSz="844550" latinLnBrk="0">
                  <a:lnSpc>
                    <a:spcPct val="70000"/>
                  </a:lnSpc>
                  <a:spcAft>
                    <a:spcPct val="35000"/>
                  </a:spcAft>
                  <a:defRPr/>
                </a:pPr>
                <a:r>
                  <a:rPr lang="ko-KR" altLang="en-US" sz="11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운영</a:t>
                </a:r>
                <a:endParaRPr lang="en-US" altLang="ko-KR" sz="11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 defTabSz="844550" latinLnBrk="0">
                  <a:lnSpc>
                    <a:spcPct val="70000"/>
                  </a:lnSpc>
                  <a:spcAft>
                    <a:spcPct val="35000"/>
                  </a:spcAft>
                  <a:defRPr/>
                </a:pPr>
                <a:r>
                  <a:rPr lang="ko-KR" altLang="en-US" sz="1100" kern="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제어</a:t>
                </a:r>
                <a:endParaRPr lang="en-US" sz="1100" kern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104" name="Group 22"/>
              <p:cNvGrpSpPr/>
              <p:nvPr/>
            </p:nvGrpSpPr>
            <p:grpSpPr>
              <a:xfrm>
                <a:off x="7806315" y="3861896"/>
                <a:ext cx="801633" cy="974134"/>
                <a:chOff x="8700620" y="4576275"/>
                <a:chExt cx="852378" cy="1045437"/>
              </a:xfrm>
            </p:grpSpPr>
            <p:pic>
              <p:nvPicPr>
                <p:cNvPr id="126" name="Picture 4" descr="http://2.s3.envato.com/files/69318836/preview.jpg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clrChange>
                    <a:clrFrom>
                      <a:srgbClr val="FDFDFD"/>
                    </a:clrFrom>
                    <a:clrTo>
                      <a:srgbClr val="FDFDFD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711" t="54330" r="54327" b="4918"/>
                <a:stretch/>
              </p:blipFill>
              <p:spPr bwMode="auto">
                <a:xfrm>
                  <a:off x="8826964" y="4576275"/>
                  <a:ext cx="599689" cy="61155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7" name="직사각형 88"/>
                <p:cNvSpPr/>
                <p:nvPr/>
              </p:nvSpPr>
              <p:spPr>
                <a:xfrm>
                  <a:off x="8700620" y="5304035"/>
                  <a:ext cx="852378" cy="3176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spcFirstLastPara="0" vert="horz" wrap="none" lIns="8890" tIns="8890" rIns="8890" bIns="8890" numCol="1" spcCol="1270" anchor="ctr" anchorCtr="0">
                  <a:noAutofit/>
                </a:bodyPr>
                <a:lstStyle/>
                <a:p>
                  <a:pPr algn="ctr" defTabSz="622300" latinLnBrk="0">
                    <a:defRPr/>
                  </a:pPr>
                  <a:r>
                    <a:rPr lang="en-US" altLang="ko-KR" sz="1200" b="1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PaaS</a:t>
                  </a:r>
                </a:p>
                <a:p>
                  <a:pPr algn="ctr" defTabSz="622300" latinLnBrk="0">
                    <a:defRPr/>
                  </a:pPr>
                  <a:r>
                    <a:rPr lang="ko-KR" altLang="en-US" sz="1300" b="1" kern="0" dirty="0">
                      <a:solidFill>
                        <a:prstClr val="black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운영자</a:t>
                  </a:r>
                </a:p>
              </p:txBody>
            </p:sp>
          </p:grpSp>
        </p:grpSp>
        <p:sp>
          <p:nvSpPr>
            <p:cNvPr id="185" name="모서리가 둥근 직사각형 184"/>
            <p:cNvSpPr/>
            <p:nvPr/>
          </p:nvSpPr>
          <p:spPr bwMode="auto">
            <a:xfrm>
              <a:off x="7173896" y="3128240"/>
              <a:ext cx="1361749" cy="30394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4F81BD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4F81BD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4F81BD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90000" rIns="90000" anchor="ctr"/>
            <a:lstStyle/>
            <a:p>
              <a:pPr marL="0" lvl="1" algn="ctr" eaLnBrk="0" latinLnBrk="0" hangingPunct="0"/>
              <a:r>
                <a:rPr lang="ko-KR" altLang="en-US" sz="1200" b="1" kern="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⑦ 관리도구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1523776" y="1594943"/>
            <a:ext cx="9202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ko-KR" altLang="en-US" b="1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파스</a:t>
            </a:r>
            <a:r>
              <a:rPr lang="en-US" altLang="ko-KR" b="1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-</a:t>
            </a:r>
            <a:r>
              <a:rPr lang="ko-KR" altLang="en-US" b="1" kern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타</a:t>
            </a:r>
            <a:r>
              <a:rPr lang="en-US" altLang="ko-KR" b="1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b="1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개발</a:t>
            </a:r>
            <a:r>
              <a:rPr lang="en-US" altLang="ko-KR" b="1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·</a:t>
            </a:r>
            <a:r>
              <a:rPr lang="ko-KR" altLang="en-US" b="1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관리 도구</a:t>
            </a:r>
          </a:p>
        </p:txBody>
      </p:sp>
      <p:grpSp>
        <p:nvGrpSpPr>
          <p:cNvPr id="91" name="그룹 90"/>
          <p:cNvGrpSpPr/>
          <p:nvPr/>
        </p:nvGrpSpPr>
        <p:grpSpPr>
          <a:xfrm>
            <a:off x="4168513" y="1649372"/>
            <a:ext cx="710626" cy="711809"/>
            <a:chOff x="3165372" y="1335360"/>
            <a:chExt cx="665510" cy="675349"/>
          </a:xfrm>
        </p:grpSpPr>
        <p:sp>
          <p:nvSpPr>
            <p:cNvPr id="92" name="직사각형 91"/>
            <p:cNvSpPr/>
            <p:nvPr/>
          </p:nvSpPr>
          <p:spPr>
            <a:xfrm>
              <a:off x="3165372" y="1813179"/>
              <a:ext cx="665510" cy="1975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890" tIns="8890" rIns="8890" bIns="8890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</a:pP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정부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공공기관</a:t>
              </a:r>
            </a:p>
          </p:txBody>
        </p:sp>
        <p:pic>
          <p:nvPicPr>
            <p:cNvPr id="93" name="그림 92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254063" y="1335360"/>
              <a:ext cx="512861" cy="419036"/>
            </a:xfrm>
            <a:prstGeom prst="rect">
              <a:avLst/>
            </a:prstGeom>
          </p:spPr>
        </p:pic>
      </p:grpSp>
      <p:grpSp>
        <p:nvGrpSpPr>
          <p:cNvPr id="94" name="그룹 93"/>
          <p:cNvGrpSpPr/>
          <p:nvPr/>
        </p:nvGrpSpPr>
        <p:grpSpPr>
          <a:xfrm>
            <a:off x="7279486" y="1638924"/>
            <a:ext cx="710626" cy="722256"/>
            <a:chOff x="6061547" y="1325448"/>
            <a:chExt cx="665510" cy="685261"/>
          </a:xfrm>
        </p:grpSpPr>
        <p:pic>
          <p:nvPicPr>
            <p:cNvPr id="95" name="그림 94"/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102582" y="1325448"/>
              <a:ext cx="536299" cy="438901"/>
            </a:xfrm>
            <a:prstGeom prst="rect">
              <a:avLst/>
            </a:prstGeom>
          </p:spPr>
        </p:pic>
        <p:sp>
          <p:nvSpPr>
            <p:cNvPr id="96" name="직사각형 95"/>
            <p:cNvSpPr/>
            <p:nvPr/>
          </p:nvSpPr>
          <p:spPr>
            <a:xfrm>
              <a:off x="6061547" y="1813179"/>
              <a:ext cx="665510" cy="1975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none" lIns="8890" tIns="8890" rIns="8890" bIns="8890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Aft>
                  <a:spcPct val="35000"/>
                </a:spcAft>
              </a:pP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일반국민</a:t>
              </a:r>
            </a:p>
          </p:txBody>
        </p:sp>
      </p:grpSp>
      <p:sp>
        <p:nvSpPr>
          <p:cNvPr id="69" name="제목 1"/>
          <p:cNvSpPr txBox="1">
            <a:spLocks/>
          </p:cNvSpPr>
          <p:nvPr/>
        </p:nvSpPr>
        <p:spPr>
          <a:xfrm>
            <a:off x="1454856" y="108558"/>
            <a:ext cx="8637588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4" name="그림 7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7" t="65705" r="23791" b="25604"/>
          <a:stretch/>
        </p:blipFill>
        <p:spPr>
          <a:xfrm>
            <a:off x="4287785" y="3464128"/>
            <a:ext cx="1761458" cy="393478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3719468" y="5495147"/>
            <a:ext cx="4735861" cy="760190"/>
            <a:chOff x="2576467" y="5461761"/>
            <a:chExt cx="4735861" cy="760190"/>
          </a:xfrm>
        </p:grpSpPr>
        <p:grpSp>
          <p:nvGrpSpPr>
            <p:cNvPr id="2" name="그룹 1"/>
            <p:cNvGrpSpPr/>
            <p:nvPr/>
          </p:nvGrpSpPr>
          <p:grpSpPr>
            <a:xfrm>
              <a:off x="2576467" y="5461761"/>
              <a:ext cx="4735861" cy="760190"/>
              <a:chOff x="2576467" y="5461761"/>
              <a:chExt cx="4735861" cy="760190"/>
            </a:xfrm>
          </p:grpSpPr>
          <p:sp>
            <p:nvSpPr>
              <p:cNvPr id="72" name="Rectangle 23"/>
              <p:cNvSpPr/>
              <p:nvPr/>
            </p:nvSpPr>
            <p:spPr>
              <a:xfrm>
                <a:off x="2576467" y="5461761"/>
                <a:ext cx="4735861" cy="760190"/>
              </a:xfrm>
              <a:prstGeom prst="round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tx1"/>
                </a:solidFill>
                <a:prstDash val="sysDot"/>
              </a:ln>
              <a:effectLst/>
            </p:spPr>
            <p:txBody>
              <a:bodyPr rtlCol="0" anchor="t"/>
              <a:lstStyle/>
              <a:p>
                <a:pPr algn="ctr" latinLnBrk="0">
                  <a:defRPr/>
                </a:pPr>
                <a:endParaRPr lang="en-US" sz="1000" kern="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026" name="Picture 2" descr="cloud foundry logo png에 대한 이미지 검색결과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10132" y="5544984"/>
                <a:ext cx="1068531" cy="141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7" name="모서리가 둥근 직사각형 76"/>
            <p:cNvSpPr/>
            <p:nvPr/>
          </p:nvSpPr>
          <p:spPr bwMode="auto">
            <a:xfrm>
              <a:off x="2670526" y="5729861"/>
              <a:ext cx="1084773" cy="180831"/>
            </a:xfrm>
            <a:prstGeom prst="roundRect">
              <a:avLst>
                <a:gd name="adj" fmla="val 0"/>
              </a:avLst>
            </a:prstGeom>
            <a:noFill/>
            <a:ln w="63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marL="0" lvl="1" algn="ctr"/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Routing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 bwMode="auto">
            <a:xfrm>
              <a:off x="3823090" y="5729861"/>
              <a:ext cx="1084773" cy="180831"/>
            </a:xfrm>
            <a:prstGeom prst="roundRect">
              <a:avLst>
                <a:gd name="adj" fmla="val 0"/>
              </a:avLst>
            </a:prstGeom>
            <a:noFill/>
            <a:ln w="63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marL="0" lvl="1" algn="ctr"/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Authentication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모서리가 둥근 직사각형 78"/>
            <p:cNvSpPr/>
            <p:nvPr/>
          </p:nvSpPr>
          <p:spPr bwMode="auto">
            <a:xfrm>
              <a:off x="4975654" y="5729861"/>
              <a:ext cx="1084773" cy="180831"/>
            </a:xfrm>
            <a:prstGeom prst="roundRect">
              <a:avLst>
                <a:gd name="adj" fmla="val 0"/>
              </a:avLst>
            </a:prstGeom>
            <a:noFill/>
            <a:ln w="63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marL="0" lvl="1" algn="ctr"/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App Lifecycle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 bwMode="auto">
            <a:xfrm>
              <a:off x="2670526" y="5948390"/>
              <a:ext cx="1443833" cy="180831"/>
            </a:xfrm>
            <a:prstGeom prst="roundRect">
              <a:avLst>
                <a:gd name="adj" fmla="val 0"/>
              </a:avLst>
            </a:prstGeom>
            <a:noFill/>
            <a:ln w="63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marL="0" lvl="1" algn="ctr"/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App Storage &amp; Execution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모서리가 둥근 직사각형 80"/>
            <p:cNvSpPr/>
            <p:nvPr/>
          </p:nvSpPr>
          <p:spPr bwMode="auto">
            <a:xfrm>
              <a:off x="6128218" y="5729861"/>
              <a:ext cx="1084773" cy="180831"/>
            </a:xfrm>
            <a:prstGeom prst="roundRect">
              <a:avLst>
                <a:gd name="adj" fmla="val 0"/>
              </a:avLst>
            </a:prstGeom>
            <a:noFill/>
            <a:ln w="63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marL="0" lvl="1" algn="ctr"/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Service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모서리가 둥근 직사각형 81"/>
            <p:cNvSpPr/>
            <p:nvPr/>
          </p:nvSpPr>
          <p:spPr bwMode="auto">
            <a:xfrm>
              <a:off x="5769882" y="5948390"/>
              <a:ext cx="1443833" cy="180831"/>
            </a:xfrm>
            <a:prstGeom prst="roundRect">
              <a:avLst>
                <a:gd name="adj" fmla="val 0"/>
              </a:avLst>
            </a:prstGeom>
            <a:noFill/>
            <a:ln w="63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marL="0" lvl="1" algn="ctr"/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Messaging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3" name="모서리가 둥근 직사각형 82"/>
            <p:cNvSpPr/>
            <p:nvPr/>
          </p:nvSpPr>
          <p:spPr bwMode="auto">
            <a:xfrm>
              <a:off x="4220842" y="5948390"/>
              <a:ext cx="1443833" cy="180831"/>
            </a:xfrm>
            <a:prstGeom prst="roundRect">
              <a:avLst>
                <a:gd name="adj" fmla="val 0"/>
              </a:avLst>
            </a:prstGeom>
            <a:noFill/>
            <a:ln w="6350" algn="ctr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ffectLst/>
          </p:spPr>
          <p:txBody>
            <a:bodyPr vert="horz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marL="0" lvl="1" algn="ctr"/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Metrics &amp; Logging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5" name="그림 8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7" t="65705" r="23791" b="25604"/>
          <a:stretch/>
        </p:blipFill>
        <p:spPr>
          <a:xfrm>
            <a:off x="8848123" y="1698090"/>
            <a:ext cx="1761458" cy="39347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107110" y="2070126"/>
            <a:ext cx="1243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ko-KR" altLang="en-US" sz="2000" b="1" kern="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부가기능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11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90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모서리가 둥근 직사각형 136"/>
          <p:cNvSpPr/>
          <p:nvPr/>
        </p:nvSpPr>
        <p:spPr bwMode="gray">
          <a:xfrm>
            <a:off x="1451747" y="980728"/>
            <a:ext cx="9285197" cy="4432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marL="176213" defTabSz="801688">
              <a:defRPr/>
            </a:pP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표준화된 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HW 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및 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개발 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· 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실행 환경을 수분 내로 자동화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함으로써 응용 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의 신속한 개발</a:t>
            </a:r>
            <a:r>
              <a:rPr lang="en-US" altLang="ko-KR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‧</a:t>
            </a: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테스트</a:t>
            </a:r>
          </a:p>
        </p:txBody>
      </p:sp>
      <p:sp>
        <p:nvSpPr>
          <p:cNvPr id="138" name="AutoShape 2"/>
          <p:cNvSpPr>
            <a:spLocks noChangeArrowheads="1"/>
          </p:cNvSpPr>
          <p:nvPr/>
        </p:nvSpPr>
        <p:spPr bwMode="gray">
          <a:xfrm>
            <a:off x="1451746" y="1611343"/>
            <a:ext cx="4444238" cy="48186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ysClr val="window" lastClr="FFFFFF">
                <a:lumMod val="75000"/>
              </a:sys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kern="0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39" name="모서리가 둥근 직사각형 138"/>
          <p:cNvSpPr/>
          <p:nvPr/>
        </p:nvSpPr>
        <p:spPr bwMode="gray">
          <a:xfrm>
            <a:off x="1451746" y="1597129"/>
            <a:ext cx="4444238" cy="380539"/>
          </a:xfrm>
          <a:prstGeom prst="roundRect">
            <a:avLst>
              <a:gd name="adj" fmla="val 0"/>
            </a:avLst>
          </a:prstGeom>
          <a:solidFill>
            <a:srgbClr val="1F497D">
              <a:lumMod val="20000"/>
              <a:lumOff val="80000"/>
            </a:srgbClr>
          </a:solidFill>
          <a:ln w="6350" algn="ctr">
            <a:solidFill>
              <a:srgbClr val="4BACC6">
                <a:lumMod val="60000"/>
                <a:lumOff val="40000"/>
              </a:srgbClr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801688" latinLnBrk="0">
              <a:defRPr/>
            </a:pPr>
            <a:r>
              <a:rPr lang="en-US" altLang="ko-KR" b="1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IaaS </a:t>
            </a:r>
            <a:r>
              <a:rPr lang="ko-KR" altLang="en-US" b="1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도입 시</a:t>
            </a:r>
          </a:p>
        </p:txBody>
      </p:sp>
      <p:sp>
        <p:nvSpPr>
          <p:cNvPr id="140" name="AutoShape 2"/>
          <p:cNvSpPr>
            <a:spLocks noChangeArrowheads="1"/>
          </p:cNvSpPr>
          <p:nvPr/>
        </p:nvSpPr>
        <p:spPr bwMode="gray">
          <a:xfrm>
            <a:off x="6267366" y="1611343"/>
            <a:ext cx="4444238" cy="48186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ysClr val="window" lastClr="FFFFFF">
                <a:lumMod val="75000"/>
              </a:sys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kern="0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41" name="모서리가 둥근 직사각형 140"/>
          <p:cNvSpPr/>
          <p:nvPr/>
        </p:nvSpPr>
        <p:spPr bwMode="gray">
          <a:xfrm>
            <a:off x="6267366" y="1597129"/>
            <a:ext cx="4444238" cy="38053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4DABF5"/>
              </a:gs>
              <a:gs pos="47000">
                <a:srgbClr val="0173D4"/>
              </a:gs>
              <a:gs pos="100000">
                <a:srgbClr val="0048AC"/>
              </a:gs>
            </a:gsLst>
            <a:lin ang="2700000" scaled="1"/>
          </a:gra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801688" latinLnBrk="0">
              <a:defRPr/>
            </a:pPr>
            <a:r>
              <a:rPr lang="ko-KR" altLang="en-US" b="1" kern="0" spc="-5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파스</a:t>
            </a:r>
            <a:r>
              <a:rPr lang="en-US" altLang="ko-KR" b="1" kern="0" spc="-5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-</a:t>
            </a:r>
            <a:r>
              <a:rPr lang="ko-KR" altLang="en-US" b="1" kern="0" spc="-5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타</a:t>
            </a:r>
            <a:r>
              <a:rPr lang="en-US" altLang="ko-KR" b="1" kern="0" spc="-5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b="1" kern="0" spc="-5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도입 시</a:t>
            </a:r>
          </a:p>
        </p:txBody>
      </p:sp>
      <p:sp>
        <p:nvSpPr>
          <p:cNvPr id="142" name="직사각형 141"/>
          <p:cNvSpPr>
            <a:spLocks noChangeArrowheads="1"/>
          </p:cNvSpPr>
          <p:nvPr/>
        </p:nvSpPr>
        <p:spPr bwMode="auto">
          <a:xfrm>
            <a:off x="6202854" y="5588739"/>
            <a:ext cx="4536886" cy="648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0" tIns="36000" anchor="t"/>
          <a:lstStyle/>
          <a:p>
            <a:pPr marL="182563" indent="-182563" latinLnBrk="0">
              <a:spcBef>
                <a:spcPts val="400"/>
              </a:spcBef>
              <a:buClr>
                <a:prstClr val="black">
                  <a:lumMod val="50000"/>
                  <a:lumOff val="50000"/>
                </a:prst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파스</a:t>
            </a:r>
            <a:r>
              <a:rPr lang="en-US" altLang="ko-KR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타는 어플리케이션 개발에 필요한 프레임워크</a:t>
            </a:r>
            <a:r>
              <a:rPr lang="en-US" altLang="ko-KR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‧</a:t>
            </a:r>
            <a:r>
              <a:rPr lang="ko-KR" altLang="en-US" kern="0" spc="-5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미들웨어</a:t>
            </a:r>
            <a:r>
              <a:rPr lang="en-US" altLang="ko-KR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‧OS </a:t>
            </a: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 </a:t>
            </a:r>
            <a:r>
              <a:rPr lang="ko-KR" altLang="en-US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표준화된 </a:t>
            </a:r>
            <a:r>
              <a:rPr lang="en-US" altLang="ko-KR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</a:t>
            </a:r>
            <a:r>
              <a:rPr lang="ko-KR" altLang="en-US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설치 및 구성을 자동화</a:t>
            </a: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 </a:t>
            </a:r>
          </a:p>
        </p:txBody>
      </p:sp>
      <p:sp>
        <p:nvSpPr>
          <p:cNvPr id="143" name="직사각형 142"/>
          <p:cNvSpPr>
            <a:spLocks noChangeArrowheads="1"/>
          </p:cNvSpPr>
          <p:nvPr/>
        </p:nvSpPr>
        <p:spPr bwMode="auto">
          <a:xfrm>
            <a:off x="1416553" y="5630943"/>
            <a:ext cx="4536886" cy="648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0" tIns="36000" anchor="t"/>
          <a:lstStyle/>
          <a:p>
            <a:pPr marL="182563" indent="-182563" latinLnBrk="0">
              <a:spcBef>
                <a:spcPts val="400"/>
              </a:spcBef>
              <a:buClr>
                <a:prstClr val="black">
                  <a:lumMod val="50000"/>
                  <a:lumOff val="50000"/>
                </a:prstClr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IaaS</a:t>
            </a: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서버</a:t>
            </a:r>
            <a:r>
              <a:rPr lang="en-US" altLang="ko-KR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‧</a:t>
            </a: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스토리지</a:t>
            </a:r>
            <a:r>
              <a:rPr lang="en-US" altLang="ko-KR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‧</a:t>
            </a: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등 </a:t>
            </a:r>
            <a:r>
              <a:rPr lang="ko-KR" altLang="en-US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표준화된 </a:t>
            </a:r>
            <a:r>
              <a:rPr lang="en-US" altLang="ko-KR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HW</a:t>
            </a:r>
            <a:r>
              <a:rPr lang="ko-KR" altLang="en-US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설치 및 구성을 자동화</a:t>
            </a:r>
            <a:r>
              <a:rPr lang="ko-KR" altLang="en-US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</a:t>
            </a:r>
          </a:p>
        </p:txBody>
      </p:sp>
      <p:grpSp>
        <p:nvGrpSpPr>
          <p:cNvPr id="144" name="그룹 143"/>
          <p:cNvGrpSpPr/>
          <p:nvPr/>
        </p:nvGrpSpPr>
        <p:grpSpPr>
          <a:xfrm>
            <a:off x="1605681" y="3970790"/>
            <a:ext cx="4138924" cy="1390427"/>
            <a:chOff x="490817" y="3449040"/>
            <a:chExt cx="4138924" cy="813477"/>
          </a:xfrm>
        </p:grpSpPr>
        <p:sp>
          <p:nvSpPr>
            <p:cNvPr id="145" name="모서리가 둥근 직사각형 144"/>
            <p:cNvSpPr/>
            <p:nvPr/>
          </p:nvSpPr>
          <p:spPr bwMode="gray">
            <a:xfrm>
              <a:off x="490817" y="3455080"/>
              <a:ext cx="504054" cy="807437"/>
            </a:xfrm>
            <a:prstGeom prst="roundRect">
              <a:avLst/>
            </a:prstGeom>
            <a:gradFill rotWithShape="1">
              <a:gsLst>
                <a:gs pos="0">
                  <a:srgbClr val="B2B2B2"/>
                </a:gs>
                <a:gs pos="47000">
                  <a:schemeClr val="tx1">
                    <a:lumMod val="65000"/>
                    <a:lumOff val="3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2700000" scaled="1"/>
            </a:gradFill>
            <a:ln w="12700" algn="ctr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ffectLst>
              <a:outerShdw blurRad="50800" dist="25400" dir="4200000" algn="tl" rotWithShape="0">
                <a:prstClr val="black">
                  <a:alpha val="28000"/>
                </a:prstClr>
              </a:outerShdw>
            </a:effectLst>
          </p:spPr>
          <p:txBody>
            <a:bodyPr vert="eaVert" wrap="none" lIns="72000" tIns="72000" rIns="72000" bIns="72000" anchor="ctr"/>
            <a:lstStyle/>
            <a:p>
              <a:pPr algn="ctr" defTabSz="801688"/>
              <a:r>
                <a:rPr lang="en-US" altLang="ko-KR" b="1" spc="-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IaaS</a:t>
              </a:r>
            </a:p>
          </p:txBody>
        </p:sp>
        <p:sp>
          <p:nvSpPr>
            <p:cNvPr id="146" name="직사각형 145"/>
            <p:cNvSpPr/>
            <p:nvPr/>
          </p:nvSpPr>
          <p:spPr bwMode="gray">
            <a:xfrm>
              <a:off x="915783" y="3449040"/>
              <a:ext cx="3713958" cy="813477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grpSp>
        <p:nvGrpSpPr>
          <p:cNvPr id="147" name="그룹 146"/>
          <p:cNvGrpSpPr/>
          <p:nvPr/>
        </p:nvGrpSpPr>
        <p:grpSpPr>
          <a:xfrm>
            <a:off x="2180810" y="4875552"/>
            <a:ext cx="3387336" cy="357296"/>
            <a:chOff x="1096864" y="3912204"/>
            <a:chExt cx="3125236" cy="257244"/>
          </a:xfrm>
        </p:grpSpPr>
        <p:sp>
          <p:nvSpPr>
            <p:cNvPr id="148" name="직사각형 147"/>
            <p:cNvSpPr/>
            <p:nvPr/>
          </p:nvSpPr>
          <p:spPr bwMode="gray">
            <a:xfrm>
              <a:off x="1096864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서버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49" name="직사각형 148"/>
            <p:cNvSpPr/>
            <p:nvPr/>
          </p:nvSpPr>
          <p:spPr bwMode="gray">
            <a:xfrm>
              <a:off x="2193501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스토리지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50" name="직사각형 149"/>
            <p:cNvSpPr/>
            <p:nvPr/>
          </p:nvSpPr>
          <p:spPr bwMode="gray">
            <a:xfrm>
              <a:off x="3290139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네트워크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grpSp>
        <p:nvGrpSpPr>
          <p:cNvPr id="151" name="그룹 150"/>
          <p:cNvGrpSpPr/>
          <p:nvPr/>
        </p:nvGrpSpPr>
        <p:grpSpPr>
          <a:xfrm>
            <a:off x="4398978" y="2211988"/>
            <a:ext cx="1169168" cy="2026581"/>
            <a:chOff x="1421987" y="2658793"/>
            <a:chExt cx="1504094" cy="2009817"/>
          </a:xfrm>
        </p:grpSpPr>
        <p:sp>
          <p:nvSpPr>
            <p:cNvPr id="152" name="모서리가 둥근 직사각형 151"/>
            <p:cNvSpPr/>
            <p:nvPr/>
          </p:nvSpPr>
          <p:spPr bwMode="gray">
            <a:xfrm>
              <a:off x="1421987" y="2658793"/>
              <a:ext cx="1504094" cy="2009817"/>
            </a:xfrm>
            <a:prstGeom prst="roundRect">
              <a:avLst>
                <a:gd name="adj" fmla="val 5427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 환경</a:t>
              </a:r>
              <a:endPara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>
              <a:off x="1506248" y="2997512"/>
              <a:ext cx="1340911" cy="1562045"/>
              <a:chOff x="1209409" y="1985476"/>
              <a:chExt cx="1340911" cy="1562045"/>
            </a:xfrm>
          </p:grpSpPr>
          <p:sp>
            <p:nvSpPr>
              <p:cNvPr id="154" name="직사각형 153"/>
              <p:cNvSpPr/>
              <p:nvPr/>
            </p:nvSpPr>
            <p:spPr bwMode="gray">
              <a:xfrm>
                <a:off x="1209409" y="2394274"/>
                <a:ext cx="1340911" cy="76601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ctr"/>
                <a:r>
                  <a:rPr lang="en-US" altLang="ko-KR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SW </a:t>
                </a:r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플랫폼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155" name="그룹 154"/>
              <p:cNvGrpSpPr/>
              <p:nvPr/>
            </p:nvGrpSpPr>
            <p:grpSpPr>
              <a:xfrm>
                <a:off x="1287015" y="2634322"/>
                <a:ext cx="1194965" cy="477383"/>
                <a:chOff x="5535833" y="3369205"/>
                <a:chExt cx="1469878" cy="733878"/>
              </a:xfrm>
            </p:grpSpPr>
            <p:sp>
              <p:nvSpPr>
                <p:cNvPr id="158" name="직사각형 157"/>
                <p:cNvSpPr/>
                <p:nvPr/>
              </p:nvSpPr>
              <p:spPr bwMode="gray">
                <a:xfrm>
                  <a:off x="5535833" y="3369205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프레임워크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  <p:sp>
              <p:nvSpPr>
                <p:cNvPr id="159" name="직사각형 158"/>
                <p:cNvSpPr/>
                <p:nvPr/>
              </p:nvSpPr>
              <p:spPr bwMode="gray">
                <a:xfrm>
                  <a:off x="5535833" y="3634149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미들웨어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  <p:sp>
              <p:nvSpPr>
                <p:cNvPr id="160" name="직사각형 159"/>
                <p:cNvSpPr/>
                <p:nvPr/>
              </p:nvSpPr>
              <p:spPr bwMode="gray">
                <a:xfrm>
                  <a:off x="5535833" y="3899093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운영체제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</p:grpSp>
          <p:sp>
            <p:nvSpPr>
              <p:cNvPr id="156" name="직사각형 155"/>
              <p:cNvSpPr/>
              <p:nvPr/>
            </p:nvSpPr>
            <p:spPr bwMode="gray">
              <a:xfrm>
                <a:off x="1209409" y="1985476"/>
                <a:ext cx="1340911" cy="32356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어플리케이션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7" name="직사각형 156"/>
              <p:cNvSpPr/>
              <p:nvPr/>
            </p:nvSpPr>
            <p:spPr bwMode="gray">
              <a:xfrm>
                <a:off x="1209409" y="3234985"/>
                <a:ext cx="1340911" cy="312536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가상머신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161" name="그룹 160"/>
          <p:cNvGrpSpPr/>
          <p:nvPr/>
        </p:nvGrpSpPr>
        <p:grpSpPr>
          <a:xfrm>
            <a:off x="3806495" y="2443092"/>
            <a:ext cx="1169168" cy="2026581"/>
            <a:chOff x="1421987" y="2658793"/>
            <a:chExt cx="1504094" cy="2009817"/>
          </a:xfrm>
        </p:grpSpPr>
        <p:sp>
          <p:nvSpPr>
            <p:cNvPr id="162" name="모서리가 둥근 직사각형 161"/>
            <p:cNvSpPr/>
            <p:nvPr/>
          </p:nvSpPr>
          <p:spPr bwMode="gray">
            <a:xfrm>
              <a:off x="1421987" y="2658793"/>
              <a:ext cx="1504094" cy="2009817"/>
            </a:xfrm>
            <a:prstGeom prst="roundRect">
              <a:avLst>
                <a:gd name="adj" fmla="val 5427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테스트 환경</a:t>
              </a:r>
              <a:endPara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>
              <a:off x="1506248" y="2997512"/>
              <a:ext cx="1340911" cy="1562045"/>
              <a:chOff x="1209409" y="1985476"/>
              <a:chExt cx="1340911" cy="1562045"/>
            </a:xfrm>
          </p:grpSpPr>
          <p:sp>
            <p:nvSpPr>
              <p:cNvPr id="164" name="직사각형 163"/>
              <p:cNvSpPr/>
              <p:nvPr/>
            </p:nvSpPr>
            <p:spPr bwMode="gray">
              <a:xfrm>
                <a:off x="1209409" y="2394274"/>
                <a:ext cx="1340911" cy="76601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ctr"/>
                <a:r>
                  <a:rPr lang="en-US" altLang="ko-KR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SW </a:t>
                </a:r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플랫폼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165" name="그룹 164"/>
              <p:cNvGrpSpPr/>
              <p:nvPr/>
            </p:nvGrpSpPr>
            <p:grpSpPr>
              <a:xfrm>
                <a:off x="1287015" y="2634322"/>
                <a:ext cx="1194965" cy="477383"/>
                <a:chOff x="5535833" y="3369205"/>
                <a:chExt cx="1469878" cy="733878"/>
              </a:xfrm>
            </p:grpSpPr>
            <p:sp>
              <p:nvSpPr>
                <p:cNvPr id="168" name="직사각형 167"/>
                <p:cNvSpPr/>
                <p:nvPr/>
              </p:nvSpPr>
              <p:spPr bwMode="gray">
                <a:xfrm>
                  <a:off x="5535833" y="3369205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프레임워크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  <p:sp>
              <p:nvSpPr>
                <p:cNvPr id="169" name="직사각형 168"/>
                <p:cNvSpPr/>
                <p:nvPr/>
              </p:nvSpPr>
              <p:spPr bwMode="gray">
                <a:xfrm>
                  <a:off x="5535833" y="3634149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미들웨어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  <p:sp>
              <p:nvSpPr>
                <p:cNvPr id="170" name="직사각형 169"/>
                <p:cNvSpPr/>
                <p:nvPr/>
              </p:nvSpPr>
              <p:spPr bwMode="gray">
                <a:xfrm>
                  <a:off x="5535833" y="3899093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운영체제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</p:grpSp>
          <p:sp>
            <p:nvSpPr>
              <p:cNvPr id="166" name="직사각형 165"/>
              <p:cNvSpPr/>
              <p:nvPr/>
            </p:nvSpPr>
            <p:spPr bwMode="gray">
              <a:xfrm>
                <a:off x="1209409" y="1985476"/>
                <a:ext cx="1340911" cy="32356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어플리케이션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7" name="직사각형 166"/>
              <p:cNvSpPr/>
              <p:nvPr/>
            </p:nvSpPr>
            <p:spPr bwMode="gray">
              <a:xfrm>
                <a:off x="1209409" y="3234985"/>
                <a:ext cx="1340911" cy="312536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가상머신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171" name="그룹 170"/>
          <p:cNvGrpSpPr/>
          <p:nvPr/>
        </p:nvGrpSpPr>
        <p:grpSpPr>
          <a:xfrm>
            <a:off x="3214012" y="2674196"/>
            <a:ext cx="1169168" cy="2026581"/>
            <a:chOff x="1421987" y="2658793"/>
            <a:chExt cx="1504094" cy="2009817"/>
          </a:xfrm>
        </p:grpSpPr>
        <p:sp>
          <p:nvSpPr>
            <p:cNvPr id="172" name="모서리가 둥근 직사각형 171"/>
            <p:cNvSpPr/>
            <p:nvPr/>
          </p:nvSpPr>
          <p:spPr bwMode="gray">
            <a:xfrm>
              <a:off x="1421987" y="2658793"/>
              <a:ext cx="1504094" cy="2009817"/>
            </a:xfrm>
            <a:prstGeom prst="roundRect">
              <a:avLst>
                <a:gd name="adj" fmla="val 5427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환경</a:t>
              </a:r>
              <a:endPara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73" name="그룹 172"/>
            <p:cNvGrpSpPr/>
            <p:nvPr/>
          </p:nvGrpSpPr>
          <p:grpSpPr>
            <a:xfrm>
              <a:off x="1506248" y="2997512"/>
              <a:ext cx="1340911" cy="1562045"/>
              <a:chOff x="1209409" y="1985476"/>
              <a:chExt cx="1340911" cy="1562045"/>
            </a:xfrm>
          </p:grpSpPr>
          <p:sp>
            <p:nvSpPr>
              <p:cNvPr id="174" name="직사각형 173"/>
              <p:cNvSpPr/>
              <p:nvPr/>
            </p:nvSpPr>
            <p:spPr bwMode="gray">
              <a:xfrm>
                <a:off x="1209409" y="2394274"/>
                <a:ext cx="1340911" cy="76601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ctr"/>
                <a:r>
                  <a:rPr lang="en-US" altLang="ko-KR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SW </a:t>
                </a:r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플랫폼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175" name="그룹 174"/>
              <p:cNvGrpSpPr/>
              <p:nvPr/>
            </p:nvGrpSpPr>
            <p:grpSpPr>
              <a:xfrm>
                <a:off x="1287015" y="2634322"/>
                <a:ext cx="1194965" cy="477383"/>
                <a:chOff x="5535833" y="3369205"/>
                <a:chExt cx="1469878" cy="733878"/>
              </a:xfrm>
            </p:grpSpPr>
            <p:sp>
              <p:nvSpPr>
                <p:cNvPr id="178" name="직사각형 177"/>
                <p:cNvSpPr/>
                <p:nvPr/>
              </p:nvSpPr>
              <p:spPr bwMode="gray">
                <a:xfrm>
                  <a:off x="5535833" y="3369205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프레임워크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  <p:sp>
              <p:nvSpPr>
                <p:cNvPr id="179" name="직사각형 178"/>
                <p:cNvSpPr/>
                <p:nvPr/>
              </p:nvSpPr>
              <p:spPr bwMode="gray">
                <a:xfrm>
                  <a:off x="5535833" y="3634149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미들웨어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  <p:sp>
              <p:nvSpPr>
                <p:cNvPr id="180" name="직사각형 179"/>
                <p:cNvSpPr/>
                <p:nvPr/>
              </p:nvSpPr>
              <p:spPr bwMode="gray">
                <a:xfrm>
                  <a:off x="5535833" y="3899093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ko-KR" altLang="en-US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운영체제</a:t>
                  </a:r>
                  <a:endParaRPr lang="en-US" altLang="ko-KR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endParaRPr>
                </a:p>
              </p:txBody>
            </p:sp>
          </p:grpSp>
          <p:sp>
            <p:nvSpPr>
              <p:cNvPr id="176" name="직사각형 175"/>
              <p:cNvSpPr/>
              <p:nvPr/>
            </p:nvSpPr>
            <p:spPr bwMode="gray">
              <a:xfrm>
                <a:off x="1209409" y="1985476"/>
                <a:ext cx="1340911" cy="32356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어플리케이션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7" name="직사각형 176"/>
              <p:cNvSpPr/>
              <p:nvPr/>
            </p:nvSpPr>
            <p:spPr bwMode="gray">
              <a:xfrm>
                <a:off x="1209409" y="3234985"/>
                <a:ext cx="1340911" cy="312536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가상머신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181" name="그룹 180"/>
          <p:cNvGrpSpPr/>
          <p:nvPr/>
        </p:nvGrpSpPr>
        <p:grpSpPr>
          <a:xfrm>
            <a:off x="1568758" y="3177449"/>
            <a:ext cx="638356" cy="767960"/>
            <a:chOff x="5194706" y="3895255"/>
            <a:chExt cx="812199" cy="979138"/>
          </a:xfrm>
        </p:grpSpPr>
        <p:grpSp>
          <p:nvGrpSpPr>
            <p:cNvPr id="182" name="그룹 181"/>
            <p:cNvGrpSpPr/>
            <p:nvPr/>
          </p:nvGrpSpPr>
          <p:grpSpPr>
            <a:xfrm>
              <a:off x="5267790" y="3895255"/>
              <a:ext cx="696911" cy="627431"/>
              <a:chOff x="5313683" y="2453564"/>
              <a:chExt cx="765253" cy="627431"/>
            </a:xfrm>
          </p:grpSpPr>
          <p:pic>
            <p:nvPicPr>
              <p:cNvPr id="185" name="Picture 4" descr="https://d30y9cdsu7xlg0.cloudfront.net/png/13710-200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313683" y="2453564"/>
                <a:ext cx="598321" cy="5983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6" name="Picture 8" descr="https://image.freepik.com/free-icon/server-settings_318-31267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22964" y="2625023"/>
                <a:ext cx="455972" cy="4559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3" name="직사각형 182"/>
            <p:cNvSpPr/>
            <p:nvPr/>
          </p:nvSpPr>
          <p:spPr>
            <a:xfrm>
              <a:off x="5369344" y="4530664"/>
              <a:ext cx="479618" cy="276999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ctr"/>
              <a:r>
                <a:rPr lang="en-US" altLang="ko-KR" sz="12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TA </a:t>
              </a:r>
              <a:r>
                <a:rPr lang="ko-KR" altLang="en-US" sz="12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전문가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5194706" y="3906454"/>
              <a:ext cx="812199" cy="96793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 latinLnBrk="0"/>
              <a:endPara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87" name="직선 화살표 연결선 186"/>
          <p:cNvCxnSpPr>
            <a:stCxn id="186" idx="3"/>
          </p:cNvCxnSpPr>
          <p:nvPr/>
        </p:nvCxnSpPr>
        <p:spPr>
          <a:xfrm flipV="1">
            <a:off x="2173943" y="3488439"/>
            <a:ext cx="1135482" cy="230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직사각형 187"/>
          <p:cNvSpPr/>
          <p:nvPr/>
        </p:nvSpPr>
        <p:spPr>
          <a:xfrm>
            <a:off x="2505741" y="3154608"/>
            <a:ext cx="479618" cy="27699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spc="-5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 </a:t>
            </a:r>
            <a:r>
              <a:rPr lang="ko-KR" altLang="en-US" sz="1200" b="1" spc="-5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수작업</a:t>
            </a:r>
            <a:endParaRPr lang="en-US" altLang="ko-KR" sz="1200" b="1" spc="-5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spc="-5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설치</a:t>
            </a:r>
            <a:r>
              <a:rPr lang="en-US" altLang="ko-KR" sz="1200" b="1" spc="-5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•</a:t>
            </a:r>
            <a:r>
              <a:rPr lang="ko-KR" altLang="en-US" sz="1200" b="1" spc="-5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구성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9" name="그룹 188"/>
          <p:cNvGrpSpPr/>
          <p:nvPr/>
        </p:nvGrpSpPr>
        <p:grpSpPr>
          <a:xfrm>
            <a:off x="1668279" y="2528140"/>
            <a:ext cx="491597" cy="608604"/>
            <a:chOff x="5194706" y="2544227"/>
            <a:chExt cx="812199" cy="971555"/>
          </a:xfrm>
        </p:grpSpPr>
        <p:pic>
          <p:nvPicPr>
            <p:cNvPr id="190" name="Picture 2" descr="https://d30y9cdsu7xlg0.cloudfront.net/png/27703-200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1565" y="2605144"/>
              <a:ext cx="595177" cy="595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1" name="직사각형 190"/>
            <p:cNvSpPr/>
            <p:nvPr/>
          </p:nvSpPr>
          <p:spPr>
            <a:xfrm>
              <a:off x="5369344" y="3238783"/>
              <a:ext cx="479618" cy="276999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ctr"/>
              <a:r>
                <a:rPr lang="ko-KR" altLang="en-US" sz="12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개발자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5194706" y="2544227"/>
              <a:ext cx="812199" cy="96793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 latinLnBrk="0"/>
              <a:endPara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93" name="직선 화살표 연결선 212"/>
          <p:cNvCxnSpPr>
            <a:stCxn id="190" idx="3"/>
            <a:endCxn id="176" idx="1"/>
          </p:cNvCxnSpPr>
          <p:nvPr/>
        </p:nvCxnSpPr>
        <p:spPr>
          <a:xfrm>
            <a:off x="2099250" y="2752717"/>
            <a:ext cx="1180260" cy="426153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직선 화살표 연결선 193"/>
          <p:cNvCxnSpPr>
            <a:endCxn id="177" idx="1"/>
          </p:cNvCxnSpPr>
          <p:nvPr/>
        </p:nvCxnSpPr>
        <p:spPr>
          <a:xfrm>
            <a:off x="2030920" y="4432716"/>
            <a:ext cx="1248591" cy="5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직사각형 194"/>
          <p:cNvSpPr/>
          <p:nvPr/>
        </p:nvSpPr>
        <p:spPr>
          <a:xfrm>
            <a:off x="2445070" y="2306131"/>
            <a:ext cx="479618" cy="27699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altLang="ko-KR" sz="12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</a:p>
          <a:p>
            <a:pPr algn="ctr"/>
            <a:r>
              <a:rPr lang="ko-KR" altLang="en-US" sz="12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코딩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96" name="그룹 195"/>
          <p:cNvGrpSpPr/>
          <p:nvPr/>
        </p:nvGrpSpPr>
        <p:grpSpPr>
          <a:xfrm>
            <a:off x="6419128" y="3310802"/>
            <a:ext cx="4138924" cy="1300268"/>
            <a:chOff x="5276128" y="2507518"/>
            <a:chExt cx="4138924" cy="1115661"/>
          </a:xfrm>
        </p:grpSpPr>
        <p:sp>
          <p:nvSpPr>
            <p:cNvPr id="197" name="모서리가 둥근 직사각형 196"/>
            <p:cNvSpPr/>
            <p:nvPr/>
          </p:nvSpPr>
          <p:spPr bwMode="gray">
            <a:xfrm>
              <a:off x="5276128" y="2507518"/>
              <a:ext cx="504054" cy="1115660"/>
            </a:xfrm>
            <a:prstGeom prst="roundRect">
              <a:avLst/>
            </a:prstGeom>
            <a:gradFill>
              <a:gsLst>
                <a:gs pos="0">
                  <a:srgbClr val="4DABF5"/>
                </a:gs>
                <a:gs pos="47000">
                  <a:srgbClr val="0173D4"/>
                </a:gs>
                <a:gs pos="100000">
                  <a:srgbClr val="0048AC"/>
                </a:gs>
              </a:gsLst>
              <a:lin ang="2700000" scaled="1"/>
            </a:gradFill>
            <a:ln w="6350" algn="ctr">
              <a:solidFill>
                <a:srgbClr val="0173D4"/>
              </a:solidFill>
              <a:round/>
              <a:headEnd/>
              <a:tailEnd/>
            </a:ln>
            <a:effectLst/>
          </p:spPr>
          <p:txBody>
            <a:bodyPr vert="eaVert" wrap="none" lIns="72000" tIns="72000" rIns="72000" bIns="900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01688"/>
              <a:endParaRPr lang="en-US" altLang="ko-KR" b="1" spc="-5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98" name="직사각형 197"/>
            <p:cNvSpPr/>
            <p:nvPr/>
          </p:nvSpPr>
          <p:spPr bwMode="gray">
            <a:xfrm>
              <a:off x="5701094" y="2507519"/>
              <a:ext cx="3713958" cy="111566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0173D4"/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grpSp>
        <p:nvGrpSpPr>
          <p:cNvPr id="199" name="그룹 198"/>
          <p:cNvGrpSpPr/>
          <p:nvPr/>
        </p:nvGrpSpPr>
        <p:grpSpPr>
          <a:xfrm>
            <a:off x="6419128" y="4486799"/>
            <a:ext cx="4138924" cy="1022673"/>
            <a:chOff x="5276128" y="3596440"/>
            <a:chExt cx="4138924" cy="666076"/>
          </a:xfrm>
        </p:grpSpPr>
        <p:grpSp>
          <p:nvGrpSpPr>
            <p:cNvPr id="200" name="그룹 199"/>
            <p:cNvGrpSpPr/>
            <p:nvPr/>
          </p:nvGrpSpPr>
          <p:grpSpPr>
            <a:xfrm>
              <a:off x="5276128" y="3709340"/>
              <a:ext cx="4138924" cy="553176"/>
              <a:chOff x="490817" y="3439021"/>
              <a:chExt cx="4138924" cy="823496"/>
            </a:xfrm>
          </p:grpSpPr>
          <p:sp>
            <p:nvSpPr>
              <p:cNvPr id="206" name="모서리가 둥근 직사각형 205"/>
              <p:cNvSpPr/>
              <p:nvPr/>
            </p:nvSpPr>
            <p:spPr bwMode="gray">
              <a:xfrm>
                <a:off x="490817" y="3439021"/>
                <a:ext cx="504054" cy="823496"/>
              </a:xfrm>
              <a:prstGeom prst="roundRect">
                <a:avLst/>
              </a:prstGeom>
              <a:gradFill rotWithShape="1">
                <a:gsLst>
                  <a:gs pos="0">
                    <a:srgbClr val="B2B2B2"/>
                  </a:gs>
                  <a:gs pos="4700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1"/>
              </a:gradFill>
              <a:ln w="12700" algn="ctr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  <a:effectLst>
                <a:outerShdw blurRad="50800" dist="25400" dir="42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eaVert" wrap="none" lIns="72000" tIns="72000" rIns="72000" bIns="72000" anchor="ctr"/>
              <a:lstStyle/>
              <a:p>
                <a:pPr algn="ctr" defTabSz="801688"/>
                <a:r>
                  <a:rPr lang="en-US" altLang="ko-KR" b="1" spc="-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IaaS</a:t>
                </a:r>
              </a:p>
            </p:txBody>
          </p:sp>
          <p:sp>
            <p:nvSpPr>
              <p:cNvPr id="207" name="직사각형 206"/>
              <p:cNvSpPr/>
              <p:nvPr/>
            </p:nvSpPr>
            <p:spPr bwMode="gray">
              <a:xfrm>
                <a:off x="915783" y="3449040"/>
                <a:ext cx="3713958" cy="813477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endParaRPr lang="en-US" altLang="ko-KR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</p:grpSp>
        <p:grpSp>
          <p:nvGrpSpPr>
            <p:cNvPr id="201" name="그룹 200"/>
            <p:cNvGrpSpPr/>
            <p:nvPr/>
          </p:nvGrpSpPr>
          <p:grpSpPr>
            <a:xfrm>
              <a:off x="5882175" y="4075768"/>
              <a:ext cx="3328735" cy="128712"/>
              <a:chOff x="1096864" y="4050362"/>
              <a:chExt cx="3130878" cy="163622"/>
            </a:xfrm>
          </p:grpSpPr>
          <p:sp>
            <p:nvSpPr>
              <p:cNvPr id="203" name="직사각형 202"/>
              <p:cNvSpPr/>
              <p:nvPr/>
            </p:nvSpPr>
            <p:spPr bwMode="gray">
              <a:xfrm>
                <a:off x="1096864" y="4050362"/>
                <a:ext cx="931961" cy="16362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b="1" spc="-5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서버</a:t>
                </a:r>
                <a:endParaRPr lang="en-US" altLang="ko-KR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204" name="직사각형 203"/>
              <p:cNvSpPr/>
              <p:nvPr/>
            </p:nvSpPr>
            <p:spPr bwMode="gray">
              <a:xfrm>
                <a:off x="2196322" y="4050362"/>
                <a:ext cx="931961" cy="16362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b="1" spc="-5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스토리지</a:t>
                </a:r>
                <a:endParaRPr lang="en-US" altLang="ko-KR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205" name="직사각형 204"/>
              <p:cNvSpPr/>
              <p:nvPr/>
            </p:nvSpPr>
            <p:spPr bwMode="gray">
              <a:xfrm>
                <a:off x="3295781" y="4050362"/>
                <a:ext cx="931961" cy="16362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b="1" spc="-5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네트워크</a:t>
                </a:r>
                <a:endParaRPr lang="en-US" altLang="ko-KR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202" name="직사각형 201"/>
            <p:cNvSpPr/>
            <p:nvPr/>
          </p:nvSpPr>
          <p:spPr bwMode="gray">
            <a:xfrm>
              <a:off x="6810646" y="3596440"/>
              <a:ext cx="2400263" cy="212114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가상머신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9167533" y="2078676"/>
            <a:ext cx="1169168" cy="1608157"/>
            <a:chOff x="8024533" y="1977685"/>
            <a:chExt cx="1169168" cy="1608157"/>
          </a:xfrm>
        </p:grpSpPr>
        <p:sp>
          <p:nvSpPr>
            <p:cNvPr id="208" name="모서리가 둥근 직사각형 207"/>
            <p:cNvSpPr/>
            <p:nvPr/>
          </p:nvSpPr>
          <p:spPr bwMode="gray">
            <a:xfrm>
              <a:off x="8024533" y="1977685"/>
              <a:ext cx="1169168" cy="1608157"/>
            </a:xfrm>
            <a:prstGeom prst="roundRect">
              <a:avLst>
                <a:gd name="adj" fmla="val 5427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 환경</a:t>
              </a:r>
              <a:endPara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9" name="직사각형 208"/>
            <p:cNvSpPr/>
            <p:nvPr/>
          </p:nvSpPr>
          <p:spPr bwMode="gray">
            <a:xfrm>
              <a:off x="8090031" y="2753063"/>
              <a:ext cx="1042322" cy="729383"/>
            </a:xfrm>
            <a:prstGeom prst="rect">
              <a:avLst/>
            </a:prstGeom>
            <a:solidFill>
              <a:srgbClr val="1F497D">
                <a:lumMod val="20000"/>
                <a:lumOff val="80000"/>
              </a:srgbClr>
            </a:solidFill>
            <a:ln w="6350" algn="ctr">
              <a:solidFill>
                <a:srgbClr val="0173D4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72000" tIns="46800" rIns="72000" bIns="9000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688" latinLnBrk="0"/>
              <a:r>
                <a:rPr lang="ko-KR" altLang="en-US" sz="1100" b="1" kern="0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itchFamily="50" charset="-127"/>
                  <a:cs typeface="Arial" pitchFamily="34" charset="0"/>
                </a:rPr>
                <a:t>컨테이너</a:t>
              </a:r>
              <a:endParaRPr lang="en-US" altLang="ko-KR" sz="1100" b="1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grpSp>
          <p:nvGrpSpPr>
            <p:cNvPr id="210" name="그룹 209"/>
            <p:cNvGrpSpPr/>
            <p:nvPr/>
          </p:nvGrpSpPr>
          <p:grpSpPr>
            <a:xfrm>
              <a:off x="8150356" y="3007493"/>
              <a:ext cx="928875" cy="411621"/>
              <a:chOff x="5535833" y="3410960"/>
              <a:chExt cx="1469878" cy="664565"/>
            </a:xfrm>
          </p:grpSpPr>
          <p:sp>
            <p:nvSpPr>
              <p:cNvPr id="211" name="직사각형 210"/>
              <p:cNvSpPr/>
              <p:nvPr/>
            </p:nvSpPr>
            <p:spPr bwMode="gray">
              <a:xfrm>
                <a:off x="5535833" y="3410960"/>
                <a:ext cx="1469878" cy="298659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프레임워크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212" name="직사각형 211"/>
              <p:cNvSpPr/>
              <p:nvPr/>
            </p:nvSpPr>
            <p:spPr bwMode="gray">
              <a:xfrm>
                <a:off x="5535833" y="3804015"/>
                <a:ext cx="1469878" cy="27151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미들웨어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214" name="직사각형 213"/>
            <p:cNvSpPr/>
            <p:nvPr/>
          </p:nvSpPr>
          <p:spPr bwMode="gray">
            <a:xfrm>
              <a:off x="8090031" y="2284100"/>
              <a:ext cx="1042322" cy="3455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어플리케이션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8593856" y="2288810"/>
            <a:ext cx="1169168" cy="1608157"/>
            <a:chOff x="7450856" y="2204295"/>
            <a:chExt cx="1169168" cy="1608157"/>
          </a:xfrm>
        </p:grpSpPr>
        <p:sp>
          <p:nvSpPr>
            <p:cNvPr id="215" name="모서리가 둥근 직사각형 214"/>
            <p:cNvSpPr/>
            <p:nvPr/>
          </p:nvSpPr>
          <p:spPr bwMode="gray">
            <a:xfrm>
              <a:off x="7450856" y="2204295"/>
              <a:ext cx="1169168" cy="1608157"/>
            </a:xfrm>
            <a:prstGeom prst="roundRect">
              <a:avLst>
                <a:gd name="adj" fmla="val 5427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테스트 환경</a:t>
              </a:r>
              <a:endPara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6" name="직사각형 215"/>
            <p:cNvSpPr/>
            <p:nvPr/>
          </p:nvSpPr>
          <p:spPr bwMode="gray">
            <a:xfrm>
              <a:off x="7516354" y="2979673"/>
              <a:ext cx="1042322" cy="729383"/>
            </a:xfrm>
            <a:prstGeom prst="rect">
              <a:avLst/>
            </a:prstGeom>
            <a:solidFill>
              <a:srgbClr val="1F497D">
                <a:lumMod val="20000"/>
                <a:lumOff val="80000"/>
              </a:srgbClr>
            </a:solidFill>
            <a:ln w="6350" algn="ctr">
              <a:solidFill>
                <a:srgbClr val="0173D4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72000" tIns="46800" rIns="72000" bIns="9000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688" latinLnBrk="0"/>
              <a:r>
                <a:rPr lang="ko-KR" altLang="en-US" sz="1100" b="1" kern="0" spc="-50" dirty="0" err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itchFamily="50" charset="-127"/>
                  <a:cs typeface="Arial" pitchFamily="34" charset="0"/>
                </a:rPr>
                <a:t>컨체이너</a:t>
              </a:r>
              <a:endParaRPr lang="en-US" altLang="ko-KR" sz="1100" b="1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grpSp>
          <p:nvGrpSpPr>
            <p:cNvPr id="217" name="그룹 216"/>
            <p:cNvGrpSpPr/>
            <p:nvPr/>
          </p:nvGrpSpPr>
          <p:grpSpPr>
            <a:xfrm>
              <a:off x="7576679" y="3218345"/>
              <a:ext cx="928875" cy="427919"/>
              <a:chOff x="5535833" y="3385506"/>
              <a:chExt cx="1469878" cy="690875"/>
            </a:xfrm>
          </p:grpSpPr>
          <p:sp>
            <p:nvSpPr>
              <p:cNvPr id="218" name="직사각형 217"/>
              <p:cNvSpPr/>
              <p:nvPr/>
            </p:nvSpPr>
            <p:spPr bwMode="gray">
              <a:xfrm>
                <a:off x="5535833" y="3385506"/>
                <a:ext cx="1469878" cy="29866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프레임워크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219" name="직사각형 218"/>
              <p:cNvSpPr/>
              <p:nvPr/>
            </p:nvSpPr>
            <p:spPr bwMode="gray">
              <a:xfrm>
                <a:off x="5535833" y="3777721"/>
                <a:ext cx="1469878" cy="29866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미들웨어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221" name="직사각형 220"/>
            <p:cNvSpPr/>
            <p:nvPr/>
          </p:nvSpPr>
          <p:spPr bwMode="gray">
            <a:xfrm>
              <a:off x="7516354" y="2510710"/>
              <a:ext cx="1042322" cy="3455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어플리케이션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29" name="직선 화살표 연결선 228"/>
          <p:cNvCxnSpPr/>
          <p:nvPr/>
        </p:nvCxnSpPr>
        <p:spPr>
          <a:xfrm>
            <a:off x="6848882" y="4783823"/>
            <a:ext cx="1104764" cy="5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직사각형 230"/>
          <p:cNvSpPr/>
          <p:nvPr/>
        </p:nvSpPr>
        <p:spPr>
          <a:xfrm>
            <a:off x="2376786" y="3995116"/>
            <a:ext cx="479618" cy="27699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표준화된</a:t>
            </a:r>
            <a:r>
              <a:rPr lang="en-US" altLang="ko-KR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HW</a:t>
            </a:r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의</a:t>
            </a:r>
            <a:endParaRPr lang="en-US" altLang="ko-KR" sz="1200" b="1" spc="-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/>
            <a:r>
              <a:rPr lang="en-US" altLang="ko-KR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자동 구성</a:t>
            </a:r>
            <a:endParaRPr lang="ko-KR" altLang="en-US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7142139" y="4766165"/>
            <a:ext cx="479618" cy="27699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표준화된 </a:t>
            </a:r>
            <a:r>
              <a:rPr lang="en-US" altLang="ko-KR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HW</a:t>
            </a:r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의</a:t>
            </a:r>
            <a:endParaRPr lang="en-US" altLang="ko-KR" sz="1200" b="1" spc="-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/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자동 구성</a:t>
            </a:r>
            <a:endParaRPr lang="ko-KR" altLang="en-US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142139" y="3755685"/>
            <a:ext cx="479618" cy="27699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표준화된 </a:t>
            </a:r>
            <a:r>
              <a:rPr lang="en-US" altLang="ko-KR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</a:t>
            </a:r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의</a:t>
            </a:r>
            <a:endParaRPr lang="en-US" altLang="ko-KR" sz="1200" b="1" spc="-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/>
            <a:r>
              <a:rPr lang="ko-KR" altLang="en-US" sz="1200" b="1" spc="-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자동 구성</a:t>
            </a:r>
            <a:endParaRPr lang="ko-KR" altLang="en-US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4" name="그룹 233"/>
          <p:cNvGrpSpPr/>
          <p:nvPr/>
        </p:nvGrpSpPr>
        <p:grpSpPr>
          <a:xfrm>
            <a:off x="6406378" y="2443091"/>
            <a:ext cx="491597" cy="608604"/>
            <a:chOff x="5194706" y="2544227"/>
            <a:chExt cx="812199" cy="971555"/>
          </a:xfrm>
        </p:grpSpPr>
        <p:pic>
          <p:nvPicPr>
            <p:cNvPr id="235" name="Picture 2" descr="https://d30y9cdsu7xlg0.cloudfront.net/png/27703-200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1565" y="2605144"/>
              <a:ext cx="595177" cy="595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6" name="직사각형 235"/>
            <p:cNvSpPr/>
            <p:nvPr/>
          </p:nvSpPr>
          <p:spPr>
            <a:xfrm>
              <a:off x="5369344" y="3238783"/>
              <a:ext cx="479618" cy="276999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ctr"/>
              <a:r>
                <a:rPr lang="ko-KR" altLang="en-US" sz="12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개발자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5194706" y="2544227"/>
              <a:ext cx="812199" cy="96793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 latinLnBrk="0"/>
              <a:endPara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9" name="직사각형 238"/>
          <p:cNvSpPr/>
          <p:nvPr/>
        </p:nvSpPr>
        <p:spPr>
          <a:xfrm>
            <a:off x="7168520" y="2217706"/>
            <a:ext cx="479618" cy="27699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altLang="ko-KR" sz="12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</a:p>
          <a:p>
            <a:pPr algn="ctr"/>
            <a:r>
              <a:rPr lang="ko-KR" altLang="en-US" sz="12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코딩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제목 1"/>
          <p:cNvSpPr txBox="1">
            <a:spLocks/>
          </p:cNvSpPr>
          <p:nvPr/>
        </p:nvSpPr>
        <p:spPr>
          <a:xfrm>
            <a:off x="1454856" y="108558"/>
            <a:ext cx="8637588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9" name="직사각형 108"/>
          <p:cNvSpPr/>
          <p:nvPr/>
        </p:nvSpPr>
        <p:spPr bwMode="gray">
          <a:xfrm>
            <a:off x="7956270" y="4197176"/>
            <a:ext cx="2400263" cy="235137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운영체제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938040" y="2535368"/>
            <a:ext cx="1169168" cy="1608157"/>
            <a:chOff x="6795040" y="2450853"/>
            <a:chExt cx="1169168" cy="1608157"/>
          </a:xfrm>
        </p:grpSpPr>
        <p:sp>
          <p:nvSpPr>
            <p:cNvPr id="222" name="모서리가 둥근 직사각형 221"/>
            <p:cNvSpPr/>
            <p:nvPr/>
          </p:nvSpPr>
          <p:spPr bwMode="gray">
            <a:xfrm>
              <a:off x="6795040" y="2450853"/>
              <a:ext cx="1169168" cy="1608157"/>
            </a:xfrm>
            <a:prstGeom prst="roundRect">
              <a:avLst>
                <a:gd name="adj" fmla="val 5427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환경</a:t>
              </a:r>
              <a:endPara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3" name="직사각형 222"/>
            <p:cNvSpPr/>
            <p:nvPr/>
          </p:nvSpPr>
          <p:spPr bwMode="gray">
            <a:xfrm>
              <a:off x="6853164" y="3226231"/>
              <a:ext cx="1042322" cy="729383"/>
            </a:xfrm>
            <a:prstGeom prst="rect">
              <a:avLst/>
            </a:prstGeom>
            <a:solidFill>
              <a:srgbClr val="1F497D">
                <a:lumMod val="20000"/>
                <a:lumOff val="80000"/>
              </a:srgbClr>
            </a:solidFill>
            <a:ln w="6350" algn="ctr">
              <a:solidFill>
                <a:srgbClr val="0173D4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72000" tIns="46800" rIns="72000" bIns="9000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801688" latinLnBrk="0"/>
              <a:r>
                <a:rPr lang="ko-KR" altLang="en-US" sz="1100" b="1" kern="0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itchFamily="50" charset="-127"/>
                  <a:cs typeface="Arial" pitchFamily="34" charset="0"/>
                </a:rPr>
                <a:t>컨테이너</a:t>
              </a:r>
              <a:endParaRPr lang="en-US" altLang="ko-KR" sz="1100" b="1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grpSp>
          <p:nvGrpSpPr>
            <p:cNvPr id="224" name="그룹 223"/>
            <p:cNvGrpSpPr/>
            <p:nvPr/>
          </p:nvGrpSpPr>
          <p:grpSpPr>
            <a:xfrm>
              <a:off x="6913488" y="3472785"/>
              <a:ext cx="928875" cy="420036"/>
              <a:chOff x="5524164" y="3398232"/>
              <a:chExt cx="1469878" cy="678148"/>
            </a:xfrm>
          </p:grpSpPr>
          <p:sp>
            <p:nvSpPr>
              <p:cNvPr id="225" name="직사각형 224"/>
              <p:cNvSpPr/>
              <p:nvPr/>
            </p:nvSpPr>
            <p:spPr bwMode="gray">
              <a:xfrm>
                <a:off x="5524164" y="3398232"/>
                <a:ext cx="1469878" cy="298661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프레임워크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226" name="직사각형 225"/>
              <p:cNvSpPr/>
              <p:nvPr/>
            </p:nvSpPr>
            <p:spPr bwMode="gray">
              <a:xfrm>
                <a:off x="5524164" y="3777720"/>
                <a:ext cx="1469878" cy="29866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미들웨어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228" name="직사각형 227"/>
            <p:cNvSpPr/>
            <p:nvPr/>
          </p:nvSpPr>
          <p:spPr bwMode="gray">
            <a:xfrm>
              <a:off x="6860538" y="2757268"/>
              <a:ext cx="1042322" cy="3455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어플리케이션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38" name="직선 화살표 연결선 212"/>
          <p:cNvCxnSpPr>
            <a:stCxn id="235" idx="3"/>
            <a:endCxn id="228" idx="1"/>
          </p:cNvCxnSpPr>
          <p:nvPr/>
        </p:nvCxnSpPr>
        <p:spPr>
          <a:xfrm>
            <a:off x="6837350" y="2667667"/>
            <a:ext cx="1166189" cy="346914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직선 화살표 연결선 229"/>
          <p:cNvCxnSpPr>
            <a:endCxn id="223" idx="1"/>
          </p:cNvCxnSpPr>
          <p:nvPr/>
        </p:nvCxnSpPr>
        <p:spPr>
          <a:xfrm flipV="1">
            <a:off x="6840968" y="3675437"/>
            <a:ext cx="1155197" cy="87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 rot="5400000">
            <a:off x="6198009" y="3702123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파스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12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114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418852" y="116632"/>
            <a:ext cx="8637588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모서리가 둥근 직사각형 2"/>
          <p:cNvSpPr/>
          <p:nvPr/>
        </p:nvSpPr>
        <p:spPr bwMode="gray">
          <a:xfrm>
            <a:off x="1487875" y="980729"/>
            <a:ext cx="9251512" cy="46799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defTabSz="80168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spc="-50" dirty="0">
                <a:solidFill>
                  <a:schemeClr val="bg1"/>
                </a:solidFill>
                <a:cs typeface="Arial" pitchFamily="34" charset="0"/>
              </a:rPr>
              <a:t>리소스 자원 감시를 통한 자동 감지</a:t>
            </a:r>
            <a:r>
              <a:rPr kumimoji="0" lang="en-US" altLang="ko-KR" sz="1600" b="1" spc="-50" dirty="0">
                <a:solidFill>
                  <a:schemeClr val="bg1"/>
                </a:solidFill>
                <a:cs typeface="Arial" pitchFamily="34" charset="0"/>
              </a:rPr>
              <a:t>•</a:t>
            </a:r>
            <a:r>
              <a:rPr kumimoji="0" lang="ko-KR" altLang="en-US" sz="1600" b="1" spc="-50" dirty="0">
                <a:solidFill>
                  <a:schemeClr val="bg1"/>
                </a:solidFill>
                <a:cs typeface="Arial" pitchFamily="34" charset="0"/>
              </a:rPr>
              <a:t>확장 기능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gray">
          <a:xfrm>
            <a:off x="1736223" y="5601275"/>
            <a:ext cx="8986369" cy="8242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288000" tIns="180000" rIns="72000" bIns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93663" indent="-93663" defTabSz="801688" eaLnBrk="0" latinLnBrk="0" hangingPunct="0">
              <a:buFont typeface="Arial" panose="020B0604020202020204" pitchFamily="34" charset="0"/>
              <a:buChar char="•"/>
            </a:pPr>
            <a:r>
              <a:rPr lang="en-US" altLang="ko-KR" sz="1200" b="1" spc="-50" dirty="0">
                <a:solidFill>
                  <a:prstClr val="black"/>
                </a:solidFill>
                <a:cs typeface="Arial" pitchFamily="34" charset="0"/>
              </a:rPr>
              <a:t>CPU, Memory, Disk </a:t>
            </a:r>
            <a:r>
              <a:rPr lang="ko-KR" altLang="en-US" sz="1200" b="1" spc="-50" dirty="0">
                <a:solidFill>
                  <a:prstClr val="black"/>
                </a:solidFill>
                <a:cs typeface="Arial" pitchFamily="34" charset="0"/>
              </a:rPr>
              <a:t>모니터링을 통한 </a:t>
            </a:r>
            <a:endParaRPr lang="en-US" altLang="ko-KR" sz="1200" b="1" spc="-50" dirty="0">
              <a:solidFill>
                <a:prstClr val="black"/>
              </a:solidFill>
              <a:cs typeface="Arial" pitchFamily="34" charset="0"/>
            </a:endParaRPr>
          </a:p>
          <a:p>
            <a:pPr defTabSz="801688" eaLnBrk="0" latinLnBrk="0" hangingPunct="0"/>
            <a:r>
              <a:rPr lang="en-US" altLang="ko-KR" sz="1200" b="1" spc="-50" dirty="0">
                <a:solidFill>
                  <a:prstClr val="black"/>
                </a:solidFill>
                <a:cs typeface="Arial" pitchFamily="34" charset="0"/>
              </a:rPr>
              <a:t>  ▶ </a:t>
            </a:r>
            <a:r>
              <a:rPr lang="ko-KR" altLang="en-US" sz="1200" b="1" spc="-50" dirty="0">
                <a:solidFill>
                  <a:prstClr val="black"/>
                </a:solidFill>
                <a:cs typeface="Arial" pitchFamily="34" charset="0"/>
              </a:rPr>
              <a:t>어플리케이션 자동 자원 확장</a:t>
            </a:r>
            <a:endParaRPr lang="en-US" altLang="ko-KR" sz="1200" b="1" spc="-50" dirty="0">
              <a:solidFill>
                <a:prstClr val="black"/>
              </a:solidFill>
              <a:cs typeface="Arial" pitchFamily="34" charset="0"/>
            </a:endParaRPr>
          </a:p>
          <a:p>
            <a:pPr defTabSz="801688" eaLnBrk="0" latinLnBrk="0" hangingPunct="0"/>
            <a:r>
              <a:rPr lang="en-US" altLang="ko-KR" sz="1200" b="1" spc="-50" dirty="0">
                <a:solidFill>
                  <a:prstClr val="black"/>
                </a:solidFill>
                <a:cs typeface="Arial" pitchFamily="34" charset="0"/>
              </a:rPr>
              <a:t>  ▶ VM </a:t>
            </a:r>
            <a:r>
              <a:rPr lang="ko-KR" altLang="en-US" sz="1200" b="1" spc="-50" dirty="0">
                <a:solidFill>
                  <a:prstClr val="black"/>
                </a:solidFill>
                <a:cs typeface="Arial" pitchFamily="34" charset="0"/>
              </a:rPr>
              <a:t>자동 자원 확장</a:t>
            </a:r>
            <a:endParaRPr lang="ko-KR" altLang="ko-KR" sz="1200" b="1" spc="-5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" name="오각형 4"/>
          <p:cNvSpPr/>
          <p:nvPr/>
        </p:nvSpPr>
        <p:spPr bwMode="gray">
          <a:xfrm>
            <a:off x="1456355" y="5411959"/>
            <a:ext cx="2057960" cy="378630"/>
          </a:xfrm>
          <a:prstGeom prst="homePlate">
            <a:avLst/>
          </a:prstGeom>
          <a:gradFill>
            <a:gsLst>
              <a:gs pos="0">
                <a:srgbClr val="4DABF5"/>
              </a:gs>
              <a:gs pos="47000">
                <a:srgbClr val="0173D4"/>
              </a:gs>
              <a:gs pos="100000">
                <a:srgbClr val="0048AC"/>
              </a:gs>
            </a:gsLst>
            <a:lin ang="2700000" scaled="1"/>
          </a:gra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/>
            <a:r>
              <a:rPr lang="ko-KR" altLang="en-US" sz="1200" b="1" spc="-50" dirty="0">
                <a:solidFill>
                  <a:prstClr val="white">
                    <a:lumMod val="95000"/>
                  </a:prstClr>
                </a:solidFill>
                <a:cs typeface="Arial" pitchFamily="34" charset="0"/>
              </a:rPr>
              <a:t>주요 특장점</a:t>
            </a:r>
            <a:endParaRPr lang="en-US" altLang="ko-KR" sz="1200" b="1" spc="-50" dirty="0">
              <a:solidFill>
                <a:prstClr val="white">
                  <a:lumMod val="95000"/>
                </a:prstClr>
              </a:solidFill>
              <a:cs typeface="Arial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gray">
          <a:xfrm>
            <a:off x="1473495" y="1608357"/>
            <a:ext cx="2968014" cy="36607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eaLnBrk="0" latinLnBrk="0" hangingPunct="0">
              <a:defRPr/>
            </a:pPr>
            <a:endParaRPr lang="ko-KR" altLang="ko-KR" spc="-50" dirty="0">
              <a:cs typeface="Arial" pitchFamily="34" charset="0"/>
            </a:endParaRPr>
          </a:p>
        </p:txBody>
      </p:sp>
      <p:sp>
        <p:nvSpPr>
          <p:cNvPr id="7" name="모서리가 둥근 직사각형 6"/>
          <p:cNvSpPr/>
          <p:nvPr/>
        </p:nvSpPr>
        <p:spPr bwMode="gray">
          <a:xfrm>
            <a:off x="1473495" y="1594164"/>
            <a:ext cx="2968014" cy="379952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어플리케이션 자원 감시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•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확장</a:t>
            </a: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gray">
          <a:xfrm>
            <a:off x="4606986" y="1608357"/>
            <a:ext cx="2968014" cy="36607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eaLnBrk="0" latinLnBrk="0" hangingPunct="0">
              <a:defRPr/>
            </a:pPr>
            <a:endParaRPr lang="ko-KR" altLang="ko-KR" spc="-50" dirty="0">
              <a:cs typeface="Aria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 bwMode="gray">
          <a:xfrm>
            <a:off x="4606986" y="1594164"/>
            <a:ext cx="2968014" cy="379952"/>
          </a:xfrm>
          <a:prstGeom prst="roundRect">
            <a:avLst>
              <a:gd name="adj" fmla="val 0"/>
            </a:avLst>
          </a:prstGeom>
          <a:solidFill>
            <a:srgbClr val="1F497D">
              <a:lumMod val="20000"/>
              <a:lumOff val="80000"/>
            </a:srgbClr>
          </a:solidFill>
          <a:ln w="6350" algn="ctr">
            <a:solidFill>
              <a:srgbClr val="4BACC6">
                <a:lumMod val="60000"/>
                <a:lumOff val="40000"/>
              </a:srgbClr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latinLnBrk="0"/>
            <a:r>
              <a:rPr lang="ko-KR" altLang="en-US" b="1" kern="0" spc="-50" dirty="0">
                <a:solidFill>
                  <a:prstClr val="black"/>
                </a:solidFill>
                <a:cs typeface="Arial" pitchFamily="34" charset="0"/>
              </a:rPr>
              <a:t>가상 머신 자원 감시</a:t>
            </a:r>
            <a:r>
              <a:rPr lang="en-US" altLang="ko-KR" b="1" kern="0" spc="-50" dirty="0">
                <a:solidFill>
                  <a:prstClr val="black"/>
                </a:solidFill>
                <a:cs typeface="Arial" pitchFamily="34" charset="0"/>
              </a:rPr>
              <a:t>•</a:t>
            </a:r>
            <a:r>
              <a:rPr lang="ko-KR" altLang="en-US" b="1" kern="0" spc="-50" dirty="0">
                <a:solidFill>
                  <a:prstClr val="black"/>
                </a:solidFill>
                <a:cs typeface="Arial" pitchFamily="34" charset="0"/>
              </a:rPr>
              <a:t>확장</a:t>
            </a:r>
          </a:p>
        </p:txBody>
      </p:sp>
      <p:sp>
        <p:nvSpPr>
          <p:cNvPr id="10" name="AutoShape 2"/>
          <p:cNvSpPr>
            <a:spLocks noChangeArrowheads="1"/>
          </p:cNvSpPr>
          <p:nvPr/>
        </p:nvSpPr>
        <p:spPr bwMode="gray">
          <a:xfrm>
            <a:off x="7740478" y="1608357"/>
            <a:ext cx="2968014" cy="36607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eaLnBrk="0" latinLnBrk="0" hangingPunct="0">
              <a:defRPr/>
            </a:pPr>
            <a:endParaRPr lang="ko-KR" altLang="ko-KR" spc="-50" dirty="0">
              <a:cs typeface="Arial" pitchFamily="34" charset="0"/>
            </a:endParaRPr>
          </a:p>
        </p:txBody>
      </p:sp>
      <p:sp>
        <p:nvSpPr>
          <p:cNvPr id="11" name="모서리가 둥근 직사각형 10"/>
          <p:cNvSpPr/>
          <p:nvPr/>
        </p:nvSpPr>
        <p:spPr bwMode="gray">
          <a:xfrm>
            <a:off x="7740478" y="1594164"/>
            <a:ext cx="2968014" cy="37995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4DABF5"/>
              </a:gs>
              <a:gs pos="47000">
                <a:srgbClr val="0173D4"/>
              </a:gs>
              <a:gs pos="100000">
                <a:srgbClr val="0048AC"/>
              </a:gs>
            </a:gsLst>
            <a:lin ang="2700000" scaled="1"/>
          </a:gra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/>
            <a:r>
              <a:rPr lang="en-US" altLang="ko-KR" b="1" spc="-50" dirty="0">
                <a:solidFill>
                  <a:prstClr val="white">
                    <a:lumMod val="95000"/>
                  </a:prstClr>
                </a:solidFill>
                <a:cs typeface="Arial" pitchFamily="34" charset="0"/>
              </a:rPr>
              <a:t>Only IaaS </a:t>
            </a:r>
            <a:r>
              <a:rPr lang="ko-KR" altLang="en-US" b="1" spc="-50" dirty="0">
                <a:solidFill>
                  <a:prstClr val="white">
                    <a:lumMod val="95000"/>
                  </a:prstClr>
                </a:solidFill>
                <a:cs typeface="Arial" pitchFamily="34" charset="0"/>
              </a:rPr>
              <a:t>경우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784477" y="2643782"/>
            <a:ext cx="1432697" cy="1472828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364660" y="2977360"/>
            <a:ext cx="273021" cy="228530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793790" y="2977960"/>
            <a:ext cx="271589" cy="227331"/>
          </a:xfrm>
          <a:prstGeom prst="roundRect">
            <a:avLst>
              <a:gd name="adj" fmla="val 1761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dirty="0">
              <a:solidFill>
                <a:schemeClr val="bg1"/>
              </a:solidFill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4936960" y="3353854"/>
            <a:ext cx="1128417" cy="228535"/>
            <a:chOff x="3042498" y="3089066"/>
            <a:chExt cx="1558078" cy="243448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5" name="모서리가 둥근 직사각형 94"/>
            <p:cNvSpPr/>
            <p:nvPr/>
          </p:nvSpPr>
          <p:spPr>
            <a:xfrm>
              <a:off x="3633048" y="3089066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4225576" y="3089705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7" name="모서리가 둥근 직사각형 96"/>
            <p:cNvSpPr/>
            <p:nvPr/>
          </p:nvSpPr>
          <p:spPr>
            <a:xfrm>
              <a:off x="3042498" y="3089072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4936960" y="3730340"/>
            <a:ext cx="1128417" cy="228529"/>
            <a:chOff x="3042498" y="3128183"/>
            <a:chExt cx="1558078" cy="24344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2" name="모서리가 둥근 직사각형 91"/>
            <p:cNvSpPr/>
            <p:nvPr/>
          </p:nvSpPr>
          <p:spPr>
            <a:xfrm>
              <a:off x="363304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3" name="모서리가 둥근 직사각형 92"/>
            <p:cNvSpPr/>
            <p:nvPr/>
          </p:nvSpPr>
          <p:spPr>
            <a:xfrm>
              <a:off x="4225576" y="3128821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4" name="모서리가 둥근 직사각형 93"/>
            <p:cNvSpPr/>
            <p:nvPr/>
          </p:nvSpPr>
          <p:spPr>
            <a:xfrm>
              <a:off x="304249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TextBox 222"/>
          <p:cNvSpPr txBox="1"/>
          <p:nvPr/>
        </p:nvSpPr>
        <p:spPr>
          <a:xfrm>
            <a:off x="4784477" y="2668407"/>
            <a:ext cx="1432697" cy="30826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r>
              <a:rPr lang="ko-KR" altLang="en-US" sz="1200" b="1" spc="-150" dirty="0"/>
              <a:t>가상머신</a:t>
            </a:r>
            <a:endParaRPr lang="en-US" altLang="ko-KR" sz="1200" spc="-150" dirty="0"/>
          </a:p>
        </p:txBody>
      </p:sp>
      <p:grpSp>
        <p:nvGrpSpPr>
          <p:cNvPr id="18" name="그룹 17"/>
          <p:cNvGrpSpPr/>
          <p:nvPr/>
        </p:nvGrpSpPr>
        <p:grpSpPr>
          <a:xfrm>
            <a:off x="5996122" y="3295931"/>
            <a:ext cx="1432697" cy="1472828"/>
            <a:chOff x="4835042" y="2785816"/>
            <a:chExt cx="1432697" cy="1472828"/>
          </a:xfrm>
        </p:grpSpPr>
        <p:sp>
          <p:nvSpPr>
            <p:cNvPr id="79" name="모서리가 둥근 직사각형 78"/>
            <p:cNvSpPr/>
            <p:nvPr/>
          </p:nvSpPr>
          <p:spPr>
            <a:xfrm>
              <a:off x="4835042" y="2785816"/>
              <a:ext cx="1432697" cy="1472828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5415225" y="3119394"/>
              <a:ext cx="273021" cy="22853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모서리가 둥근 직사각형 80"/>
            <p:cNvSpPr/>
            <p:nvPr/>
          </p:nvSpPr>
          <p:spPr>
            <a:xfrm>
              <a:off x="5844355" y="3119993"/>
              <a:ext cx="271589" cy="227332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모서리가 둥근 직사각형 81"/>
            <p:cNvSpPr/>
            <p:nvPr/>
          </p:nvSpPr>
          <p:spPr>
            <a:xfrm>
              <a:off x="4987526" y="3119394"/>
              <a:ext cx="273021" cy="22853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83" name="그룹 82"/>
            <p:cNvGrpSpPr/>
            <p:nvPr/>
          </p:nvGrpSpPr>
          <p:grpSpPr>
            <a:xfrm>
              <a:off x="4987525" y="3495887"/>
              <a:ext cx="1128417" cy="228535"/>
              <a:chOff x="3042498" y="3089066"/>
              <a:chExt cx="1558078" cy="243448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89" name="모서리가 둥근 직사각형 88"/>
              <p:cNvSpPr/>
              <p:nvPr/>
            </p:nvSpPr>
            <p:spPr>
              <a:xfrm>
                <a:off x="3633048" y="3089066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0" name="모서리가 둥근 직사각형 89"/>
              <p:cNvSpPr/>
              <p:nvPr/>
            </p:nvSpPr>
            <p:spPr>
              <a:xfrm>
                <a:off x="4225576" y="3089705"/>
                <a:ext cx="375000" cy="242166"/>
              </a:xfrm>
              <a:prstGeom prst="roundRect">
                <a:avLst>
                  <a:gd name="adj" fmla="val 1761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1" name="모서리가 둥근 직사각형 90"/>
              <p:cNvSpPr/>
              <p:nvPr/>
            </p:nvSpPr>
            <p:spPr>
              <a:xfrm>
                <a:off x="3042498" y="3089072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84" name="그룹 83"/>
            <p:cNvGrpSpPr/>
            <p:nvPr/>
          </p:nvGrpSpPr>
          <p:grpSpPr>
            <a:xfrm>
              <a:off x="4987525" y="3872373"/>
              <a:ext cx="1128417" cy="228529"/>
              <a:chOff x="3042498" y="3128183"/>
              <a:chExt cx="1558078" cy="24344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86" name="모서리가 둥근 직사각형 85"/>
              <p:cNvSpPr/>
              <p:nvPr/>
            </p:nvSpPr>
            <p:spPr>
              <a:xfrm>
                <a:off x="3633048" y="3128183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7" name="모서리가 둥근 직사각형 86"/>
              <p:cNvSpPr/>
              <p:nvPr/>
            </p:nvSpPr>
            <p:spPr>
              <a:xfrm>
                <a:off x="4225576" y="3128821"/>
                <a:ext cx="375000" cy="242166"/>
              </a:xfrm>
              <a:prstGeom prst="roundRect">
                <a:avLst>
                  <a:gd name="adj" fmla="val 1761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8" name="모서리가 둥근 직사각형 87"/>
              <p:cNvSpPr/>
              <p:nvPr/>
            </p:nvSpPr>
            <p:spPr>
              <a:xfrm>
                <a:off x="3042498" y="3128183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85" name="TextBox 238"/>
            <p:cNvSpPr txBox="1"/>
            <p:nvPr/>
          </p:nvSpPr>
          <p:spPr>
            <a:xfrm>
              <a:off x="4835042" y="2810440"/>
              <a:ext cx="1432697" cy="308269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/>
              <a:r>
                <a:rPr lang="en-US" altLang="ko-KR" sz="1200" b="1" spc="-150" dirty="0">
                  <a:solidFill>
                    <a:srgbClr val="FF0000"/>
                  </a:solidFill>
                </a:rPr>
                <a:t>New</a:t>
              </a:r>
              <a:r>
                <a:rPr lang="en-US" altLang="ko-KR" sz="1200" b="1" spc="-150" dirty="0"/>
                <a:t> </a:t>
              </a:r>
              <a:r>
                <a:rPr lang="ko-KR" altLang="en-US" sz="1200" b="1" spc="-150" dirty="0"/>
                <a:t>가상머신</a:t>
              </a:r>
              <a:endParaRPr lang="en-US" altLang="ko-KR" sz="1200" spc="-150" dirty="0"/>
            </a:p>
          </p:txBody>
        </p:sp>
      </p:grpSp>
      <p:sp>
        <p:nvSpPr>
          <p:cNvPr id="19" name="모서리가 둥근 직사각형 18"/>
          <p:cNvSpPr/>
          <p:nvPr/>
        </p:nvSpPr>
        <p:spPr>
          <a:xfrm>
            <a:off x="4936961" y="2977360"/>
            <a:ext cx="273021" cy="228530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 bwMode="gray">
          <a:xfrm>
            <a:off x="7878227" y="3480678"/>
            <a:ext cx="1445217" cy="347964"/>
          </a:xfrm>
          <a:prstGeom prst="roundRect">
            <a:avLst/>
          </a:prstGeom>
          <a:gradFill rotWithShape="1">
            <a:gsLst>
              <a:gs pos="0">
                <a:srgbClr val="B2B2B2"/>
              </a:gs>
              <a:gs pos="4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12700" algn="ctr">
            <a:solidFill>
              <a:schemeClr val="tx1">
                <a:lumMod val="75000"/>
                <a:lumOff val="25000"/>
              </a:schemeClr>
            </a:solidFill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spc="-50" dirty="0">
                <a:solidFill>
                  <a:schemeClr val="bg1"/>
                </a:solidFill>
                <a:cs typeface="Arial" pitchFamily="34" charset="0"/>
              </a:rPr>
              <a:t>HW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8137821" y="2096196"/>
            <a:ext cx="1185622" cy="1121944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022686" y="2163431"/>
            <a:ext cx="1185622" cy="1121944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7926272" y="2236654"/>
            <a:ext cx="1185622" cy="1121944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60"/>
          <p:cNvSpPr txBox="1"/>
          <p:nvPr/>
        </p:nvSpPr>
        <p:spPr>
          <a:xfrm>
            <a:off x="7926272" y="2222110"/>
            <a:ext cx="1185622" cy="23482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r>
              <a:rPr lang="ko-KR" altLang="en-US" sz="1200" b="1" spc="-150" dirty="0"/>
              <a:t>가상머신</a:t>
            </a:r>
            <a:endParaRPr lang="en-US" altLang="ko-KR" sz="1200" spc="-15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9076450" y="2664846"/>
            <a:ext cx="1445217" cy="1650066"/>
            <a:chOff x="6717148" y="1950435"/>
            <a:chExt cx="1256366" cy="1650066"/>
          </a:xfrm>
        </p:grpSpPr>
        <p:sp>
          <p:nvSpPr>
            <p:cNvPr id="73" name="모서리가 둥근 직사각형 72"/>
            <p:cNvSpPr/>
            <p:nvPr/>
          </p:nvSpPr>
          <p:spPr bwMode="gray">
            <a:xfrm>
              <a:off x="6717148" y="3252537"/>
              <a:ext cx="1256366" cy="347964"/>
            </a:xfrm>
            <a:prstGeom prst="roundRect">
              <a:avLst/>
            </a:prstGeom>
            <a:gradFill rotWithShape="1">
              <a:gsLst>
                <a:gs pos="0">
                  <a:srgbClr val="B2B2B2"/>
                </a:gs>
                <a:gs pos="47000">
                  <a:schemeClr val="tx1">
                    <a:lumMod val="65000"/>
                    <a:lumOff val="3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2700000" scaled="1"/>
            </a:gradFill>
            <a:ln w="12700" algn="ctr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ffectLst>
              <a:outerShdw blurRad="50800" dist="25400" dir="4200000" algn="tl" rotWithShape="0">
                <a:prstClr val="black">
                  <a:alpha val="28000"/>
                </a:prstClr>
              </a:outerShdw>
            </a:effectLst>
          </p:spPr>
          <p:txBody>
            <a:bodyPr wrap="none" lIns="72000" tIns="72000" rIns="72000" bIns="72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defTabSz="801688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b="1" spc="-50" dirty="0">
                  <a:solidFill>
                    <a:schemeClr val="bg1"/>
                  </a:solidFill>
                  <a:cs typeface="Arial" pitchFamily="34" charset="0"/>
                </a:rPr>
                <a:t>HW</a:t>
              </a:r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6942821" y="1950435"/>
              <a:ext cx="1030693" cy="1121944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5" name="모서리가 둥근 직사각형 74"/>
            <p:cNvSpPr/>
            <p:nvPr/>
          </p:nvSpPr>
          <p:spPr>
            <a:xfrm>
              <a:off x="6842731" y="2017670"/>
              <a:ext cx="1030693" cy="1121944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76" name="그룹 75"/>
            <p:cNvGrpSpPr/>
            <p:nvPr/>
          </p:nvGrpSpPr>
          <p:grpSpPr>
            <a:xfrm>
              <a:off x="6852015" y="2076346"/>
              <a:ext cx="1030691" cy="919817"/>
              <a:chOff x="4964457" y="2766723"/>
              <a:chExt cx="1432696" cy="1207489"/>
            </a:xfrm>
          </p:grpSpPr>
          <p:sp>
            <p:nvSpPr>
              <p:cNvPr id="77" name="모서리가 둥근 직사각형 76"/>
              <p:cNvSpPr/>
              <p:nvPr/>
            </p:nvSpPr>
            <p:spPr>
              <a:xfrm>
                <a:off x="5036905" y="3119394"/>
                <a:ext cx="1280214" cy="854818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3175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381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vert="horz" wrap="square" lIns="72000" tIns="72000" rIns="72000" bIns="72000" numCol="1" rtlCol="0" anchor="ctr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>
                  <a:lnSpc>
                    <a:spcPct val="110000"/>
                  </a:lnSpc>
                </a:pP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TextBox 280"/>
              <p:cNvSpPr txBox="1"/>
              <p:nvPr/>
            </p:nvSpPr>
            <p:spPr>
              <a:xfrm>
                <a:off x="4964457" y="2766723"/>
                <a:ext cx="1432696" cy="30827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/>
                <a:r>
                  <a:rPr lang="ko-KR" altLang="en-US" sz="1200" b="1" spc="-150" dirty="0"/>
                  <a:t>가상머신</a:t>
                </a:r>
                <a:endParaRPr lang="en-US" altLang="ko-KR" sz="1200" spc="-150" dirty="0"/>
              </a:p>
            </p:txBody>
          </p:sp>
        </p:grpSp>
      </p:grpSp>
      <p:sp>
        <p:nvSpPr>
          <p:cNvPr id="26" name="폭발 1 25"/>
          <p:cNvSpPr/>
          <p:nvPr/>
        </p:nvSpPr>
        <p:spPr>
          <a:xfrm>
            <a:off x="8713935" y="1928116"/>
            <a:ext cx="633976" cy="727820"/>
          </a:xfrm>
          <a:prstGeom prst="irregularSeal1">
            <a:avLst/>
          </a:prstGeom>
          <a:solidFill>
            <a:srgbClr val="FF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1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자원풀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직사각형 26"/>
          <p:cNvSpPr>
            <a:spLocks noChangeArrowheads="1"/>
          </p:cNvSpPr>
          <p:nvPr/>
        </p:nvSpPr>
        <p:spPr bwMode="auto">
          <a:xfrm>
            <a:off x="7696734" y="4588801"/>
            <a:ext cx="3118745" cy="64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36000" rIns="7200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indent="-176213"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</a:pPr>
            <a:r>
              <a:rPr lang="en-US" altLang="ko-KR" sz="1100" spc="-50" dirty="0">
                <a:solidFill>
                  <a:srgbClr val="002060"/>
                </a:solidFill>
              </a:rPr>
              <a:t>VM </a:t>
            </a:r>
            <a:r>
              <a:rPr lang="ko-KR" altLang="en-US" sz="1100" spc="-50" dirty="0">
                <a:solidFill>
                  <a:srgbClr val="002060"/>
                </a:solidFill>
              </a:rPr>
              <a:t> 수준의 자원 풀</a:t>
            </a:r>
            <a:endParaRPr lang="en-US" altLang="ko-KR" sz="1100" spc="-50" dirty="0">
              <a:solidFill>
                <a:srgbClr val="002060"/>
              </a:solidFill>
            </a:endParaRPr>
          </a:p>
          <a:p>
            <a:pPr marL="271463" indent="-271463"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</a:pPr>
            <a:r>
              <a:rPr lang="en-US" altLang="ko-KR" sz="1100" spc="-50" dirty="0">
                <a:solidFill>
                  <a:srgbClr val="002060"/>
                </a:solidFill>
              </a:rPr>
              <a:t>   - </a:t>
            </a:r>
            <a:r>
              <a:rPr lang="ko-KR" altLang="en-US" sz="1100" spc="-50" dirty="0">
                <a:solidFill>
                  <a:srgbClr val="002060"/>
                </a:solidFill>
              </a:rPr>
              <a:t>새로운 </a:t>
            </a:r>
            <a:r>
              <a:rPr lang="en-US" altLang="ko-KR" sz="1100" spc="-50" dirty="0">
                <a:solidFill>
                  <a:srgbClr val="002060"/>
                </a:solidFill>
              </a:rPr>
              <a:t>VM </a:t>
            </a:r>
            <a:r>
              <a:rPr lang="ko-KR" altLang="en-US" sz="1100" spc="-50" dirty="0">
                <a:solidFill>
                  <a:srgbClr val="002060"/>
                </a:solidFill>
              </a:rPr>
              <a:t>생성</a:t>
            </a:r>
            <a:r>
              <a:rPr lang="en-US" altLang="ko-KR" sz="1100" spc="-50" dirty="0">
                <a:solidFill>
                  <a:srgbClr val="002060"/>
                </a:solidFill>
              </a:rPr>
              <a:t>,</a:t>
            </a:r>
            <a:r>
              <a:rPr lang="ko-KR" altLang="en-US" sz="1100" spc="-50" dirty="0">
                <a:solidFill>
                  <a:srgbClr val="002060"/>
                </a:solidFill>
              </a:rPr>
              <a:t> 어플리케이션 배포 및 </a:t>
            </a:r>
            <a:r>
              <a:rPr lang="en-US" altLang="ko-KR" sz="1100" spc="-50" dirty="0">
                <a:solidFill>
                  <a:srgbClr val="002060"/>
                </a:solidFill>
              </a:rPr>
              <a:t>Load Balance</a:t>
            </a:r>
            <a:r>
              <a:rPr lang="ko-KR" altLang="en-US" sz="1100" spc="-50" dirty="0">
                <a:solidFill>
                  <a:srgbClr val="002060"/>
                </a:solidFill>
              </a:rPr>
              <a:t>를 위한 </a:t>
            </a:r>
            <a:r>
              <a:rPr lang="en-US" altLang="ko-KR" sz="1100" spc="-50" dirty="0">
                <a:solidFill>
                  <a:srgbClr val="002060"/>
                </a:solidFill>
              </a:rPr>
              <a:t>3rd Party </a:t>
            </a:r>
            <a:r>
              <a:rPr lang="ko-KR" altLang="en-US" sz="1100" spc="-50" dirty="0">
                <a:solidFill>
                  <a:srgbClr val="002060"/>
                </a:solidFill>
              </a:rPr>
              <a:t>제품 필요 </a:t>
            </a:r>
            <a:endParaRPr lang="en-US" altLang="ko-KR" sz="1100" spc="-50" dirty="0">
              <a:solidFill>
                <a:srgbClr val="00206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57419" y="3192990"/>
            <a:ext cx="492443" cy="27821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ko-KR" altLang="en-US" sz="1200" b="1" dirty="0">
                <a:solidFill>
                  <a:srgbClr val="002060"/>
                </a:solidFill>
              </a:rPr>
              <a:t>배포</a:t>
            </a:r>
            <a:endParaRPr lang="ko-KR" altLang="en-US" sz="1100" b="1" dirty="0">
              <a:solidFill>
                <a:srgbClr val="002060"/>
              </a:solidFill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2322400" y="2066515"/>
            <a:ext cx="1308505" cy="355981"/>
          </a:xfrm>
          <a:prstGeom prst="rect">
            <a:avLst/>
          </a:prstGeom>
          <a:solidFill>
            <a:srgbClr val="ED6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lt1">
                    <a:alpha val="99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Router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1629957" y="2599393"/>
            <a:ext cx="1432697" cy="1472828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2210140" y="2932971"/>
            <a:ext cx="273021" cy="228530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639270" y="2933571"/>
            <a:ext cx="271589" cy="227331"/>
          </a:xfrm>
          <a:prstGeom prst="roundRect">
            <a:avLst>
              <a:gd name="adj" fmla="val 1761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1782440" y="3309465"/>
            <a:ext cx="1128417" cy="228535"/>
            <a:chOff x="3042498" y="3089066"/>
            <a:chExt cx="1558078" cy="243448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0" name="모서리가 둥근 직사각형 69"/>
            <p:cNvSpPr/>
            <p:nvPr/>
          </p:nvSpPr>
          <p:spPr>
            <a:xfrm>
              <a:off x="3633048" y="3089066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모서리가 둥근 직사각형 70"/>
            <p:cNvSpPr/>
            <p:nvPr/>
          </p:nvSpPr>
          <p:spPr>
            <a:xfrm>
              <a:off x="4225576" y="3089705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모서리가 둥근 직사각형 71"/>
            <p:cNvSpPr/>
            <p:nvPr/>
          </p:nvSpPr>
          <p:spPr>
            <a:xfrm>
              <a:off x="3042498" y="3089072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782440" y="3685951"/>
            <a:ext cx="1128417" cy="228529"/>
            <a:chOff x="3042498" y="3128183"/>
            <a:chExt cx="1558078" cy="24344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67" name="모서리가 둥근 직사각형 66"/>
            <p:cNvSpPr/>
            <p:nvPr/>
          </p:nvSpPr>
          <p:spPr>
            <a:xfrm>
              <a:off x="363304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4225576" y="3128821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304249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5" name="TextBox 126"/>
          <p:cNvSpPr txBox="1"/>
          <p:nvPr/>
        </p:nvSpPr>
        <p:spPr>
          <a:xfrm>
            <a:off x="1629957" y="2624018"/>
            <a:ext cx="1432697" cy="30826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r>
              <a:rPr lang="ko-KR" altLang="en-US" sz="1200" b="1" spc="-150" dirty="0"/>
              <a:t>가상머신</a:t>
            </a:r>
            <a:endParaRPr lang="en-US" altLang="ko-KR" sz="1200" spc="-150" dirty="0"/>
          </a:p>
        </p:txBody>
      </p:sp>
      <p:grpSp>
        <p:nvGrpSpPr>
          <p:cNvPr id="36" name="그룹 35"/>
          <p:cNvGrpSpPr/>
          <p:nvPr/>
        </p:nvGrpSpPr>
        <p:grpSpPr>
          <a:xfrm>
            <a:off x="2841602" y="3251542"/>
            <a:ext cx="1432697" cy="1472828"/>
            <a:chOff x="4835042" y="2785816"/>
            <a:chExt cx="1432697" cy="1472828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4835042" y="2785816"/>
              <a:ext cx="1432697" cy="1472828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4986024" y="3128753"/>
              <a:ext cx="273021" cy="22853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5844355" y="3119993"/>
              <a:ext cx="271589" cy="227332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5414436" y="3128753"/>
              <a:ext cx="273021" cy="22853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grpSp>
          <p:nvGrpSpPr>
            <p:cNvPr id="58" name="그룹 57"/>
            <p:cNvGrpSpPr/>
            <p:nvPr/>
          </p:nvGrpSpPr>
          <p:grpSpPr>
            <a:xfrm>
              <a:off x="4987525" y="3495887"/>
              <a:ext cx="1128417" cy="228535"/>
              <a:chOff x="3042498" y="3089066"/>
              <a:chExt cx="1558078" cy="243448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64" name="모서리가 둥근 직사각형 63"/>
              <p:cNvSpPr/>
              <p:nvPr/>
            </p:nvSpPr>
            <p:spPr>
              <a:xfrm>
                <a:off x="3633048" y="3089066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5" name="모서리가 둥근 직사각형 64"/>
              <p:cNvSpPr/>
              <p:nvPr/>
            </p:nvSpPr>
            <p:spPr>
              <a:xfrm>
                <a:off x="4225576" y="3089705"/>
                <a:ext cx="375000" cy="242166"/>
              </a:xfrm>
              <a:prstGeom prst="roundRect">
                <a:avLst>
                  <a:gd name="adj" fmla="val 1761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6" name="모서리가 둥근 직사각형 65"/>
              <p:cNvSpPr/>
              <p:nvPr/>
            </p:nvSpPr>
            <p:spPr>
              <a:xfrm>
                <a:off x="3042498" y="3089072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4987525" y="3872373"/>
              <a:ext cx="1128417" cy="228529"/>
              <a:chOff x="3042498" y="3128183"/>
              <a:chExt cx="1558078" cy="24344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61" name="모서리가 둥근 직사각형 60"/>
              <p:cNvSpPr/>
              <p:nvPr/>
            </p:nvSpPr>
            <p:spPr>
              <a:xfrm>
                <a:off x="3633048" y="3128183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2" name="모서리가 둥근 직사각형 61"/>
              <p:cNvSpPr/>
              <p:nvPr/>
            </p:nvSpPr>
            <p:spPr>
              <a:xfrm>
                <a:off x="4225576" y="3128821"/>
                <a:ext cx="375000" cy="242166"/>
              </a:xfrm>
              <a:prstGeom prst="roundRect">
                <a:avLst>
                  <a:gd name="adj" fmla="val 1761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3" name="모서리가 둥근 직사각형 62"/>
              <p:cNvSpPr/>
              <p:nvPr/>
            </p:nvSpPr>
            <p:spPr>
              <a:xfrm>
                <a:off x="3042498" y="3128183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60" name="TextBox 134"/>
            <p:cNvSpPr txBox="1"/>
            <p:nvPr/>
          </p:nvSpPr>
          <p:spPr>
            <a:xfrm>
              <a:off x="4835042" y="2810440"/>
              <a:ext cx="1432697" cy="308269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/>
              <a:r>
                <a:rPr lang="ko-KR" altLang="en-US" sz="1200" b="1" spc="-150" dirty="0"/>
                <a:t>가상머신</a:t>
              </a:r>
              <a:endParaRPr lang="en-US" altLang="ko-KR" sz="1200" spc="-150" dirty="0"/>
            </a:p>
          </p:txBody>
        </p:sp>
      </p:grpSp>
      <p:sp>
        <p:nvSpPr>
          <p:cNvPr id="37" name="모서리가 둥근 직사각형 36"/>
          <p:cNvSpPr/>
          <p:nvPr/>
        </p:nvSpPr>
        <p:spPr>
          <a:xfrm>
            <a:off x="1782441" y="2932971"/>
            <a:ext cx="273021" cy="228530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dirty="0">
              <a:solidFill>
                <a:schemeClr val="bg1"/>
              </a:solidFill>
            </a:endParaRPr>
          </a:p>
        </p:txBody>
      </p:sp>
      <p:cxnSp>
        <p:nvCxnSpPr>
          <p:cNvPr id="38" name="직선 화살표 연결선 37"/>
          <p:cNvCxnSpPr>
            <a:stCxn id="29" idx="2"/>
            <a:endCxn id="37" idx="0"/>
          </p:cNvCxnSpPr>
          <p:nvPr/>
        </p:nvCxnSpPr>
        <p:spPr>
          <a:xfrm flipH="1">
            <a:off x="1918952" y="2422495"/>
            <a:ext cx="1057701" cy="510476"/>
          </a:xfrm>
          <a:prstGeom prst="straightConnector1">
            <a:avLst/>
          </a:prstGeom>
          <a:ln w="38100">
            <a:solidFill>
              <a:srgbClr val="0173D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29" idx="2"/>
            <a:endCxn id="42" idx="0"/>
          </p:cNvCxnSpPr>
          <p:nvPr/>
        </p:nvCxnSpPr>
        <p:spPr>
          <a:xfrm>
            <a:off x="2976653" y="2422496"/>
            <a:ext cx="585619" cy="1252509"/>
          </a:xfrm>
          <a:prstGeom prst="straightConnector1">
            <a:avLst/>
          </a:prstGeom>
          <a:ln w="38100">
            <a:solidFill>
              <a:srgbClr val="0173D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 bwMode="auto">
          <a:xfrm>
            <a:off x="5422826" y="2066514"/>
            <a:ext cx="1308505" cy="355981"/>
          </a:xfrm>
          <a:prstGeom prst="rect">
            <a:avLst/>
          </a:prstGeom>
          <a:solidFill>
            <a:srgbClr val="ED6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dirty="0">
                <a:solidFill>
                  <a:schemeClr val="lt1">
                    <a:alpha val="99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인프라 관리</a:t>
            </a:r>
            <a:endParaRPr lang="en-US" altLang="ko-KR" sz="1200" b="1" dirty="0">
              <a:solidFill>
                <a:schemeClr val="lt1">
                  <a:alpha val="99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위로 구부러진 화살표 40"/>
          <p:cNvSpPr/>
          <p:nvPr/>
        </p:nvSpPr>
        <p:spPr>
          <a:xfrm rot="1937608" flipV="1">
            <a:off x="5970673" y="2740725"/>
            <a:ext cx="1140954" cy="488021"/>
          </a:xfrm>
          <a:prstGeom prst="curvedUpArrow">
            <a:avLst/>
          </a:prstGeom>
          <a:solidFill>
            <a:srgbClr val="002060"/>
          </a:solidFill>
          <a:ln w="12700">
            <a:solidFill>
              <a:schemeClr val="bg2">
                <a:lumMod val="50000"/>
                <a:alpha val="29000"/>
              </a:schemeClr>
            </a:solidFill>
          </a:ln>
          <a:effectLst>
            <a:outerShdw blurRad="50800" dist="50800" dir="27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위로 구부러진 화살표 41"/>
          <p:cNvSpPr/>
          <p:nvPr/>
        </p:nvSpPr>
        <p:spPr>
          <a:xfrm rot="1937608" flipV="1">
            <a:off x="2743054" y="2985128"/>
            <a:ext cx="1140954" cy="488021"/>
          </a:xfrm>
          <a:prstGeom prst="curvedUpArrow">
            <a:avLst/>
          </a:prstGeom>
          <a:solidFill>
            <a:srgbClr val="002060"/>
          </a:solidFill>
          <a:ln w="12700">
            <a:solidFill>
              <a:schemeClr val="bg2">
                <a:lumMod val="50000"/>
                <a:alpha val="29000"/>
              </a:schemeClr>
            </a:solidFill>
          </a:ln>
          <a:effectLst>
            <a:outerShdw blurRad="50800" dist="50800" dir="27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폭발 1 42"/>
          <p:cNvSpPr/>
          <p:nvPr/>
        </p:nvSpPr>
        <p:spPr>
          <a:xfrm>
            <a:off x="2448972" y="2691600"/>
            <a:ext cx="633976" cy="727820"/>
          </a:xfrm>
          <a:prstGeom prst="irregularSeal1">
            <a:avLst/>
          </a:prstGeom>
          <a:solidFill>
            <a:srgbClr val="FF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1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자원풀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위로 구부러진 화살표 43"/>
          <p:cNvSpPr/>
          <p:nvPr/>
        </p:nvSpPr>
        <p:spPr>
          <a:xfrm rot="11889128" flipV="1">
            <a:off x="1742262" y="3203557"/>
            <a:ext cx="1140954" cy="488021"/>
          </a:xfrm>
          <a:prstGeom prst="curvedUpArrow">
            <a:avLst/>
          </a:prstGeom>
          <a:solidFill>
            <a:srgbClr val="002060"/>
          </a:solidFill>
          <a:ln w="12700">
            <a:solidFill>
              <a:schemeClr val="bg2">
                <a:lumMod val="50000"/>
                <a:alpha val="29000"/>
              </a:schemeClr>
            </a:solidFill>
          </a:ln>
          <a:effectLst>
            <a:outerShdw blurRad="50800" dist="50800" dir="27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위로 구부러진 화살표 44"/>
          <p:cNvSpPr/>
          <p:nvPr/>
        </p:nvSpPr>
        <p:spPr>
          <a:xfrm rot="1278572">
            <a:off x="8113176" y="3631360"/>
            <a:ext cx="1555975" cy="642780"/>
          </a:xfrm>
          <a:prstGeom prst="curvedUpArrow">
            <a:avLst/>
          </a:prstGeom>
          <a:solidFill>
            <a:srgbClr val="002060"/>
          </a:solidFill>
          <a:ln w="12700">
            <a:solidFill>
              <a:schemeClr val="bg2">
                <a:lumMod val="50000"/>
                <a:alpha val="29000"/>
              </a:schemeClr>
            </a:solidFill>
          </a:ln>
          <a:effectLst>
            <a:outerShdw blurRad="50800" dist="50800" dir="27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8052460" y="2490761"/>
            <a:ext cx="956901" cy="574156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47" name="직사각형 46"/>
          <p:cNvSpPr>
            <a:spLocks noChangeArrowheads="1"/>
          </p:cNvSpPr>
          <p:nvPr/>
        </p:nvSpPr>
        <p:spPr bwMode="auto">
          <a:xfrm>
            <a:off x="1422401" y="4754225"/>
            <a:ext cx="3245516" cy="64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36000" rIns="7200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indent="-176213"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</a:pPr>
            <a:r>
              <a:rPr lang="ko-KR" altLang="en-US" sz="1100" spc="-50" dirty="0">
                <a:solidFill>
                  <a:srgbClr val="002060"/>
                </a:solidFill>
              </a:rPr>
              <a:t>어플리케이션</a:t>
            </a:r>
            <a:r>
              <a:rPr lang="en-US" altLang="ko-KR" sz="1100" spc="-50" dirty="0">
                <a:solidFill>
                  <a:srgbClr val="002060"/>
                </a:solidFill>
              </a:rPr>
              <a:t> </a:t>
            </a:r>
            <a:r>
              <a:rPr lang="ko-KR" altLang="en-US" sz="1100" spc="-50" dirty="0">
                <a:solidFill>
                  <a:srgbClr val="002060"/>
                </a:solidFill>
              </a:rPr>
              <a:t>수준의 자원 풀</a:t>
            </a:r>
            <a:endParaRPr lang="en-US" altLang="ko-KR" sz="1100" spc="-50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</a:pPr>
            <a:r>
              <a:rPr lang="en-US" altLang="ko-KR" sz="1100" spc="-50" dirty="0">
                <a:solidFill>
                  <a:srgbClr val="002060"/>
                </a:solidFill>
              </a:rPr>
              <a:t>   - </a:t>
            </a:r>
            <a:r>
              <a:rPr lang="ko-KR" altLang="en-US" sz="1100" spc="-50" dirty="0">
                <a:solidFill>
                  <a:srgbClr val="002060"/>
                </a:solidFill>
              </a:rPr>
              <a:t>컨테이너 모니터링을 통한 자동 확장 </a:t>
            </a:r>
            <a:endParaRPr lang="en-US" altLang="ko-KR" sz="1100" spc="-50" dirty="0">
              <a:solidFill>
                <a:srgbClr val="002060"/>
              </a:solidFill>
            </a:endParaRPr>
          </a:p>
        </p:txBody>
      </p:sp>
      <p:sp>
        <p:nvSpPr>
          <p:cNvPr id="48" name="직사각형 47"/>
          <p:cNvSpPr>
            <a:spLocks noChangeArrowheads="1"/>
          </p:cNvSpPr>
          <p:nvPr/>
        </p:nvSpPr>
        <p:spPr bwMode="auto">
          <a:xfrm>
            <a:off x="4670034" y="4776185"/>
            <a:ext cx="3118745" cy="64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36000" rIns="7200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indent="-176213"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</a:pPr>
            <a:r>
              <a:rPr lang="en-US" altLang="ko-KR" sz="1100" spc="-50" dirty="0">
                <a:solidFill>
                  <a:srgbClr val="002060"/>
                </a:solidFill>
              </a:rPr>
              <a:t>VM </a:t>
            </a:r>
            <a:r>
              <a:rPr lang="ko-KR" altLang="en-US" sz="1100" spc="-50" dirty="0">
                <a:solidFill>
                  <a:srgbClr val="002060"/>
                </a:solidFill>
              </a:rPr>
              <a:t>수준의 자원 풀</a:t>
            </a:r>
            <a:endParaRPr lang="en-US" altLang="ko-KR" sz="1100" spc="-50" dirty="0">
              <a:solidFill>
                <a:srgbClr val="002060"/>
              </a:solidFill>
            </a:endParaRPr>
          </a:p>
          <a:p>
            <a:pPr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</a:pPr>
            <a:r>
              <a:rPr lang="en-US" altLang="ko-KR" sz="1100" spc="-50" dirty="0">
                <a:solidFill>
                  <a:srgbClr val="002060"/>
                </a:solidFill>
              </a:rPr>
              <a:t>   - VM </a:t>
            </a:r>
            <a:r>
              <a:rPr lang="ko-KR" altLang="en-US" sz="1100" spc="-50" dirty="0">
                <a:solidFill>
                  <a:srgbClr val="002060"/>
                </a:solidFill>
              </a:rPr>
              <a:t>모니터링을 </a:t>
            </a:r>
            <a:r>
              <a:rPr lang="ko-KR" altLang="en-US" sz="1100" spc="-50">
                <a:solidFill>
                  <a:srgbClr val="002060"/>
                </a:solidFill>
              </a:rPr>
              <a:t>통한 자동 </a:t>
            </a:r>
            <a:r>
              <a:rPr lang="ko-KR" altLang="en-US" sz="1100" spc="-50" dirty="0">
                <a:solidFill>
                  <a:srgbClr val="002060"/>
                </a:solidFill>
              </a:rPr>
              <a:t>확장 </a:t>
            </a:r>
            <a:endParaRPr lang="en-US" altLang="ko-KR" sz="1100" spc="-50" dirty="0">
              <a:solidFill>
                <a:srgbClr val="002060"/>
              </a:solidFill>
            </a:endParaRPr>
          </a:p>
        </p:txBody>
      </p:sp>
      <p:sp>
        <p:nvSpPr>
          <p:cNvPr id="49" name="십자형 48"/>
          <p:cNvSpPr/>
          <p:nvPr/>
        </p:nvSpPr>
        <p:spPr>
          <a:xfrm rot="2427749">
            <a:off x="8342876" y="3865784"/>
            <a:ext cx="684536" cy="702388"/>
          </a:xfrm>
          <a:prstGeom prst="plus">
            <a:avLst/>
          </a:prstGeom>
          <a:solidFill>
            <a:srgbClr val="CB120D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17"/>
          <p:cNvSpPr txBox="1"/>
          <p:nvPr/>
        </p:nvSpPr>
        <p:spPr>
          <a:xfrm>
            <a:off x="8202581" y="3982370"/>
            <a:ext cx="921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r>
              <a:rPr lang="ko-KR" altLang="en-US" sz="1050" b="1" dirty="0">
                <a:solidFill>
                  <a:schemeClr val="bg1"/>
                </a:solidFill>
              </a:rPr>
              <a:t>자동 확장 </a:t>
            </a:r>
            <a:endParaRPr lang="en-US" altLang="ko-KR" sz="105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050" b="1" dirty="0">
                <a:solidFill>
                  <a:schemeClr val="bg1"/>
                </a:solidFill>
              </a:rPr>
              <a:t>불가능</a:t>
            </a:r>
          </a:p>
        </p:txBody>
      </p:sp>
      <p:cxnSp>
        <p:nvCxnSpPr>
          <p:cNvPr id="51" name="직선 화살표 연결선 50"/>
          <p:cNvCxnSpPr>
            <a:endCxn id="17" idx="0"/>
          </p:cNvCxnSpPr>
          <p:nvPr/>
        </p:nvCxnSpPr>
        <p:spPr>
          <a:xfrm flipH="1">
            <a:off x="5500826" y="2400856"/>
            <a:ext cx="579825" cy="267550"/>
          </a:xfrm>
          <a:prstGeom prst="straightConnector1">
            <a:avLst/>
          </a:prstGeom>
          <a:ln w="38100">
            <a:solidFill>
              <a:srgbClr val="0173D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40" idx="2"/>
          </p:cNvCxnSpPr>
          <p:nvPr/>
        </p:nvCxnSpPr>
        <p:spPr>
          <a:xfrm>
            <a:off x="6077079" y="2422494"/>
            <a:ext cx="630977" cy="901614"/>
          </a:xfrm>
          <a:prstGeom prst="straightConnector1">
            <a:avLst/>
          </a:prstGeom>
          <a:ln w="38100">
            <a:solidFill>
              <a:srgbClr val="0173D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폭발 1 52"/>
          <p:cNvSpPr/>
          <p:nvPr/>
        </p:nvSpPr>
        <p:spPr>
          <a:xfrm>
            <a:off x="5787452" y="2429539"/>
            <a:ext cx="633976" cy="727820"/>
          </a:xfrm>
          <a:prstGeom prst="irregularSeal1">
            <a:avLst/>
          </a:prstGeom>
          <a:solidFill>
            <a:srgbClr val="FF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1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자원풀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0" name="그림 9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4" t="36879" r="39261" b="56924"/>
          <a:stretch/>
        </p:blipFill>
        <p:spPr>
          <a:xfrm>
            <a:off x="10239079" y="1114978"/>
            <a:ext cx="497864" cy="174195"/>
          </a:xfrm>
          <a:prstGeom prst="rect">
            <a:avLst/>
          </a:prstGeom>
        </p:spPr>
      </p:pic>
      <p:sp>
        <p:nvSpPr>
          <p:cNvPr id="98" name="슬라이드 번호 개체 틀 9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13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675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418852" y="116632"/>
            <a:ext cx="8637588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8" name="모서리가 둥근 직사각형 97"/>
          <p:cNvSpPr/>
          <p:nvPr/>
        </p:nvSpPr>
        <p:spPr bwMode="gray">
          <a:xfrm>
            <a:off x="1447001" y="972524"/>
            <a:ext cx="9251512" cy="46799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defTabSz="80168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spc="-50" dirty="0">
                <a:solidFill>
                  <a:schemeClr val="bg1"/>
                </a:solidFill>
                <a:cs typeface="Arial" pitchFamily="34" charset="0"/>
              </a:rPr>
              <a:t>장애유형의 자동 감지</a:t>
            </a:r>
            <a:r>
              <a:rPr kumimoji="0" lang="en-US" altLang="ko-KR" sz="1600" b="1" spc="-50" dirty="0">
                <a:solidFill>
                  <a:schemeClr val="bg1"/>
                </a:solidFill>
                <a:cs typeface="Arial" pitchFamily="34" charset="0"/>
              </a:rPr>
              <a:t>•</a:t>
            </a:r>
            <a:r>
              <a:rPr kumimoji="0" lang="ko-KR" altLang="en-US" sz="1600" b="1" spc="-50" dirty="0">
                <a:solidFill>
                  <a:schemeClr val="bg1"/>
                </a:solidFill>
                <a:cs typeface="Arial" pitchFamily="34" charset="0"/>
              </a:rPr>
              <a:t>복구를 통한 가용성 강화</a:t>
            </a:r>
          </a:p>
        </p:txBody>
      </p:sp>
      <p:sp>
        <p:nvSpPr>
          <p:cNvPr id="99" name="AutoShape 2"/>
          <p:cNvSpPr>
            <a:spLocks noChangeArrowheads="1"/>
          </p:cNvSpPr>
          <p:nvPr/>
        </p:nvSpPr>
        <p:spPr bwMode="gray">
          <a:xfrm>
            <a:off x="1695349" y="5593070"/>
            <a:ext cx="8986369" cy="8242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288000" tIns="180000" rIns="72000" bIns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93663" indent="-93663" defTabSz="801688" eaLnBrk="0" latinLnBrk="0" hangingPunct="0">
              <a:buFont typeface="Arial" panose="020B0604020202020204" pitchFamily="34" charset="0"/>
              <a:buChar char="•"/>
            </a:pPr>
            <a:r>
              <a:rPr lang="ko-KR" altLang="en-US" sz="1200" b="1" spc="-50" dirty="0">
                <a:solidFill>
                  <a:prstClr val="black"/>
                </a:solidFill>
                <a:cs typeface="Arial" pitchFamily="34" charset="0"/>
              </a:rPr>
              <a:t>다양한 유형의 장애를 자동으로 감지하고 복구하는 기능 제공</a:t>
            </a:r>
            <a:br>
              <a:rPr lang="en-US" altLang="ko-KR" sz="1200" b="1" spc="-50" dirty="0">
                <a:solidFill>
                  <a:prstClr val="black"/>
                </a:solidFill>
                <a:cs typeface="Arial" pitchFamily="34" charset="0"/>
              </a:rPr>
            </a:br>
            <a:r>
              <a:rPr lang="en-US" altLang="ko-KR" sz="1200" b="1" spc="-50" dirty="0">
                <a:solidFill>
                  <a:prstClr val="black"/>
                </a:solidFill>
                <a:cs typeface="Arial" pitchFamily="34" charset="0"/>
              </a:rPr>
              <a:t>▶ SaaS</a:t>
            </a:r>
            <a:r>
              <a:rPr lang="ko-KR" altLang="en-US" sz="1200" b="1" spc="-50" dirty="0">
                <a:solidFill>
                  <a:prstClr val="black"/>
                </a:solidFill>
                <a:cs typeface="Arial" pitchFamily="34" charset="0"/>
              </a:rPr>
              <a:t>의 </a:t>
            </a:r>
            <a:r>
              <a:rPr lang="en-US" altLang="ko-KR" sz="1200" b="1" spc="-50" dirty="0">
                <a:solidFill>
                  <a:prstClr val="black"/>
                </a:solidFill>
                <a:cs typeface="Arial" pitchFamily="34" charset="0"/>
              </a:rPr>
              <a:t>Down-time </a:t>
            </a:r>
            <a:r>
              <a:rPr lang="ko-KR" altLang="en-US" sz="1200" b="1" spc="-50" dirty="0">
                <a:solidFill>
                  <a:prstClr val="black"/>
                </a:solidFill>
                <a:cs typeface="Arial" pitchFamily="34" charset="0"/>
              </a:rPr>
              <a:t>최소화</a:t>
            </a:r>
            <a:endParaRPr lang="ko-KR" altLang="ko-KR" sz="1200" b="1" spc="-5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00" name="오각형 99"/>
          <p:cNvSpPr/>
          <p:nvPr/>
        </p:nvSpPr>
        <p:spPr bwMode="gray">
          <a:xfrm>
            <a:off x="1415481" y="5403754"/>
            <a:ext cx="2057960" cy="378630"/>
          </a:xfrm>
          <a:prstGeom prst="homePlate">
            <a:avLst/>
          </a:prstGeom>
          <a:gradFill>
            <a:gsLst>
              <a:gs pos="0">
                <a:srgbClr val="4DABF5"/>
              </a:gs>
              <a:gs pos="47000">
                <a:srgbClr val="0173D4"/>
              </a:gs>
              <a:gs pos="100000">
                <a:srgbClr val="0048AC"/>
              </a:gs>
            </a:gsLst>
            <a:lin ang="2700000" scaled="1"/>
          </a:gra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/>
            <a:r>
              <a:rPr lang="ko-KR" altLang="en-US" sz="1200" b="1" spc="-50" dirty="0">
                <a:solidFill>
                  <a:prstClr val="white">
                    <a:lumMod val="95000"/>
                  </a:prstClr>
                </a:solidFill>
                <a:cs typeface="Arial" pitchFamily="34" charset="0"/>
              </a:rPr>
              <a:t>주요 특장점</a:t>
            </a:r>
            <a:endParaRPr lang="en-US" altLang="ko-KR" sz="1200" b="1" spc="-50" dirty="0">
              <a:solidFill>
                <a:prstClr val="white">
                  <a:lumMod val="95000"/>
                </a:prstClr>
              </a:solidFill>
              <a:cs typeface="Arial" pitchFamily="34" charset="0"/>
            </a:endParaRPr>
          </a:p>
        </p:txBody>
      </p:sp>
      <p:sp>
        <p:nvSpPr>
          <p:cNvPr id="101" name="AutoShape 2"/>
          <p:cNvSpPr>
            <a:spLocks noChangeArrowheads="1"/>
          </p:cNvSpPr>
          <p:nvPr/>
        </p:nvSpPr>
        <p:spPr bwMode="gray">
          <a:xfrm>
            <a:off x="1432621" y="1600152"/>
            <a:ext cx="2968014" cy="36607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eaLnBrk="0" latinLnBrk="0" hangingPunct="0">
              <a:defRPr/>
            </a:pPr>
            <a:endParaRPr lang="ko-KR" altLang="ko-KR" spc="-50" dirty="0">
              <a:cs typeface="Arial" pitchFamily="34" charset="0"/>
            </a:endParaRPr>
          </a:p>
        </p:txBody>
      </p:sp>
      <p:sp>
        <p:nvSpPr>
          <p:cNvPr id="102" name="모서리가 둥근 직사각형 101"/>
          <p:cNvSpPr/>
          <p:nvPr/>
        </p:nvSpPr>
        <p:spPr bwMode="gray">
          <a:xfrm>
            <a:off x="1432621" y="1585959"/>
            <a:ext cx="2968014" cy="379952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어플리케이션 장애 복구</a:t>
            </a:r>
          </a:p>
        </p:txBody>
      </p:sp>
      <p:sp>
        <p:nvSpPr>
          <p:cNvPr id="103" name="AutoShape 2"/>
          <p:cNvSpPr>
            <a:spLocks noChangeArrowheads="1"/>
          </p:cNvSpPr>
          <p:nvPr/>
        </p:nvSpPr>
        <p:spPr bwMode="gray">
          <a:xfrm>
            <a:off x="4566112" y="1600152"/>
            <a:ext cx="2968014" cy="36607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eaLnBrk="0" latinLnBrk="0" hangingPunct="0">
              <a:defRPr/>
            </a:pPr>
            <a:endParaRPr lang="ko-KR" altLang="ko-KR" spc="-50" dirty="0">
              <a:cs typeface="Arial" pitchFamily="34" charset="0"/>
            </a:endParaRPr>
          </a:p>
        </p:txBody>
      </p:sp>
      <p:sp>
        <p:nvSpPr>
          <p:cNvPr id="104" name="모서리가 둥근 직사각형 103"/>
          <p:cNvSpPr/>
          <p:nvPr/>
        </p:nvSpPr>
        <p:spPr bwMode="gray">
          <a:xfrm>
            <a:off x="4566112" y="1585959"/>
            <a:ext cx="2968014" cy="379952"/>
          </a:xfrm>
          <a:prstGeom prst="roundRect">
            <a:avLst>
              <a:gd name="adj" fmla="val 0"/>
            </a:avLst>
          </a:prstGeom>
          <a:solidFill>
            <a:srgbClr val="1F497D">
              <a:lumMod val="20000"/>
              <a:lumOff val="80000"/>
            </a:srgbClr>
          </a:solidFill>
          <a:ln w="6350" algn="ctr">
            <a:solidFill>
              <a:srgbClr val="4BACC6">
                <a:lumMod val="60000"/>
                <a:lumOff val="40000"/>
              </a:srgbClr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latinLnBrk="0"/>
            <a:r>
              <a:rPr lang="ko-KR" altLang="en-US" b="1" kern="0" spc="-50" dirty="0">
                <a:solidFill>
                  <a:prstClr val="black"/>
                </a:solidFill>
                <a:cs typeface="Arial" pitchFamily="34" charset="0"/>
              </a:rPr>
              <a:t>가상머신 장애 복구</a:t>
            </a:r>
          </a:p>
        </p:txBody>
      </p:sp>
      <p:sp>
        <p:nvSpPr>
          <p:cNvPr id="105" name="AutoShape 2"/>
          <p:cNvSpPr>
            <a:spLocks noChangeArrowheads="1"/>
          </p:cNvSpPr>
          <p:nvPr/>
        </p:nvSpPr>
        <p:spPr bwMode="gray">
          <a:xfrm>
            <a:off x="7699604" y="1600152"/>
            <a:ext cx="2968014" cy="36607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eaLnBrk="0" latinLnBrk="0" hangingPunct="0">
              <a:defRPr/>
            </a:pPr>
            <a:endParaRPr lang="ko-KR" altLang="ko-KR" spc="-50" dirty="0">
              <a:cs typeface="Arial" pitchFamily="34" charset="0"/>
            </a:endParaRPr>
          </a:p>
        </p:txBody>
      </p:sp>
      <p:sp>
        <p:nvSpPr>
          <p:cNvPr id="106" name="모서리가 둥근 직사각형 105"/>
          <p:cNvSpPr/>
          <p:nvPr/>
        </p:nvSpPr>
        <p:spPr bwMode="gray">
          <a:xfrm>
            <a:off x="7699604" y="1585959"/>
            <a:ext cx="2968014" cy="37995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4DABF5"/>
              </a:gs>
              <a:gs pos="47000">
                <a:srgbClr val="0173D4"/>
              </a:gs>
              <a:gs pos="100000">
                <a:srgbClr val="0048AC"/>
              </a:gs>
            </a:gsLst>
            <a:lin ang="2700000" scaled="1"/>
          </a:gra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/>
            <a:r>
              <a:rPr lang="en-US" altLang="ko-KR" b="1" spc="-50" dirty="0">
                <a:solidFill>
                  <a:prstClr val="white">
                    <a:lumMod val="95000"/>
                  </a:prstClr>
                </a:solidFill>
                <a:cs typeface="Arial" pitchFamily="34" charset="0"/>
              </a:rPr>
              <a:t>HW </a:t>
            </a:r>
            <a:r>
              <a:rPr lang="ko-KR" altLang="en-US" b="1" spc="-50">
                <a:solidFill>
                  <a:prstClr val="white">
                    <a:lumMod val="95000"/>
                  </a:prstClr>
                </a:solidFill>
                <a:cs typeface="Arial" pitchFamily="34" charset="0"/>
              </a:rPr>
              <a:t>장애 복구</a:t>
            </a:r>
            <a:endParaRPr lang="ko-KR" altLang="en-US" b="1" spc="-50" dirty="0">
              <a:solidFill>
                <a:prstClr val="white">
                  <a:lumMod val="95000"/>
                </a:prstClr>
              </a:solidFill>
              <a:cs typeface="Arial" pitchFamily="34" charset="0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1805496" y="2232582"/>
            <a:ext cx="2212566" cy="2163620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2701494" y="2722616"/>
            <a:ext cx="421637" cy="335716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3364216" y="2723496"/>
            <a:ext cx="419425" cy="333956"/>
          </a:xfrm>
          <a:prstGeom prst="roundRect">
            <a:avLst>
              <a:gd name="adj" fmla="val 1761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b="1" dirty="0"/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2040984" y="2722616"/>
            <a:ext cx="421637" cy="335716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dirty="0">
              <a:solidFill>
                <a:schemeClr val="bg1"/>
              </a:solidFill>
            </a:endParaRPr>
          </a:p>
        </p:txBody>
      </p:sp>
      <p:grpSp>
        <p:nvGrpSpPr>
          <p:cNvPr id="111" name="그룹 110"/>
          <p:cNvGrpSpPr/>
          <p:nvPr/>
        </p:nvGrpSpPr>
        <p:grpSpPr>
          <a:xfrm>
            <a:off x="2040984" y="3275694"/>
            <a:ext cx="1742657" cy="335723"/>
            <a:chOff x="3042498" y="3089066"/>
            <a:chExt cx="1558078" cy="243448"/>
          </a:xfrm>
          <a:solidFill>
            <a:schemeClr val="bg1">
              <a:lumMod val="65000"/>
            </a:schemeClr>
          </a:solidFill>
        </p:grpSpPr>
        <p:sp>
          <p:nvSpPr>
            <p:cNvPr id="190" name="모서리가 둥근 직사각형 189"/>
            <p:cNvSpPr/>
            <p:nvPr/>
          </p:nvSpPr>
          <p:spPr>
            <a:xfrm>
              <a:off x="3633048" y="3089066"/>
              <a:ext cx="376978" cy="243442"/>
            </a:xfrm>
            <a:prstGeom prst="roundRect">
              <a:avLst>
                <a:gd name="adj" fmla="val 0"/>
              </a:avLst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1" name="모서리가 둥근 직사각형 190"/>
            <p:cNvSpPr/>
            <p:nvPr/>
          </p:nvSpPr>
          <p:spPr>
            <a:xfrm>
              <a:off x="4225576" y="3089705"/>
              <a:ext cx="375000" cy="242166"/>
            </a:xfrm>
            <a:prstGeom prst="roundRect">
              <a:avLst>
                <a:gd name="adj" fmla="val 1761"/>
              </a:avLst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2" name="모서리가 둥근 직사각형 191"/>
            <p:cNvSpPr/>
            <p:nvPr/>
          </p:nvSpPr>
          <p:spPr>
            <a:xfrm>
              <a:off x="3042498" y="3089072"/>
              <a:ext cx="376978" cy="243442"/>
            </a:xfrm>
            <a:prstGeom prst="roundRect">
              <a:avLst>
                <a:gd name="adj" fmla="val 0"/>
              </a:avLst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2040984" y="3828761"/>
            <a:ext cx="1742657" cy="335714"/>
            <a:chOff x="3042498" y="3128183"/>
            <a:chExt cx="1558078" cy="243442"/>
          </a:xfrm>
          <a:solidFill>
            <a:schemeClr val="bg1">
              <a:lumMod val="65000"/>
            </a:schemeClr>
          </a:solidFill>
        </p:grpSpPr>
        <p:sp>
          <p:nvSpPr>
            <p:cNvPr id="187" name="모서리가 둥근 직사각형 186"/>
            <p:cNvSpPr/>
            <p:nvPr/>
          </p:nvSpPr>
          <p:spPr>
            <a:xfrm>
              <a:off x="3633048" y="3128183"/>
              <a:ext cx="376978" cy="243442"/>
            </a:xfrm>
            <a:prstGeom prst="roundRect">
              <a:avLst>
                <a:gd name="adj" fmla="val 0"/>
              </a:avLst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8" name="모서리가 둥근 직사각형 187"/>
            <p:cNvSpPr/>
            <p:nvPr/>
          </p:nvSpPr>
          <p:spPr>
            <a:xfrm>
              <a:off x="4225576" y="3128821"/>
              <a:ext cx="375000" cy="242166"/>
            </a:xfrm>
            <a:prstGeom prst="roundRect">
              <a:avLst>
                <a:gd name="adj" fmla="val 1761"/>
              </a:avLst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9" name="모서리가 둥근 직사각형 188"/>
            <p:cNvSpPr/>
            <p:nvPr/>
          </p:nvSpPr>
          <p:spPr>
            <a:xfrm>
              <a:off x="3042498" y="3128183"/>
              <a:ext cx="376978" cy="243442"/>
            </a:xfrm>
            <a:prstGeom prst="roundRect">
              <a:avLst>
                <a:gd name="adj" fmla="val 0"/>
              </a:avLst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3" name="TextBox 190"/>
          <p:cNvSpPr txBox="1"/>
          <p:nvPr/>
        </p:nvSpPr>
        <p:spPr>
          <a:xfrm>
            <a:off x="1805496" y="2308264"/>
            <a:ext cx="2212566" cy="4528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r>
              <a:rPr lang="ko-KR" altLang="en-US" sz="1200" b="1" spc="-150" dirty="0"/>
              <a:t>가상머신</a:t>
            </a:r>
            <a:endParaRPr lang="en-US" altLang="ko-KR" sz="1200" spc="-150" dirty="0"/>
          </a:p>
        </p:txBody>
      </p:sp>
      <p:sp>
        <p:nvSpPr>
          <p:cNvPr id="114" name="위로 구부러진 화살표 113"/>
          <p:cNvSpPr/>
          <p:nvPr/>
        </p:nvSpPr>
        <p:spPr>
          <a:xfrm>
            <a:off x="2238541" y="2999914"/>
            <a:ext cx="1462005" cy="474608"/>
          </a:xfrm>
          <a:prstGeom prst="curvedUpArrow">
            <a:avLst/>
          </a:prstGeom>
          <a:solidFill>
            <a:srgbClr val="002060"/>
          </a:solidFill>
          <a:ln w="12700">
            <a:solidFill>
              <a:schemeClr val="bg2">
                <a:lumMod val="50000"/>
                <a:alpha val="29000"/>
              </a:schemeClr>
            </a:solidFill>
          </a:ln>
          <a:effectLst>
            <a:outerShdw blurRad="50800" dist="50800" dir="27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폭발 1 114"/>
          <p:cNvSpPr/>
          <p:nvPr/>
        </p:nvSpPr>
        <p:spPr>
          <a:xfrm>
            <a:off x="1944100" y="2542577"/>
            <a:ext cx="633976" cy="727820"/>
          </a:xfrm>
          <a:prstGeom prst="irregularSeal1">
            <a:avLst/>
          </a:prstGeom>
          <a:solidFill>
            <a:srgbClr val="FF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</a:t>
            </a:r>
          </a:p>
        </p:txBody>
      </p:sp>
      <p:sp>
        <p:nvSpPr>
          <p:cNvPr id="116" name="직사각형 115"/>
          <p:cNvSpPr>
            <a:spLocks noChangeArrowheads="1"/>
          </p:cNvSpPr>
          <p:nvPr/>
        </p:nvSpPr>
        <p:spPr bwMode="auto">
          <a:xfrm>
            <a:off x="1415481" y="4767423"/>
            <a:ext cx="2985155" cy="44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36000" rIns="7200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indent="-176213"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</a:pPr>
            <a:r>
              <a:rPr lang="ko-KR" altLang="en-US" sz="1200" spc="-50" dirty="0">
                <a:solidFill>
                  <a:srgbClr val="002060"/>
                </a:solidFill>
              </a:rPr>
              <a:t>어플리케이션 수준의 장애 발생 시</a:t>
            </a:r>
            <a:br>
              <a:rPr lang="en-US" altLang="ko-KR" sz="1200" spc="-50" dirty="0">
                <a:solidFill>
                  <a:srgbClr val="002060"/>
                </a:solidFill>
              </a:rPr>
            </a:br>
            <a:r>
              <a:rPr lang="ko-KR" altLang="en-US" sz="1200" spc="-50" dirty="0">
                <a:solidFill>
                  <a:srgbClr val="002060"/>
                </a:solidFill>
              </a:rPr>
              <a:t>동일한 </a:t>
            </a:r>
            <a:r>
              <a:rPr lang="ko-KR" altLang="en-US" sz="1200" spc="-50" dirty="0" err="1">
                <a:solidFill>
                  <a:srgbClr val="002060"/>
                </a:solidFill>
              </a:rPr>
              <a:t>가상머신의</a:t>
            </a:r>
            <a:r>
              <a:rPr lang="ko-KR" altLang="en-US" sz="1200" spc="-50" dirty="0">
                <a:solidFill>
                  <a:srgbClr val="002060"/>
                </a:solidFill>
              </a:rPr>
              <a:t> 컨테이너로 이동 </a:t>
            </a:r>
            <a:endParaRPr lang="en-US" altLang="ko-KR" sz="1200" spc="-50" dirty="0">
              <a:solidFill>
                <a:srgbClr val="002060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2667200" y="3576058"/>
            <a:ext cx="492443" cy="27821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ko-KR" altLang="en-US" sz="1200" b="1" dirty="0">
                <a:solidFill>
                  <a:srgbClr val="002060"/>
                </a:solidFill>
              </a:rPr>
              <a:t>배포</a:t>
            </a:r>
            <a:endParaRPr lang="ko-KR" altLang="en-US" sz="1100" b="1" dirty="0">
              <a:solidFill>
                <a:srgbClr val="002060"/>
              </a:solidFill>
            </a:endParaRP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4743603" y="2221795"/>
            <a:ext cx="1432697" cy="1472828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5323786" y="2555373"/>
            <a:ext cx="273021" cy="228530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5752916" y="2555973"/>
            <a:ext cx="271589" cy="227331"/>
          </a:xfrm>
          <a:prstGeom prst="roundRect">
            <a:avLst>
              <a:gd name="adj" fmla="val 1761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4896086" y="2931867"/>
            <a:ext cx="1128417" cy="228535"/>
            <a:chOff x="3042498" y="3089066"/>
            <a:chExt cx="1558078" cy="243448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84" name="모서리가 둥근 직사각형 183"/>
            <p:cNvSpPr/>
            <p:nvPr/>
          </p:nvSpPr>
          <p:spPr>
            <a:xfrm>
              <a:off x="3633048" y="3089066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4225576" y="3089705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6" name="모서리가 둥근 직사각형 185"/>
            <p:cNvSpPr/>
            <p:nvPr/>
          </p:nvSpPr>
          <p:spPr>
            <a:xfrm>
              <a:off x="3042498" y="3089072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4896086" y="3308353"/>
            <a:ext cx="1128417" cy="228529"/>
            <a:chOff x="3042498" y="3128183"/>
            <a:chExt cx="1558078" cy="24344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81" name="모서리가 둥근 직사각형 180"/>
            <p:cNvSpPr/>
            <p:nvPr/>
          </p:nvSpPr>
          <p:spPr>
            <a:xfrm>
              <a:off x="363304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4225576" y="3128821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304249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3" name="TextBox 222"/>
          <p:cNvSpPr txBox="1"/>
          <p:nvPr/>
        </p:nvSpPr>
        <p:spPr>
          <a:xfrm>
            <a:off x="4743603" y="2246420"/>
            <a:ext cx="1432697" cy="30826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r>
              <a:rPr lang="ko-KR" altLang="en-US" sz="1200" b="1" spc="-150" dirty="0"/>
              <a:t>가상머신</a:t>
            </a:r>
            <a:endParaRPr lang="en-US" altLang="ko-KR" sz="1200" spc="-150" dirty="0"/>
          </a:p>
        </p:txBody>
      </p:sp>
      <p:grpSp>
        <p:nvGrpSpPr>
          <p:cNvPr id="124" name="그룹 123"/>
          <p:cNvGrpSpPr/>
          <p:nvPr/>
        </p:nvGrpSpPr>
        <p:grpSpPr>
          <a:xfrm>
            <a:off x="5955248" y="2923372"/>
            <a:ext cx="1432697" cy="1472828"/>
            <a:chOff x="4835042" y="2785816"/>
            <a:chExt cx="1432697" cy="1472828"/>
          </a:xfrm>
        </p:grpSpPr>
        <p:sp>
          <p:nvSpPr>
            <p:cNvPr id="168" name="모서리가 둥근 직사각형 167"/>
            <p:cNvSpPr/>
            <p:nvPr/>
          </p:nvSpPr>
          <p:spPr>
            <a:xfrm>
              <a:off x="4835042" y="2785816"/>
              <a:ext cx="1432697" cy="1472828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9" name="모서리가 둥근 직사각형 168"/>
            <p:cNvSpPr/>
            <p:nvPr/>
          </p:nvSpPr>
          <p:spPr>
            <a:xfrm>
              <a:off x="5415225" y="3119394"/>
              <a:ext cx="273021" cy="22853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0" name="모서리가 둥근 직사각형 169"/>
            <p:cNvSpPr/>
            <p:nvPr/>
          </p:nvSpPr>
          <p:spPr>
            <a:xfrm>
              <a:off x="5844355" y="3119993"/>
              <a:ext cx="271589" cy="227332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1" name="모서리가 둥근 직사각형 170"/>
            <p:cNvSpPr/>
            <p:nvPr/>
          </p:nvSpPr>
          <p:spPr>
            <a:xfrm>
              <a:off x="4987526" y="3119394"/>
              <a:ext cx="273021" cy="22853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grpSp>
          <p:nvGrpSpPr>
            <p:cNvPr id="172" name="그룹 171"/>
            <p:cNvGrpSpPr/>
            <p:nvPr/>
          </p:nvGrpSpPr>
          <p:grpSpPr>
            <a:xfrm>
              <a:off x="4987525" y="3495887"/>
              <a:ext cx="1128417" cy="228535"/>
              <a:chOff x="3042498" y="3089066"/>
              <a:chExt cx="1558078" cy="243448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78" name="모서리가 둥근 직사각형 177"/>
              <p:cNvSpPr/>
              <p:nvPr/>
            </p:nvSpPr>
            <p:spPr>
              <a:xfrm>
                <a:off x="3633048" y="3089066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9" name="모서리가 둥근 직사각형 178"/>
              <p:cNvSpPr/>
              <p:nvPr/>
            </p:nvSpPr>
            <p:spPr>
              <a:xfrm>
                <a:off x="4225576" y="3089705"/>
                <a:ext cx="375000" cy="242166"/>
              </a:xfrm>
              <a:prstGeom prst="roundRect">
                <a:avLst>
                  <a:gd name="adj" fmla="val 1761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80" name="모서리가 둥근 직사각형 179"/>
              <p:cNvSpPr/>
              <p:nvPr/>
            </p:nvSpPr>
            <p:spPr>
              <a:xfrm>
                <a:off x="3042498" y="3089072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73" name="그룹 172"/>
            <p:cNvGrpSpPr/>
            <p:nvPr/>
          </p:nvGrpSpPr>
          <p:grpSpPr>
            <a:xfrm>
              <a:off x="4987525" y="3872373"/>
              <a:ext cx="1128417" cy="228529"/>
              <a:chOff x="3042498" y="3128183"/>
              <a:chExt cx="1558078" cy="24344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175" name="모서리가 둥근 직사각형 174"/>
              <p:cNvSpPr/>
              <p:nvPr/>
            </p:nvSpPr>
            <p:spPr>
              <a:xfrm>
                <a:off x="3633048" y="3128183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6" name="모서리가 둥근 직사각형 175"/>
              <p:cNvSpPr/>
              <p:nvPr/>
            </p:nvSpPr>
            <p:spPr>
              <a:xfrm>
                <a:off x="4225576" y="3128821"/>
                <a:ext cx="375000" cy="242166"/>
              </a:xfrm>
              <a:prstGeom prst="roundRect">
                <a:avLst>
                  <a:gd name="adj" fmla="val 1761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7" name="모서리가 둥근 직사각형 176"/>
              <p:cNvSpPr/>
              <p:nvPr/>
            </p:nvSpPr>
            <p:spPr>
              <a:xfrm>
                <a:off x="3042498" y="3128183"/>
                <a:ext cx="376978" cy="24344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74" name="TextBox 238"/>
            <p:cNvSpPr txBox="1"/>
            <p:nvPr/>
          </p:nvSpPr>
          <p:spPr>
            <a:xfrm>
              <a:off x="4835042" y="2810440"/>
              <a:ext cx="1432697" cy="308269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/>
              <a:r>
                <a:rPr lang="ko-KR" altLang="en-US" sz="1200" b="1" spc="-150" dirty="0"/>
                <a:t>가상머신</a:t>
              </a:r>
              <a:endParaRPr lang="en-US" altLang="ko-KR" sz="1200" spc="-150" dirty="0"/>
            </a:p>
          </p:txBody>
        </p:sp>
      </p:grpSp>
      <p:sp>
        <p:nvSpPr>
          <p:cNvPr id="125" name="위로 구부러진 화살표 124"/>
          <p:cNvSpPr/>
          <p:nvPr/>
        </p:nvSpPr>
        <p:spPr>
          <a:xfrm rot="1639705">
            <a:off x="4739463" y="3067467"/>
            <a:ext cx="1649780" cy="642780"/>
          </a:xfrm>
          <a:prstGeom prst="curvedUpArrow">
            <a:avLst/>
          </a:prstGeom>
          <a:solidFill>
            <a:srgbClr val="002060"/>
          </a:solidFill>
          <a:ln w="12700">
            <a:solidFill>
              <a:schemeClr val="bg2">
                <a:lumMod val="50000"/>
                <a:alpha val="29000"/>
              </a:schemeClr>
            </a:solidFill>
          </a:ln>
          <a:effectLst>
            <a:outerShdw blurRad="50800" dist="50800" dir="27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4896087" y="2555373"/>
            <a:ext cx="273021" cy="228530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457250" y="3811818"/>
            <a:ext cx="492443" cy="27821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ko-KR" altLang="en-US" sz="1200" b="1" dirty="0">
                <a:solidFill>
                  <a:srgbClr val="002060"/>
                </a:solidFill>
              </a:rPr>
              <a:t>배포</a:t>
            </a:r>
            <a:endParaRPr lang="ko-KR" altLang="en-US" sz="1100" b="1" dirty="0">
              <a:solidFill>
                <a:srgbClr val="002060"/>
              </a:solidFill>
            </a:endParaRPr>
          </a:p>
        </p:txBody>
      </p:sp>
      <p:sp>
        <p:nvSpPr>
          <p:cNvPr id="128" name="직사각형 127"/>
          <p:cNvSpPr>
            <a:spLocks noChangeArrowheads="1"/>
          </p:cNvSpPr>
          <p:nvPr/>
        </p:nvSpPr>
        <p:spPr bwMode="auto">
          <a:xfrm>
            <a:off x="4562699" y="4767423"/>
            <a:ext cx="2985155" cy="44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36000" rIns="7200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indent="-176213"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</a:pPr>
            <a:r>
              <a:rPr lang="ko-KR" altLang="en-US" sz="1200" spc="-50" dirty="0">
                <a:solidFill>
                  <a:srgbClr val="002060"/>
                </a:solidFill>
              </a:rPr>
              <a:t>가상머신 수준의 장애 발생 시</a:t>
            </a:r>
            <a:br>
              <a:rPr lang="en-US" altLang="ko-KR" sz="1200" spc="-50" dirty="0">
                <a:solidFill>
                  <a:srgbClr val="002060"/>
                </a:solidFill>
              </a:rPr>
            </a:br>
            <a:r>
              <a:rPr lang="ko-KR" altLang="en-US" sz="1200" spc="-50" dirty="0">
                <a:solidFill>
                  <a:srgbClr val="002060"/>
                </a:solidFill>
              </a:rPr>
              <a:t>다른 </a:t>
            </a:r>
            <a:r>
              <a:rPr lang="ko-KR" altLang="en-US" sz="1200" spc="-50" dirty="0" err="1">
                <a:solidFill>
                  <a:srgbClr val="002060"/>
                </a:solidFill>
              </a:rPr>
              <a:t>가상머신의</a:t>
            </a:r>
            <a:r>
              <a:rPr lang="ko-KR" altLang="en-US" sz="1200" spc="-50" dirty="0">
                <a:solidFill>
                  <a:srgbClr val="002060"/>
                </a:solidFill>
              </a:rPr>
              <a:t> 컨테이너로 이동 </a:t>
            </a:r>
            <a:endParaRPr lang="en-US" altLang="ko-KR" sz="1200" spc="-50" dirty="0">
              <a:solidFill>
                <a:srgbClr val="002060"/>
              </a:solidFill>
            </a:endParaRPr>
          </a:p>
        </p:txBody>
      </p:sp>
      <p:sp>
        <p:nvSpPr>
          <p:cNvPr id="129" name="폭발 1 128"/>
          <p:cNvSpPr/>
          <p:nvPr/>
        </p:nvSpPr>
        <p:spPr>
          <a:xfrm>
            <a:off x="5746578" y="2007552"/>
            <a:ext cx="633976" cy="727820"/>
          </a:xfrm>
          <a:prstGeom prst="irregularSeal1">
            <a:avLst/>
          </a:prstGeom>
          <a:solidFill>
            <a:srgbClr val="FF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</a:t>
            </a:r>
          </a:p>
        </p:txBody>
      </p:sp>
      <p:sp>
        <p:nvSpPr>
          <p:cNvPr id="130" name="모서리가 둥근 직사각형 129"/>
          <p:cNvSpPr/>
          <p:nvPr/>
        </p:nvSpPr>
        <p:spPr bwMode="gray">
          <a:xfrm>
            <a:off x="7820261" y="3369924"/>
            <a:ext cx="1445217" cy="347964"/>
          </a:xfrm>
          <a:prstGeom prst="roundRect">
            <a:avLst/>
          </a:prstGeom>
          <a:gradFill rotWithShape="1">
            <a:gsLst>
              <a:gs pos="0">
                <a:srgbClr val="B2B2B2"/>
              </a:gs>
              <a:gs pos="4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12700" algn="ctr">
            <a:solidFill>
              <a:schemeClr val="tx1">
                <a:lumMod val="75000"/>
                <a:lumOff val="25000"/>
              </a:schemeClr>
            </a:solidFill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spc="-50" dirty="0">
                <a:solidFill>
                  <a:schemeClr val="bg1"/>
                </a:solidFill>
                <a:cs typeface="Arial" pitchFamily="34" charset="0"/>
              </a:rPr>
              <a:t>HW</a:t>
            </a: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8079855" y="2045264"/>
            <a:ext cx="1185622" cy="1121944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모서리가 둥근 직사각형 131"/>
          <p:cNvSpPr/>
          <p:nvPr/>
        </p:nvSpPr>
        <p:spPr>
          <a:xfrm>
            <a:off x="7964720" y="2112499"/>
            <a:ext cx="1185622" cy="1121944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868306" y="2185722"/>
            <a:ext cx="1185622" cy="1121944"/>
          </a:xfrm>
          <a:prstGeom prst="roundRect">
            <a:avLst>
              <a:gd name="adj" fmla="val 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8348435" y="2439830"/>
            <a:ext cx="225937" cy="174085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8703558" y="2440286"/>
            <a:ext cx="224752" cy="173173"/>
          </a:xfrm>
          <a:prstGeom prst="roundRect">
            <a:avLst>
              <a:gd name="adj" fmla="val 1761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6" name="그룹 135"/>
          <p:cNvGrpSpPr/>
          <p:nvPr/>
        </p:nvGrpSpPr>
        <p:grpSpPr>
          <a:xfrm>
            <a:off x="7994495" y="2726628"/>
            <a:ext cx="933818" cy="174089"/>
            <a:chOff x="3042498" y="3089066"/>
            <a:chExt cx="1558078" cy="243448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65" name="모서리가 둥근 직사각형 164"/>
            <p:cNvSpPr/>
            <p:nvPr/>
          </p:nvSpPr>
          <p:spPr>
            <a:xfrm>
              <a:off x="3633048" y="3089066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4225576" y="3089705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3042498" y="3089072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7" name="그룹 136"/>
          <p:cNvGrpSpPr/>
          <p:nvPr/>
        </p:nvGrpSpPr>
        <p:grpSpPr>
          <a:xfrm>
            <a:off x="7994495" y="3013421"/>
            <a:ext cx="933818" cy="174085"/>
            <a:chOff x="3042498" y="3128183"/>
            <a:chExt cx="1558078" cy="24344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62" name="모서리가 둥근 직사각형 161"/>
            <p:cNvSpPr/>
            <p:nvPr/>
          </p:nvSpPr>
          <p:spPr>
            <a:xfrm>
              <a:off x="363304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4225576" y="3128821"/>
              <a:ext cx="375000" cy="242166"/>
            </a:xfrm>
            <a:prstGeom prst="roundRect">
              <a:avLst>
                <a:gd name="adj" fmla="val 1761"/>
              </a:avLst>
            </a:prstGeom>
            <a:solidFill>
              <a:srgbClr val="B7DEE8">
                <a:alpha val="70000"/>
              </a:srgb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4" name="모서리가 둥근 직사각형 163"/>
            <p:cNvSpPr/>
            <p:nvPr/>
          </p:nvSpPr>
          <p:spPr>
            <a:xfrm>
              <a:off x="3042498" y="3128183"/>
              <a:ext cx="376978" cy="243442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8" name="TextBox 260"/>
          <p:cNvSpPr txBox="1"/>
          <p:nvPr/>
        </p:nvSpPr>
        <p:spPr>
          <a:xfrm>
            <a:off x="7868306" y="2171178"/>
            <a:ext cx="1185622" cy="23482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r>
              <a:rPr lang="ko-KR" altLang="en-US" sz="1200" b="1" spc="-150" dirty="0"/>
              <a:t>가상머신</a:t>
            </a:r>
            <a:endParaRPr lang="en-US" altLang="ko-KR" sz="1200" spc="-150" dirty="0"/>
          </a:p>
        </p:txBody>
      </p:sp>
      <p:grpSp>
        <p:nvGrpSpPr>
          <p:cNvPr id="139" name="그룹 138"/>
          <p:cNvGrpSpPr/>
          <p:nvPr/>
        </p:nvGrpSpPr>
        <p:grpSpPr>
          <a:xfrm>
            <a:off x="9086852" y="2613914"/>
            <a:ext cx="1445217" cy="1664078"/>
            <a:chOff x="6717148" y="1950435"/>
            <a:chExt cx="1256366" cy="1664078"/>
          </a:xfrm>
        </p:grpSpPr>
        <p:sp>
          <p:nvSpPr>
            <p:cNvPr id="145" name="모서리가 둥근 직사각형 144"/>
            <p:cNvSpPr/>
            <p:nvPr/>
          </p:nvSpPr>
          <p:spPr bwMode="gray">
            <a:xfrm>
              <a:off x="6717148" y="3266549"/>
              <a:ext cx="1256366" cy="347964"/>
            </a:xfrm>
            <a:prstGeom prst="roundRect">
              <a:avLst/>
            </a:prstGeom>
            <a:gradFill rotWithShape="1">
              <a:gsLst>
                <a:gs pos="0">
                  <a:srgbClr val="B2B2B2"/>
                </a:gs>
                <a:gs pos="47000">
                  <a:schemeClr val="tx1">
                    <a:lumMod val="65000"/>
                    <a:lumOff val="3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2700000" scaled="1"/>
            </a:gradFill>
            <a:ln w="12700" algn="ctr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ffectLst>
              <a:outerShdw blurRad="50800" dist="25400" dir="4200000" algn="tl" rotWithShape="0">
                <a:prstClr val="black">
                  <a:alpha val="28000"/>
                </a:prstClr>
              </a:outerShdw>
            </a:effectLst>
          </p:spPr>
          <p:txBody>
            <a:bodyPr wrap="none" lIns="72000" tIns="72000" rIns="72000" bIns="72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+mn-cs"/>
                </a:defRPr>
              </a:lvl9pPr>
            </a:lstStyle>
            <a:p>
              <a:pPr algn="ctr" defTabSz="801688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b="1" spc="-50" dirty="0">
                  <a:solidFill>
                    <a:schemeClr val="bg1"/>
                  </a:solidFill>
                  <a:cs typeface="Arial" pitchFamily="34" charset="0"/>
                </a:rPr>
                <a:t>HW</a:t>
              </a:r>
            </a:p>
          </p:txBody>
        </p:sp>
        <p:sp>
          <p:nvSpPr>
            <p:cNvPr id="146" name="모서리가 둥근 직사각형 145"/>
            <p:cNvSpPr/>
            <p:nvPr/>
          </p:nvSpPr>
          <p:spPr>
            <a:xfrm>
              <a:off x="6942821" y="1950435"/>
              <a:ext cx="1030693" cy="1121944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7" name="모서리가 둥근 직사각형 146"/>
            <p:cNvSpPr/>
            <p:nvPr/>
          </p:nvSpPr>
          <p:spPr>
            <a:xfrm>
              <a:off x="6842731" y="2017670"/>
              <a:ext cx="1030693" cy="1121944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48" name="그룹 147"/>
            <p:cNvGrpSpPr/>
            <p:nvPr/>
          </p:nvGrpSpPr>
          <p:grpSpPr>
            <a:xfrm>
              <a:off x="6758916" y="2076349"/>
              <a:ext cx="1030693" cy="1136488"/>
              <a:chOff x="4835042" y="2766723"/>
              <a:chExt cx="1432697" cy="1491921"/>
            </a:xfrm>
          </p:grpSpPr>
          <p:sp>
            <p:nvSpPr>
              <p:cNvPr id="149" name="모서리가 둥근 직사각형 148"/>
              <p:cNvSpPr/>
              <p:nvPr/>
            </p:nvSpPr>
            <p:spPr>
              <a:xfrm>
                <a:off x="4835042" y="2785816"/>
                <a:ext cx="1432697" cy="1472828"/>
              </a:xfrm>
              <a:prstGeom prst="roundRect">
                <a:avLst>
                  <a:gd name="adj" fmla="val 0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0" name="모서리가 둥근 직사각형 149"/>
              <p:cNvSpPr/>
              <p:nvPr/>
            </p:nvSpPr>
            <p:spPr>
              <a:xfrm>
                <a:off x="5415225" y="3119394"/>
                <a:ext cx="273021" cy="22853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1" name="모서리가 둥근 직사각형 150"/>
              <p:cNvSpPr/>
              <p:nvPr/>
            </p:nvSpPr>
            <p:spPr>
              <a:xfrm>
                <a:off x="5844355" y="3119993"/>
                <a:ext cx="271589" cy="227332"/>
              </a:xfrm>
              <a:prstGeom prst="roundRect">
                <a:avLst>
                  <a:gd name="adj" fmla="val 1761"/>
                </a:avLst>
              </a:prstGeom>
              <a:solidFill>
                <a:schemeClr val="tx1">
                  <a:lumMod val="50000"/>
                  <a:lumOff val="50000"/>
                  <a:alpha val="70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153" name="그룹 152"/>
              <p:cNvGrpSpPr/>
              <p:nvPr/>
            </p:nvGrpSpPr>
            <p:grpSpPr>
              <a:xfrm>
                <a:off x="4987525" y="3495887"/>
                <a:ext cx="1128417" cy="228535"/>
                <a:chOff x="3042498" y="3089066"/>
                <a:chExt cx="1558078" cy="243448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159" name="모서리가 둥근 직사각형 158"/>
                <p:cNvSpPr/>
                <p:nvPr/>
              </p:nvSpPr>
              <p:spPr>
                <a:xfrm>
                  <a:off x="3633048" y="3089066"/>
                  <a:ext cx="376978" cy="243442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60" name="모서리가 둥근 직사각형 159"/>
                <p:cNvSpPr/>
                <p:nvPr/>
              </p:nvSpPr>
              <p:spPr>
                <a:xfrm>
                  <a:off x="4225576" y="3089705"/>
                  <a:ext cx="375000" cy="242166"/>
                </a:xfrm>
                <a:prstGeom prst="roundRect">
                  <a:avLst>
                    <a:gd name="adj" fmla="val 1761"/>
                  </a:avLst>
                </a:prstGeom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61" name="모서리가 둥근 직사각형 160"/>
                <p:cNvSpPr/>
                <p:nvPr/>
              </p:nvSpPr>
              <p:spPr>
                <a:xfrm>
                  <a:off x="3042498" y="3089072"/>
                  <a:ext cx="376978" cy="243442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154" name="그룹 153"/>
              <p:cNvGrpSpPr/>
              <p:nvPr/>
            </p:nvGrpSpPr>
            <p:grpSpPr>
              <a:xfrm>
                <a:off x="4987525" y="3872373"/>
                <a:ext cx="1128417" cy="228529"/>
                <a:chOff x="3042498" y="3128183"/>
                <a:chExt cx="1558078" cy="243442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156" name="모서리가 둥근 직사각형 155"/>
                <p:cNvSpPr/>
                <p:nvPr/>
              </p:nvSpPr>
              <p:spPr>
                <a:xfrm>
                  <a:off x="3633048" y="3128183"/>
                  <a:ext cx="376978" cy="243442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57" name="모서리가 둥근 직사각형 156"/>
                <p:cNvSpPr/>
                <p:nvPr/>
              </p:nvSpPr>
              <p:spPr>
                <a:xfrm>
                  <a:off x="4225576" y="3128821"/>
                  <a:ext cx="375000" cy="242166"/>
                </a:xfrm>
                <a:prstGeom prst="roundRect">
                  <a:avLst>
                    <a:gd name="adj" fmla="val 1761"/>
                  </a:avLst>
                </a:prstGeom>
                <a:solidFill>
                  <a:srgbClr val="B7DEE8">
                    <a:alpha val="70000"/>
                  </a:srgbClr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58" name="모서리가 둥근 직사각형 157"/>
                <p:cNvSpPr/>
                <p:nvPr/>
              </p:nvSpPr>
              <p:spPr>
                <a:xfrm>
                  <a:off x="3042498" y="3128183"/>
                  <a:ext cx="376978" cy="243442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155" name="TextBox 280"/>
              <p:cNvSpPr txBox="1"/>
              <p:nvPr/>
            </p:nvSpPr>
            <p:spPr>
              <a:xfrm>
                <a:off x="4835042" y="2766723"/>
                <a:ext cx="1432697" cy="30827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+mn-cs"/>
                  </a:defRPr>
                </a:lvl9pPr>
              </a:lstStyle>
              <a:p>
                <a:pPr algn="ctr"/>
                <a:r>
                  <a:rPr lang="ko-KR" altLang="en-US" sz="1200" b="1" spc="-150" dirty="0"/>
                  <a:t>가상머신</a:t>
                </a:r>
                <a:endParaRPr lang="en-US" altLang="ko-KR" sz="1200" spc="-150" dirty="0"/>
              </a:p>
            </p:txBody>
          </p:sp>
        </p:grpSp>
      </p:grpSp>
      <p:sp>
        <p:nvSpPr>
          <p:cNvPr id="140" name="위로 구부러진 화살표 139"/>
          <p:cNvSpPr/>
          <p:nvPr/>
        </p:nvSpPr>
        <p:spPr>
          <a:xfrm rot="1383751">
            <a:off x="8332744" y="3943309"/>
            <a:ext cx="1555975" cy="585037"/>
          </a:xfrm>
          <a:prstGeom prst="curvedUpArrow">
            <a:avLst/>
          </a:prstGeom>
          <a:solidFill>
            <a:srgbClr val="002060"/>
          </a:solidFill>
          <a:ln w="12700">
            <a:solidFill>
              <a:schemeClr val="bg2">
                <a:lumMod val="50000"/>
                <a:alpha val="29000"/>
              </a:schemeClr>
            </a:solidFill>
          </a:ln>
          <a:effectLst>
            <a:outerShdw blurRad="50800" dist="50800" dir="2700000" algn="ctr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폭발 1 140"/>
          <p:cNvSpPr/>
          <p:nvPr/>
        </p:nvSpPr>
        <p:spPr>
          <a:xfrm>
            <a:off x="7736654" y="3187387"/>
            <a:ext cx="633976" cy="727820"/>
          </a:xfrm>
          <a:prstGeom prst="irregularSeal1">
            <a:avLst/>
          </a:prstGeom>
          <a:solidFill>
            <a:srgbClr val="FF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</a:t>
            </a:r>
          </a:p>
        </p:txBody>
      </p:sp>
      <p:sp>
        <p:nvSpPr>
          <p:cNvPr id="142" name="직사각형 141"/>
          <p:cNvSpPr>
            <a:spLocks noChangeArrowheads="1"/>
          </p:cNvSpPr>
          <p:nvPr/>
        </p:nvSpPr>
        <p:spPr bwMode="auto">
          <a:xfrm>
            <a:off x="7714352" y="4767423"/>
            <a:ext cx="2953267" cy="44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36000" rIns="7200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indent="-176213">
              <a:spcBef>
                <a:spcPts val="400"/>
              </a:spcBef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</a:pPr>
            <a:r>
              <a:rPr lang="en-US" altLang="ko-KR" sz="1200" spc="-50" dirty="0">
                <a:solidFill>
                  <a:srgbClr val="002060"/>
                </a:solidFill>
              </a:rPr>
              <a:t>HW</a:t>
            </a:r>
            <a:r>
              <a:rPr lang="ko-KR" altLang="en-US" sz="1200" spc="-50" dirty="0">
                <a:solidFill>
                  <a:srgbClr val="002060"/>
                </a:solidFill>
              </a:rPr>
              <a:t> 수준의 장애 발생 시</a:t>
            </a:r>
            <a:br>
              <a:rPr lang="en-US" altLang="ko-KR" sz="1200" spc="-50" dirty="0">
                <a:solidFill>
                  <a:srgbClr val="002060"/>
                </a:solidFill>
              </a:rPr>
            </a:br>
            <a:r>
              <a:rPr lang="ko-KR" altLang="en-US" sz="1200" spc="-50" dirty="0">
                <a:solidFill>
                  <a:srgbClr val="002060"/>
                </a:solidFill>
              </a:rPr>
              <a:t>다른 </a:t>
            </a:r>
            <a:r>
              <a:rPr lang="en-US" altLang="ko-KR" sz="1200" spc="-50" dirty="0">
                <a:solidFill>
                  <a:srgbClr val="002060"/>
                </a:solidFill>
              </a:rPr>
              <a:t>HW</a:t>
            </a:r>
            <a:r>
              <a:rPr lang="ko-KR" altLang="en-US" sz="1200" spc="-50" dirty="0">
                <a:solidFill>
                  <a:srgbClr val="002060"/>
                </a:solidFill>
              </a:rPr>
              <a:t> </a:t>
            </a:r>
            <a:r>
              <a:rPr lang="ko-KR" altLang="en-US" sz="1200" spc="-50" dirty="0" err="1">
                <a:solidFill>
                  <a:srgbClr val="002060"/>
                </a:solidFill>
              </a:rPr>
              <a:t>가상머신의</a:t>
            </a:r>
            <a:r>
              <a:rPr lang="ko-KR" altLang="en-US" sz="1200" spc="-50" dirty="0">
                <a:solidFill>
                  <a:srgbClr val="002060"/>
                </a:solidFill>
              </a:rPr>
              <a:t> 컨테이너로 이동 </a:t>
            </a:r>
            <a:endParaRPr lang="en-US" altLang="ko-KR" sz="1200" spc="-50" dirty="0">
              <a:solidFill>
                <a:srgbClr val="002060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8282674" y="4266044"/>
            <a:ext cx="492443" cy="278218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ko-KR" altLang="en-US" sz="1200" b="1" dirty="0">
                <a:solidFill>
                  <a:srgbClr val="002060"/>
                </a:solidFill>
              </a:rPr>
              <a:t>배포</a:t>
            </a:r>
            <a:endParaRPr lang="ko-KR" altLang="en-US" sz="1100" b="1" dirty="0">
              <a:solidFill>
                <a:srgbClr val="002060"/>
              </a:solidFill>
            </a:endParaRPr>
          </a:p>
        </p:txBody>
      </p:sp>
      <p:pic>
        <p:nvPicPr>
          <p:cNvPr id="143" name="그림 14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4" t="36879" r="39261" b="56924"/>
          <a:stretch/>
        </p:blipFill>
        <p:spPr>
          <a:xfrm>
            <a:off x="10200076" y="1106773"/>
            <a:ext cx="497864" cy="174195"/>
          </a:xfrm>
          <a:prstGeom prst="rect">
            <a:avLst/>
          </a:prstGeom>
        </p:spPr>
      </p:pic>
      <p:sp>
        <p:nvSpPr>
          <p:cNvPr id="193" name="모서리가 둥근 직사각형 192"/>
          <p:cNvSpPr/>
          <p:nvPr/>
        </p:nvSpPr>
        <p:spPr>
          <a:xfrm>
            <a:off x="7988208" y="2439374"/>
            <a:ext cx="225937" cy="174085"/>
          </a:xfrm>
          <a:prstGeom prst="roundRect">
            <a:avLst>
              <a:gd name="adj" fmla="val 0"/>
            </a:avLst>
          </a:prstGeom>
          <a:solidFill>
            <a:srgbClr val="B7DEE8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9269287" y="3010728"/>
            <a:ext cx="225937" cy="174085"/>
          </a:xfrm>
          <a:prstGeom prst="roundRect">
            <a:avLst>
              <a:gd name="adj" fmla="val 0"/>
            </a:avLst>
          </a:prstGeom>
          <a:solidFill>
            <a:srgbClr val="B7DEE8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14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11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utoShape 2"/>
          <p:cNvSpPr>
            <a:spLocks noChangeArrowheads="1"/>
          </p:cNvSpPr>
          <p:nvPr/>
        </p:nvSpPr>
        <p:spPr bwMode="gray">
          <a:xfrm>
            <a:off x="1450976" y="1520788"/>
            <a:ext cx="4458729" cy="48253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DDDDD">
                  <a:gamma/>
                  <a:tint val="0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spc="-5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3" name="AutoShape 2"/>
          <p:cNvSpPr>
            <a:spLocks noChangeArrowheads="1"/>
          </p:cNvSpPr>
          <p:nvPr/>
        </p:nvSpPr>
        <p:spPr bwMode="gray">
          <a:xfrm>
            <a:off x="6282297" y="1542551"/>
            <a:ext cx="4458729" cy="48253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DDDDDD">
                  <a:gamma/>
                  <a:tint val="0"/>
                  <a:invGamma/>
                </a:srgbClr>
              </a:gs>
              <a:gs pos="100000">
                <a:srgbClr val="DDDDDD"/>
              </a:gs>
            </a:gsLst>
            <a:lin ang="2700000" scaled="1"/>
          </a:gradFill>
          <a:ln w="6350" algn="ctr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outerShdw blurRad="50800" dist="25400" dir="402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 eaLnBrk="0" latinLnBrk="0" hangingPunct="0">
              <a:defRPr/>
            </a:pPr>
            <a:endParaRPr lang="ko-KR" altLang="ko-KR" spc="-5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" name="모서리가 둥근 직사각형 2"/>
          <p:cNvSpPr/>
          <p:nvPr/>
        </p:nvSpPr>
        <p:spPr bwMode="gray">
          <a:xfrm>
            <a:off x="1451747" y="1004093"/>
            <a:ext cx="9285197" cy="4432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marL="176213" defTabSz="801688">
              <a:defRPr/>
            </a:pPr>
            <a:r>
              <a:rPr lang="ko-KR" altLang="en-US" sz="16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운영현황 통합 모니터링 기반의 장애 대응으로 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HW 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및 </a:t>
            </a:r>
            <a:r>
              <a:rPr lang="en-US" altLang="ko-KR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수준의 </a:t>
            </a:r>
            <a:r>
              <a:rPr lang="ko-KR" altLang="en-US" sz="1600" b="1" spc="-50" dirty="0" err="1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고가용성</a:t>
            </a:r>
            <a:r>
              <a:rPr lang="ko-KR" altLang="en-US" sz="16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보장</a:t>
            </a:r>
            <a:endParaRPr lang="ko-KR" altLang="en-US" sz="1600" b="1" spc="-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5" name="모서리가 둥근 직사각형 4"/>
          <p:cNvSpPr/>
          <p:nvPr/>
        </p:nvSpPr>
        <p:spPr bwMode="gray">
          <a:xfrm>
            <a:off x="1460292" y="1526561"/>
            <a:ext cx="4444238" cy="380539"/>
          </a:xfrm>
          <a:prstGeom prst="roundRect">
            <a:avLst>
              <a:gd name="adj" fmla="val 0"/>
            </a:avLst>
          </a:prstGeom>
          <a:solidFill>
            <a:srgbClr val="1F497D">
              <a:lumMod val="20000"/>
              <a:lumOff val="80000"/>
            </a:srgbClr>
          </a:solidFill>
          <a:ln w="6350" algn="ctr">
            <a:solidFill>
              <a:srgbClr val="4BACC6">
                <a:lumMod val="60000"/>
                <a:lumOff val="40000"/>
              </a:srgbClr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801688" latinLnBrk="0">
              <a:defRPr/>
            </a:pPr>
            <a:r>
              <a:rPr lang="en-US" altLang="ko-KR" b="1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IaaS </a:t>
            </a:r>
            <a:r>
              <a:rPr lang="ko-KR" altLang="en-US" b="1" kern="0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도입 시</a:t>
            </a:r>
          </a:p>
        </p:txBody>
      </p:sp>
      <p:sp>
        <p:nvSpPr>
          <p:cNvPr id="7" name="모서리가 둥근 직사각형 6"/>
          <p:cNvSpPr/>
          <p:nvPr/>
        </p:nvSpPr>
        <p:spPr bwMode="gray">
          <a:xfrm>
            <a:off x="6284458" y="1535107"/>
            <a:ext cx="4444238" cy="38053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4DABF5"/>
              </a:gs>
              <a:gs pos="47000">
                <a:srgbClr val="0173D4"/>
              </a:gs>
              <a:gs pos="100000">
                <a:srgbClr val="0048AC"/>
              </a:gs>
            </a:gsLst>
            <a:lin ang="2700000" scaled="1"/>
          </a:gra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vert="horz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801688" latinLnBrk="0">
              <a:defRPr/>
            </a:pPr>
            <a:r>
              <a:rPr lang="ko-KR" altLang="en-US" b="1" kern="0" spc="-5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파스</a:t>
            </a:r>
            <a:r>
              <a:rPr lang="en-US" altLang="ko-KR" b="1" kern="0" spc="-5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-</a:t>
            </a:r>
            <a:r>
              <a:rPr lang="ko-KR" altLang="en-US" b="1" kern="0" spc="-5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타</a:t>
            </a:r>
            <a:r>
              <a:rPr lang="en-US" altLang="ko-KR" b="1" kern="0" spc="-5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b="1" kern="0" spc="-50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도입 시</a:t>
            </a:r>
          </a:p>
        </p:txBody>
      </p:sp>
      <p:sp>
        <p:nvSpPr>
          <p:cNvPr id="8" name="직사각형 7"/>
          <p:cNvSpPr>
            <a:spLocks noChangeArrowheads="1"/>
          </p:cNvSpPr>
          <p:nvPr/>
        </p:nvSpPr>
        <p:spPr bwMode="auto">
          <a:xfrm>
            <a:off x="6202854" y="5526717"/>
            <a:ext cx="4536886" cy="648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0" tIns="36000" anchor="t"/>
          <a:lstStyle/>
          <a:p>
            <a:pPr marL="182563" indent="-182563" latinLnBrk="0">
              <a:spcBef>
                <a:spcPts val="400"/>
              </a:spcBef>
              <a:buClr>
                <a:prstClr val="black">
                  <a:lumMod val="50000"/>
                  <a:lumOff val="50000"/>
                </a:prst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파스</a:t>
            </a:r>
            <a:r>
              <a:rPr lang="en-US" altLang="ko-KR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타는 가상머신 위에서 동작하는 컨테이너에 대한 모니터링 및 장애대응 자동화를 통해 </a:t>
            </a:r>
            <a:r>
              <a:rPr lang="en-US" altLang="ko-KR" sz="1400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</a:t>
            </a:r>
            <a:r>
              <a:rPr lang="ko-KR" altLang="en-US" sz="1400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수준의 </a:t>
            </a:r>
            <a:r>
              <a:rPr lang="ko-KR" altLang="en-US" sz="1400" b="1" u="sng" kern="0" spc="-5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고가용성을</a:t>
            </a:r>
            <a:r>
              <a:rPr lang="ko-KR" altLang="en-US" sz="1400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보장</a:t>
            </a:r>
            <a:r>
              <a:rPr lang="ko-KR" altLang="en-US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</a:t>
            </a:r>
          </a:p>
        </p:txBody>
      </p:sp>
      <p:sp>
        <p:nvSpPr>
          <p:cNvPr id="9" name="직사각형 8"/>
          <p:cNvSpPr>
            <a:spLocks noChangeArrowheads="1"/>
          </p:cNvSpPr>
          <p:nvPr/>
        </p:nvSpPr>
        <p:spPr bwMode="auto">
          <a:xfrm>
            <a:off x="1416553" y="5568921"/>
            <a:ext cx="4536886" cy="648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0" tIns="36000" anchor="t"/>
          <a:lstStyle/>
          <a:p>
            <a:pPr marL="182563" indent="-182563" latinLnBrk="0">
              <a:spcBef>
                <a:spcPts val="400"/>
              </a:spcBef>
              <a:buClr>
                <a:prstClr val="black">
                  <a:lumMod val="50000"/>
                  <a:lumOff val="50000"/>
                </a:prstClr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IaaS</a:t>
            </a:r>
            <a:r>
              <a:rPr lang="ko-KR" altLang="en-US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400" kern="0" spc="-5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가상머신에</a:t>
            </a:r>
            <a:r>
              <a:rPr lang="ko-KR" altLang="en-US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대한 모니터링 및 장애대응 </a:t>
            </a:r>
            <a:br>
              <a:rPr lang="en-US" altLang="ko-KR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자동화를 통해 </a:t>
            </a:r>
            <a:r>
              <a:rPr lang="en-US" altLang="ko-KR" sz="1400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H/W </a:t>
            </a:r>
            <a:r>
              <a:rPr lang="ko-KR" altLang="en-US" sz="1400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수준의 </a:t>
            </a:r>
            <a:r>
              <a:rPr lang="ko-KR" altLang="en-US" sz="1400" b="1" u="sng" kern="0" spc="-50" dirty="0" err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고가용성을</a:t>
            </a:r>
            <a:r>
              <a:rPr lang="ko-KR" altLang="en-US" sz="1400" b="1" u="sng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보장</a:t>
            </a:r>
            <a:r>
              <a:rPr lang="ko-KR" altLang="en-US" sz="1400" kern="0" spc="-50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605681" y="4341737"/>
            <a:ext cx="4138924" cy="957457"/>
            <a:chOff x="490817" y="3449040"/>
            <a:chExt cx="4138924" cy="813477"/>
          </a:xfrm>
        </p:grpSpPr>
        <p:sp>
          <p:nvSpPr>
            <p:cNvPr id="11" name="모서리가 둥근 직사각형 10"/>
            <p:cNvSpPr/>
            <p:nvPr/>
          </p:nvSpPr>
          <p:spPr bwMode="gray">
            <a:xfrm>
              <a:off x="490817" y="3455080"/>
              <a:ext cx="504054" cy="807437"/>
            </a:xfrm>
            <a:prstGeom prst="roundRect">
              <a:avLst/>
            </a:prstGeom>
            <a:gradFill rotWithShape="1">
              <a:gsLst>
                <a:gs pos="0">
                  <a:srgbClr val="B2B2B2"/>
                </a:gs>
                <a:gs pos="47000">
                  <a:schemeClr val="tx1">
                    <a:lumMod val="65000"/>
                    <a:lumOff val="3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2700000" scaled="1"/>
            </a:gradFill>
            <a:ln w="12700" algn="ctr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ffectLst>
              <a:outerShdw blurRad="50800" dist="25400" dir="4200000" algn="tl" rotWithShape="0">
                <a:prstClr val="black">
                  <a:alpha val="28000"/>
                </a:prstClr>
              </a:outerShdw>
            </a:effectLst>
          </p:spPr>
          <p:txBody>
            <a:bodyPr vert="eaVert" wrap="none" lIns="72000" tIns="72000" rIns="72000" bIns="72000" anchor="ctr"/>
            <a:lstStyle/>
            <a:p>
              <a:pPr algn="ctr" defTabSz="801688"/>
              <a:r>
                <a:rPr lang="en-US" altLang="ko-KR" b="1" spc="-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IaaS</a:t>
              </a:r>
            </a:p>
          </p:txBody>
        </p:sp>
        <p:sp>
          <p:nvSpPr>
            <p:cNvPr id="12" name="직사각형 11"/>
            <p:cNvSpPr/>
            <p:nvPr/>
          </p:nvSpPr>
          <p:spPr bwMode="gray">
            <a:xfrm>
              <a:off x="915783" y="3449040"/>
              <a:ext cx="3713958" cy="813477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180810" y="4928480"/>
            <a:ext cx="3387336" cy="270482"/>
            <a:chOff x="1096864" y="3912204"/>
            <a:chExt cx="3125236" cy="257244"/>
          </a:xfrm>
        </p:grpSpPr>
        <p:sp>
          <p:nvSpPr>
            <p:cNvPr id="14" name="직사각형 13"/>
            <p:cNvSpPr/>
            <p:nvPr/>
          </p:nvSpPr>
          <p:spPr bwMode="gray">
            <a:xfrm>
              <a:off x="1096864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서버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5" name="직사각형 14"/>
            <p:cNvSpPr/>
            <p:nvPr/>
          </p:nvSpPr>
          <p:spPr bwMode="gray">
            <a:xfrm>
              <a:off x="2193501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스토리지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6" name="직사각형 15"/>
            <p:cNvSpPr/>
            <p:nvPr/>
          </p:nvSpPr>
          <p:spPr bwMode="gray">
            <a:xfrm>
              <a:off x="3290139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네트워크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sp>
        <p:nvSpPr>
          <p:cNvPr id="17" name="직사각형 16"/>
          <p:cNvSpPr/>
          <p:nvPr/>
        </p:nvSpPr>
        <p:spPr bwMode="gray">
          <a:xfrm>
            <a:off x="2481118" y="4087239"/>
            <a:ext cx="1925600" cy="521352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가상머신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4733208" y="2120585"/>
            <a:ext cx="834939" cy="2488007"/>
            <a:chOff x="3369383" y="2026435"/>
            <a:chExt cx="1055763" cy="2488007"/>
          </a:xfrm>
        </p:grpSpPr>
        <p:sp>
          <p:nvSpPr>
            <p:cNvPr id="19" name="직사각형 18"/>
            <p:cNvSpPr/>
            <p:nvPr/>
          </p:nvSpPr>
          <p:spPr bwMode="gray">
            <a:xfrm>
              <a:off x="3372339" y="2026435"/>
              <a:ext cx="1052807" cy="187031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가상머신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이미지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복사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gray">
            <a:xfrm>
              <a:off x="3369383" y="3993090"/>
              <a:ext cx="1055763" cy="521352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가상머신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" name="직사각형 20"/>
          <p:cNvSpPr/>
          <p:nvPr/>
        </p:nvSpPr>
        <p:spPr bwMode="gray">
          <a:xfrm>
            <a:off x="2472466" y="2120585"/>
            <a:ext cx="1934252" cy="187564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3275340" y="2229330"/>
            <a:ext cx="1051779" cy="1663096"/>
            <a:chOff x="2132339" y="2135181"/>
            <a:chExt cx="1051779" cy="1663096"/>
          </a:xfrm>
        </p:grpSpPr>
        <p:sp>
          <p:nvSpPr>
            <p:cNvPr id="23" name="직사각형 22"/>
            <p:cNvSpPr/>
            <p:nvPr/>
          </p:nvSpPr>
          <p:spPr bwMode="gray">
            <a:xfrm>
              <a:off x="2132339" y="2633286"/>
              <a:ext cx="1051779" cy="116499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t"/>
            <a:lstStyle/>
            <a:p>
              <a:pPr algn="ctr"/>
              <a:r>
                <a: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SW </a:t>
              </a: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플랫폼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2193212" y="2938458"/>
              <a:ext cx="937303" cy="785930"/>
              <a:chOff x="5535833" y="3369205"/>
              <a:chExt cx="1469878" cy="733878"/>
            </a:xfrm>
          </p:grpSpPr>
          <p:sp>
            <p:nvSpPr>
              <p:cNvPr id="26" name="직사각형 25"/>
              <p:cNvSpPr/>
              <p:nvPr/>
            </p:nvSpPr>
            <p:spPr bwMode="gray">
              <a:xfrm>
                <a:off x="5535833" y="3369205"/>
                <a:ext cx="1469878" cy="20399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프레임워크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 bwMode="gray">
              <a:xfrm>
                <a:off x="5535833" y="3634149"/>
                <a:ext cx="1469878" cy="20399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미들웨어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 bwMode="gray">
              <a:xfrm>
                <a:off x="5535833" y="3899093"/>
                <a:ext cx="1469878" cy="20399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lIns="72000" tIns="72000" rIns="72000" bIns="72000" anchor="ctr"/>
              <a:lstStyle/>
              <a:p>
                <a:pPr algn="ctr" defTabSz="801688" eaLnBrk="0" latinLnBrk="0" hangingPunct="0"/>
                <a:r>
                  <a:rPr lang="ko-KR" altLang="en-US" sz="1100" spc="-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itchFamily="34" charset="0"/>
                  </a:rPr>
                  <a:t>운영체제</a:t>
                </a:r>
                <a:endParaRPr lang="en-US" altLang="ko-KR" sz="1100" spc="-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endParaRPr>
              </a:p>
            </p:txBody>
          </p:sp>
        </p:grpSp>
        <p:sp>
          <p:nvSpPr>
            <p:cNvPr id="25" name="직사각형 24"/>
            <p:cNvSpPr/>
            <p:nvPr/>
          </p:nvSpPr>
          <p:spPr bwMode="gray">
            <a:xfrm>
              <a:off x="2132339" y="2135181"/>
              <a:ext cx="1051779" cy="36847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어플리케이션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9" name="굽은 화살표 28"/>
          <p:cNvSpPr/>
          <p:nvPr/>
        </p:nvSpPr>
        <p:spPr>
          <a:xfrm>
            <a:off x="4240305" y="3574130"/>
            <a:ext cx="721652" cy="608485"/>
          </a:xfrm>
          <a:prstGeom prst="bentArrow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/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폭발 1 29"/>
          <p:cNvSpPr/>
          <p:nvPr/>
        </p:nvSpPr>
        <p:spPr>
          <a:xfrm>
            <a:off x="3972473" y="3867194"/>
            <a:ext cx="743500" cy="836605"/>
          </a:xfrm>
          <a:prstGeom prst="irregularSeal1">
            <a:avLst/>
          </a:prstGeom>
          <a:solidFill>
            <a:srgbClr val="FF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HW</a:t>
            </a:r>
          </a:p>
          <a:p>
            <a:pPr algn="ctr" latinLnBrk="0"/>
            <a:r>
              <a:rPr lang="ko-KR" altLang="en-US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장애</a:t>
            </a:r>
          </a:p>
        </p:txBody>
      </p:sp>
      <p:sp>
        <p:nvSpPr>
          <p:cNvPr id="31" name="모서리가 둥근 직사각형 30"/>
          <p:cNvSpPr/>
          <p:nvPr/>
        </p:nvSpPr>
        <p:spPr bwMode="gray">
          <a:xfrm>
            <a:off x="2566464" y="3360322"/>
            <a:ext cx="632994" cy="532105"/>
          </a:xfrm>
          <a:prstGeom prst="roundRect">
            <a:avLst/>
          </a:prstGeom>
          <a:gradFill rotWithShape="1">
            <a:gsLst>
              <a:gs pos="0">
                <a:srgbClr val="B2B2B2"/>
              </a:gs>
              <a:gs pos="4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12700" algn="ctr">
            <a:solidFill>
              <a:schemeClr val="tx1">
                <a:lumMod val="75000"/>
                <a:lumOff val="25000"/>
              </a:schemeClr>
            </a:solidFill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/>
            <a:r>
              <a:rPr lang="en-US" altLang="ko-KR" sz="105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</a:t>
            </a:r>
          </a:p>
          <a:p>
            <a:pPr algn="ctr" defTabSz="801688"/>
            <a:r>
              <a:rPr lang="ko-KR" altLang="en-US" sz="105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모니터링</a:t>
            </a:r>
            <a:endParaRPr lang="en-US" altLang="ko-KR" sz="1050" b="1" spc="-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 defTabSz="801688"/>
            <a:r>
              <a:rPr lang="ko-KR" altLang="en-US" sz="105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에이전트</a:t>
            </a:r>
            <a:endParaRPr lang="en-US" altLang="ko-KR" sz="1050" b="1" spc="-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32" name="직선 화살표 연결선 87"/>
          <p:cNvCxnSpPr>
            <a:stCxn id="31" idx="0"/>
          </p:cNvCxnSpPr>
          <p:nvPr/>
        </p:nvCxnSpPr>
        <p:spPr>
          <a:xfrm rot="5400000" flipH="1" flipV="1">
            <a:off x="2930372" y="2982619"/>
            <a:ext cx="330292" cy="425115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 bwMode="gray">
          <a:xfrm>
            <a:off x="1558015" y="3374421"/>
            <a:ext cx="682265" cy="510880"/>
          </a:xfrm>
          <a:prstGeom prst="rect">
            <a:avLst/>
          </a:prstGeom>
          <a:gradFill rotWithShape="1">
            <a:gsLst>
              <a:gs pos="0">
                <a:srgbClr val="B2B2B2"/>
              </a:gs>
              <a:gs pos="47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2700000" scaled="1"/>
          </a:gradFill>
          <a:ln w="12700" algn="ctr">
            <a:solidFill>
              <a:schemeClr val="tx1">
                <a:lumMod val="75000"/>
                <a:lumOff val="25000"/>
              </a:schemeClr>
            </a:solidFill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/>
          <a:p>
            <a:pPr algn="ctr" defTabSz="801688"/>
            <a:r>
              <a:rPr lang="en-US" altLang="ko-KR" sz="11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SW</a:t>
            </a:r>
          </a:p>
          <a:p>
            <a:pPr algn="ctr" defTabSz="801688"/>
            <a:r>
              <a:rPr lang="ko-KR" altLang="en-US" sz="1100" b="1" spc="-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모니터링</a:t>
            </a:r>
            <a:endParaRPr lang="en-US" altLang="ko-KR" sz="1100" b="1" spc="-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34" name="직선 화살표 연결선 33"/>
          <p:cNvCxnSpPr>
            <a:stCxn id="33" idx="3"/>
            <a:endCxn id="31" idx="1"/>
          </p:cNvCxnSpPr>
          <p:nvPr/>
        </p:nvCxnSpPr>
        <p:spPr>
          <a:xfrm flipV="1">
            <a:off x="2240280" y="3626375"/>
            <a:ext cx="326185" cy="348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그룹 34"/>
          <p:cNvGrpSpPr/>
          <p:nvPr/>
        </p:nvGrpSpPr>
        <p:grpSpPr>
          <a:xfrm>
            <a:off x="1658123" y="2120584"/>
            <a:ext cx="619081" cy="994374"/>
            <a:chOff x="475337" y="2953595"/>
            <a:chExt cx="619081" cy="994374"/>
          </a:xfrm>
        </p:grpSpPr>
        <p:sp>
          <p:nvSpPr>
            <p:cNvPr id="36" name="직사각형 35"/>
            <p:cNvSpPr/>
            <p:nvPr/>
          </p:nvSpPr>
          <p:spPr>
            <a:xfrm>
              <a:off x="532728" y="3525591"/>
              <a:ext cx="348203" cy="422378"/>
            </a:xfrm>
            <a:prstGeom prst="rect">
              <a:avLst/>
            </a:prstGeom>
          </p:spPr>
          <p:txBody>
            <a:bodyPr wrap="none" anchor="t">
              <a:noAutofit/>
            </a:bodyPr>
            <a:lstStyle/>
            <a:p>
              <a:pPr algn="ctr"/>
              <a:r>
                <a:rPr lang="ko-KR" altLang="en-US" sz="12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시스템</a:t>
              </a:r>
              <a:endParaRPr lang="en-US" altLang="ko-KR" sz="12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  <a:p>
              <a:pPr algn="ctr"/>
              <a:r>
                <a:rPr lang="ko-KR" altLang="en-US" sz="12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운영자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7" name="그룹 36"/>
            <p:cNvGrpSpPr/>
            <p:nvPr/>
          </p:nvGrpSpPr>
          <p:grpSpPr>
            <a:xfrm>
              <a:off x="475337" y="2953595"/>
              <a:ext cx="619081" cy="564411"/>
              <a:chOff x="4993928" y="2572684"/>
              <a:chExt cx="549721" cy="516823"/>
            </a:xfrm>
          </p:grpSpPr>
          <p:pic>
            <p:nvPicPr>
              <p:cNvPr id="38" name="Picture 2" descr="http://nhpension.cafe24.com/wp-content/uploads/2015/08/account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93928" y="2572684"/>
                <a:ext cx="411114" cy="4111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4" descr="http://icons.veryicon.com/png/System/Childish/Gears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3455230">
                <a:off x="5177026" y="2722884"/>
                <a:ext cx="366623" cy="3666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40" name="직선 화살표 연결선 39"/>
          <p:cNvCxnSpPr>
            <a:stCxn id="36" idx="2"/>
            <a:endCxn id="33" idx="0"/>
          </p:cNvCxnSpPr>
          <p:nvPr/>
        </p:nvCxnSpPr>
        <p:spPr>
          <a:xfrm>
            <a:off x="1889615" y="3114959"/>
            <a:ext cx="9532" cy="25946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1" name="그룹 40"/>
          <p:cNvGrpSpPr/>
          <p:nvPr/>
        </p:nvGrpSpPr>
        <p:grpSpPr>
          <a:xfrm>
            <a:off x="2030647" y="4495643"/>
            <a:ext cx="470609" cy="445142"/>
            <a:chOff x="802056" y="4401494"/>
            <a:chExt cx="556200" cy="445142"/>
          </a:xfrm>
        </p:grpSpPr>
        <p:cxnSp>
          <p:nvCxnSpPr>
            <p:cNvPr id="42" name="직선 화살표 연결선 41"/>
            <p:cNvCxnSpPr/>
            <p:nvPr/>
          </p:nvCxnSpPr>
          <p:spPr>
            <a:xfrm flipV="1">
              <a:off x="802056" y="4401494"/>
              <a:ext cx="553112" cy="97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직사각형 42"/>
            <p:cNvSpPr/>
            <p:nvPr/>
          </p:nvSpPr>
          <p:spPr>
            <a:xfrm>
              <a:off x="878638" y="4552299"/>
              <a:ext cx="479618" cy="29433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r>
                <a:rPr lang="en-US" altLang="ko-KR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HW </a:t>
              </a:r>
              <a:r>
                <a:rPr lang="ko-KR" altLang="en-US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모니터링</a:t>
              </a:r>
              <a:r>
                <a:rPr lang="en-US" altLang="ko-KR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•</a:t>
              </a:r>
              <a:r>
                <a:rPr lang="ko-KR" altLang="en-US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장애복구 자동화</a:t>
              </a:r>
              <a:endPara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6422532" y="4341737"/>
            <a:ext cx="4138924" cy="957457"/>
            <a:chOff x="490817" y="3449040"/>
            <a:chExt cx="4138924" cy="813477"/>
          </a:xfrm>
        </p:grpSpPr>
        <p:sp>
          <p:nvSpPr>
            <p:cNvPr id="45" name="모서리가 둥근 직사각형 44"/>
            <p:cNvSpPr/>
            <p:nvPr/>
          </p:nvSpPr>
          <p:spPr bwMode="gray">
            <a:xfrm>
              <a:off x="490817" y="3455080"/>
              <a:ext cx="504054" cy="807437"/>
            </a:xfrm>
            <a:prstGeom prst="roundRect">
              <a:avLst/>
            </a:prstGeom>
            <a:gradFill rotWithShape="1">
              <a:gsLst>
                <a:gs pos="0">
                  <a:srgbClr val="B2B2B2"/>
                </a:gs>
                <a:gs pos="47000">
                  <a:schemeClr val="tx1">
                    <a:lumMod val="65000"/>
                    <a:lumOff val="3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2700000" scaled="1"/>
            </a:gradFill>
            <a:ln w="12700" algn="ctr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  <a:effectLst>
              <a:outerShdw blurRad="50800" dist="25400" dir="4200000" algn="tl" rotWithShape="0">
                <a:prstClr val="black">
                  <a:alpha val="28000"/>
                </a:prstClr>
              </a:outerShdw>
            </a:effectLst>
          </p:spPr>
          <p:txBody>
            <a:bodyPr vert="eaVert" wrap="none" lIns="72000" tIns="72000" rIns="72000" bIns="72000" anchor="ctr"/>
            <a:lstStyle/>
            <a:p>
              <a:pPr algn="ctr" defTabSz="801688"/>
              <a:r>
                <a:rPr lang="en-US" altLang="ko-KR" b="1" spc="-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IaaS</a:t>
              </a:r>
            </a:p>
          </p:txBody>
        </p:sp>
        <p:sp>
          <p:nvSpPr>
            <p:cNvPr id="46" name="직사각형 45"/>
            <p:cNvSpPr/>
            <p:nvPr/>
          </p:nvSpPr>
          <p:spPr bwMode="gray">
            <a:xfrm>
              <a:off x="915783" y="3449040"/>
              <a:ext cx="3713958" cy="813477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sp>
        <p:nvSpPr>
          <p:cNvPr id="47" name="모서리가 둥근 직사각형 46"/>
          <p:cNvSpPr/>
          <p:nvPr/>
        </p:nvSpPr>
        <p:spPr bwMode="gray">
          <a:xfrm>
            <a:off x="6419128" y="2806932"/>
            <a:ext cx="504054" cy="1438859"/>
          </a:xfrm>
          <a:prstGeom prst="roundRect">
            <a:avLst/>
          </a:prstGeom>
          <a:gradFill>
            <a:gsLst>
              <a:gs pos="0">
                <a:srgbClr val="4DABF5"/>
              </a:gs>
              <a:gs pos="47000">
                <a:srgbClr val="0173D4"/>
              </a:gs>
              <a:gs pos="100000">
                <a:srgbClr val="0048AC"/>
              </a:gs>
            </a:gsLst>
            <a:lin ang="2700000" scaled="1"/>
          </a:gra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vert="eaVert" wrap="none" lIns="72000" tIns="72000" rIns="7200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801688"/>
            <a:endParaRPr lang="en-US" altLang="ko-KR" b="1" spc="-50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8" name="직사각형 47"/>
          <p:cNvSpPr/>
          <p:nvPr/>
        </p:nvSpPr>
        <p:spPr bwMode="gray">
          <a:xfrm>
            <a:off x="6844094" y="2806933"/>
            <a:ext cx="3713958" cy="1438859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173D4"/>
            </a:solidFill>
            <a:round/>
            <a:headEnd/>
            <a:tailEnd/>
          </a:ln>
          <a:effectLst/>
        </p:spPr>
        <p:txBody>
          <a:bodyPr wrap="none" lIns="72000" tIns="72000" rIns="72000" bIns="72000" anchor="ctr"/>
          <a:lstStyle/>
          <a:p>
            <a:pPr algn="ctr" defTabSz="801688" eaLnBrk="0" latinLnBrk="0" hangingPunct="0"/>
            <a:endParaRPr lang="en-US" altLang="ko-KR" sz="1100" b="1" spc="-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6997661" y="4928480"/>
            <a:ext cx="3387336" cy="270482"/>
            <a:chOff x="1096864" y="3912204"/>
            <a:chExt cx="3125236" cy="257244"/>
          </a:xfrm>
        </p:grpSpPr>
        <p:sp>
          <p:nvSpPr>
            <p:cNvPr id="50" name="직사각형 49"/>
            <p:cNvSpPr/>
            <p:nvPr/>
          </p:nvSpPr>
          <p:spPr bwMode="gray">
            <a:xfrm>
              <a:off x="1096864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서버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51" name="직사각형 50"/>
            <p:cNvSpPr/>
            <p:nvPr/>
          </p:nvSpPr>
          <p:spPr bwMode="gray">
            <a:xfrm>
              <a:off x="2193501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스토리지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52" name="직사각형 51"/>
            <p:cNvSpPr/>
            <p:nvPr/>
          </p:nvSpPr>
          <p:spPr bwMode="gray">
            <a:xfrm>
              <a:off x="3290139" y="3912204"/>
              <a:ext cx="931961" cy="257244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72000" tIns="72000" rIns="72000" bIns="72000" anchor="ctr"/>
            <a:lstStyle/>
            <a:p>
              <a:pPr algn="ctr" defTabSz="801688" eaLnBrk="0" latinLnBrk="0" hangingPunct="0"/>
              <a:r>
                <a:rPr lang="ko-KR" altLang="en-US" sz="1100" b="1" spc="-5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네트워크</a:t>
              </a:r>
              <a:endParaRPr lang="en-US" altLang="ko-KR" sz="1100" b="1" spc="-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9594951" y="2120585"/>
            <a:ext cx="790046" cy="2488007"/>
            <a:chOff x="3369383" y="2026435"/>
            <a:chExt cx="1055763" cy="2488007"/>
          </a:xfrm>
        </p:grpSpPr>
        <p:sp>
          <p:nvSpPr>
            <p:cNvPr id="54" name="직사각형 53"/>
            <p:cNvSpPr/>
            <p:nvPr/>
          </p:nvSpPr>
          <p:spPr bwMode="gray">
            <a:xfrm>
              <a:off x="3372339" y="2026435"/>
              <a:ext cx="1052807" cy="187031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가상머신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이미지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복사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 bwMode="gray">
            <a:xfrm>
              <a:off x="3369383" y="3993090"/>
              <a:ext cx="1055763" cy="521352"/>
            </a:xfrm>
            <a:prstGeom prst="rect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가상머신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6" name="직사각형 55"/>
          <p:cNvSpPr/>
          <p:nvPr/>
        </p:nvSpPr>
        <p:spPr bwMode="gray">
          <a:xfrm>
            <a:off x="7218437" y="4087239"/>
            <a:ext cx="2089541" cy="521352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가상머신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8873732" y="3602266"/>
            <a:ext cx="989484" cy="1129669"/>
            <a:chOff x="7730732" y="3339300"/>
            <a:chExt cx="989484" cy="1129669"/>
          </a:xfrm>
        </p:grpSpPr>
        <p:sp>
          <p:nvSpPr>
            <p:cNvPr id="58" name="굽은 화살표 57"/>
            <p:cNvSpPr/>
            <p:nvPr/>
          </p:nvSpPr>
          <p:spPr>
            <a:xfrm>
              <a:off x="7998564" y="3339300"/>
              <a:ext cx="721652" cy="608485"/>
            </a:xfrm>
            <a:prstGeom prst="ben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 latinLnBrk="0"/>
              <a:endPara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폭발 1 58"/>
            <p:cNvSpPr/>
            <p:nvPr/>
          </p:nvSpPr>
          <p:spPr>
            <a:xfrm>
              <a:off x="7730732" y="3632364"/>
              <a:ext cx="743500" cy="836605"/>
            </a:xfrm>
            <a:prstGeom prst="irregularSeal1">
              <a:avLst/>
            </a:prstGeom>
            <a:solidFill>
              <a:srgbClr val="FF0000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latinLnBrk="0"/>
              <a:r>
                <a:rPr lang="en-US" altLang="ko-KR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HW</a:t>
              </a:r>
            </a:p>
            <a:p>
              <a:pPr algn="ctr" latinLnBrk="0"/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장애</a:t>
              </a: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6819174" y="4495643"/>
            <a:ext cx="498933" cy="445142"/>
            <a:chOff x="5618907" y="4401494"/>
            <a:chExt cx="556200" cy="445142"/>
          </a:xfrm>
        </p:grpSpPr>
        <p:cxnSp>
          <p:nvCxnSpPr>
            <p:cNvPr id="61" name="직선 화살표 연결선 60"/>
            <p:cNvCxnSpPr/>
            <p:nvPr/>
          </p:nvCxnSpPr>
          <p:spPr>
            <a:xfrm flipV="1">
              <a:off x="5618907" y="4401494"/>
              <a:ext cx="553112" cy="97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직사각형 61"/>
            <p:cNvSpPr/>
            <p:nvPr/>
          </p:nvSpPr>
          <p:spPr>
            <a:xfrm>
              <a:off x="5695489" y="4552299"/>
              <a:ext cx="479618" cy="29433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r>
                <a:rPr lang="en-US" altLang="ko-KR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HW </a:t>
              </a:r>
              <a:r>
                <a:rPr lang="ko-KR" altLang="en-US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모니터링</a:t>
              </a:r>
              <a:r>
                <a:rPr lang="en-US" altLang="ko-KR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•</a:t>
              </a:r>
              <a:r>
                <a:rPr lang="ko-KR" altLang="en-US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장애복구 자동화</a:t>
              </a:r>
              <a:endPara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7218437" y="2102813"/>
            <a:ext cx="1652793" cy="1685245"/>
            <a:chOff x="6075436" y="2008663"/>
            <a:chExt cx="1652793" cy="1923360"/>
          </a:xfrm>
        </p:grpSpPr>
        <p:sp>
          <p:nvSpPr>
            <p:cNvPr id="64" name="직사각형 63"/>
            <p:cNvSpPr/>
            <p:nvPr/>
          </p:nvSpPr>
          <p:spPr bwMode="gray">
            <a:xfrm>
              <a:off x="6075436" y="2026435"/>
              <a:ext cx="806907" cy="18756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직사각형 64"/>
            <p:cNvSpPr/>
            <p:nvPr/>
          </p:nvSpPr>
          <p:spPr bwMode="gray">
            <a:xfrm>
              <a:off x="7056184" y="2008663"/>
              <a:ext cx="672045" cy="18756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컨테이너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이미지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복사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66" name="그룹 65"/>
            <p:cNvGrpSpPr/>
            <p:nvPr/>
          </p:nvGrpSpPr>
          <p:grpSpPr>
            <a:xfrm>
              <a:off x="6184527" y="2135681"/>
              <a:ext cx="604601" cy="1663096"/>
              <a:chOff x="2132339" y="2135181"/>
              <a:chExt cx="1051779" cy="1663096"/>
            </a:xfrm>
          </p:grpSpPr>
          <p:sp>
            <p:nvSpPr>
              <p:cNvPr id="70" name="직사각형 69"/>
              <p:cNvSpPr/>
              <p:nvPr/>
            </p:nvSpPr>
            <p:spPr bwMode="gray">
              <a:xfrm>
                <a:off x="2132339" y="2633286"/>
                <a:ext cx="1051779" cy="1164991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anchor="t"/>
              <a:lstStyle/>
              <a:p>
                <a:pPr algn="ctr"/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컨테이너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71" name="그룹 70"/>
              <p:cNvGrpSpPr/>
              <p:nvPr/>
            </p:nvGrpSpPr>
            <p:grpSpPr>
              <a:xfrm>
                <a:off x="2193212" y="2938458"/>
                <a:ext cx="937303" cy="785930"/>
                <a:chOff x="5535833" y="3369205"/>
                <a:chExt cx="1469878" cy="733878"/>
              </a:xfrm>
            </p:grpSpPr>
            <p:sp>
              <p:nvSpPr>
                <p:cNvPr id="73" name="직사각형 72"/>
                <p:cNvSpPr/>
                <p:nvPr/>
              </p:nvSpPr>
              <p:spPr bwMode="gray">
                <a:xfrm>
                  <a:off x="5535833" y="3369205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en-US" altLang="ko-KR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F/W</a:t>
                  </a:r>
                </a:p>
              </p:txBody>
            </p:sp>
            <p:sp>
              <p:nvSpPr>
                <p:cNvPr id="74" name="직사각형 73"/>
                <p:cNvSpPr/>
                <p:nvPr/>
              </p:nvSpPr>
              <p:spPr bwMode="gray">
                <a:xfrm>
                  <a:off x="5535833" y="3634149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en-US" altLang="ko-KR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M/W</a:t>
                  </a:r>
                </a:p>
              </p:txBody>
            </p:sp>
            <p:sp>
              <p:nvSpPr>
                <p:cNvPr id="75" name="직사각형 74"/>
                <p:cNvSpPr/>
                <p:nvPr/>
              </p:nvSpPr>
              <p:spPr bwMode="gray">
                <a:xfrm>
                  <a:off x="5535833" y="3899093"/>
                  <a:ext cx="1469878" cy="203990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chemeClr val="bg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 wrap="none" lIns="72000" tIns="72000" rIns="72000" bIns="72000" anchor="ctr"/>
                <a:lstStyle/>
                <a:p>
                  <a:pPr algn="ctr" defTabSz="801688" eaLnBrk="0" latinLnBrk="0" hangingPunct="0"/>
                  <a:r>
                    <a:rPr lang="en-US" altLang="ko-KR" sz="1100" spc="-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itchFamily="34" charset="0"/>
                    </a:rPr>
                    <a:t>O/S</a:t>
                  </a:r>
                </a:p>
              </p:txBody>
            </p:sp>
          </p:grpSp>
          <p:sp>
            <p:nvSpPr>
              <p:cNvPr id="72" name="직사각형 71"/>
              <p:cNvSpPr/>
              <p:nvPr/>
            </p:nvSpPr>
            <p:spPr bwMode="gray">
              <a:xfrm>
                <a:off x="2132339" y="2135181"/>
                <a:ext cx="1051779" cy="410571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ko-KR" altLang="en-US" sz="11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어플리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ko-KR" altLang="en-US" sz="11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케이션</a:t>
                </a:r>
                <a:endPara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6333860" y="2802354"/>
              <a:ext cx="989484" cy="1129669"/>
              <a:chOff x="7730732" y="3339300"/>
              <a:chExt cx="989484" cy="1129669"/>
            </a:xfrm>
          </p:grpSpPr>
          <p:sp>
            <p:nvSpPr>
              <p:cNvPr id="68" name="굽은 화살표 67"/>
              <p:cNvSpPr/>
              <p:nvPr/>
            </p:nvSpPr>
            <p:spPr>
              <a:xfrm>
                <a:off x="7998564" y="3339300"/>
                <a:ext cx="721652" cy="608485"/>
              </a:xfrm>
              <a:prstGeom prst="ben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latinLnBrk="0"/>
                <a:endParaRPr lang="ko-KR" altLang="en-US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9" name="폭발 1 68"/>
              <p:cNvSpPr/>
              <p:nvPr/>
            </p:nvSpPr>
            <p:spPr>
              <a:xfrm>
                <a:off x="7730732" y="3632364"/>
                <a:ext cx="743500" cy="836605"/>
              </a:xfrm>
              <a:prstGeom prst="irregularSeal1">
                <a:avLst/>
              </a:prstGeom>
              <a:solidFill>
                <a:srgbClr val="FF0000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latinLnBrk="0"/>
                <a:r>
                  <a:rPr lang="en-US" altLang="ko-KR" sz="11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SW</a:t>
                </a:r>
              </a:p>
              <a:p>
                <a:pPr algn="ctr" latinLnBrk="0"/>
                <a:r>
                  <a:rPr lang="ko-KR" altLang="en-US" sz="11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장애</a:t>
                </a:r>
              </a:p>
            </p:txBody>
          </p:sp>
        </p:grpSp>
      </p:grpSp>
      <p:grpSp>
        <p:nvGrpSpPr>
          <p:cNvPr id="76" name="그룹 75"/>
          <p:cNvGrpSpPr/>
          <p:nvPr/>
        </p:nvGrpSpPr>
        <p:grpSpPr>
          <a:xfrm>
            <a:off x="6819174" y="3649234"/>
            <a:ext cx="498933" cy="445142"/>
            <a:chOff x="5618907" y="4401494"/>
            <a:chExt cx="556200" cy="445142"/>
          </a:xfrm>
        </p:grpSpPr>
        <p:cxnSp>
          <p:nvCxnSpPr>
            <p:cNvPr id="77" name="직선 화살표 연결선 76"/>
            <p:cNvCxnSpPr/>
            <p:nvPr/>
          </p:nvCxnSpPr>
          <p:spPr>
            <a:xfrm flipV="1">
              <a:off x="5618907" y="4401494"/>
              <a:ext cx="553112" cy="97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직사각형 77"/>
            <p:cNvSpPr/>
            <p:nvPr/>
          </p:nvSpPr>
          <p:spPr>
            <a:xfrm>
              <a:off x="5695489" y="4552299"/>
              <a:ext cx="479618" cy="294337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r>
                <a:rPr lang="en-US" altLang="ko-KR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SW </a:t>
              </a:r>
              <a:r>
                <a:rPr lang="ko-KR" altLang="en-US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모니터링</a:t>
              </a:r>
              <a:r>
                <a:rPr lang="en-US" altLang="ko-KR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•</a:t>
              </a:r>
              <a:r>
                <a:rPr lang="ko-KR" altLang="en-US" sz="1200" b="1" spc="-5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장애복구 자동화</a:t>
              </a:r>
              <a:endPara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1" name="제목 1"/>
          <p:cNvSpPr txBox="1">
            <a:spLocks/>
          </p:cNvSpPr>
          <p:nvPr/>
        </p:nvSpPr>
        <p:spPr>
          <a:xfrm>
            <a:off x="1418852" y="116632"/>
            <a:ext cx="8637588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4" t="36879" r="39261" b="56924"/>
          <a:stretch/>
        </p:blipFill>
        <p:spPr>
          <a:xfrm>
            <a:off x="10239079" y="1138627"/>
            <a:ext cx="497864" cy="1741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 rot="5400000">
            <a:off x="6198009" y="3351775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파스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15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20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418852" y="116632"/>
            <a:ext cx="8637588" cy="69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63538" indent="-363538" algn="l" eaLnBrk="1" fontAlgn="auto" hangingPunct="1">
              <a:lnSpc>
                <a:spcPct val="90000"/>
              </a:lnSpc>
              <a:spcAft>
                <a:spcPts val="0"/>
              </a:spcAft>
            </a:pP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개방형 클라우드 플랫폼 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“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파스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타</a:t>
            </a:r>
            <a:r>
              <a:rPr lang="en-US" altLang="ko-KR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(PaaS-TA)”</a:t>
            </a:r>
            <a:endParaRPr lang="ko-KR" altLang="en-US" sz="2800" spc="-150" dirty="0">
              <a:ln>
                <a:solidFill>
                  <a:prstClr val="white">
                    <a:alpha val="5000"/>
                  </a:prst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16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418852" y="1472090"/>
            <a:ext cx="9357668" cy="5233274"/>
            <a:chOff x="774" y="848"/>
            <a:chExt cx="4692" cy="2624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774" y="848"/>
              <a:ext cx="4692" cy="2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" y="848"/>
              <a:ext cx="4696" cy="2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2" name="모서리가 둥근 직사각형 151"/>
          <p:cNvSpPr/>
          <p:nvPr/>
        </p:nvSpPr>
        <p:spPr bwMode="gray">
          <a:xfrm>
            <a:off x="1447001" y="972524"/>
            <a:ext cx="9251512" cy="46799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5400" algn="ctr">
            <a:noFill/>
            <a:round/>
            <a:headEnd/>
            <a:tailEnd/>
          </a:ln>
          <a:effectLst>
            <a:outerShdw blurRad="50800" dist="25400" dir="4200000" algn="tl" rotWithShape="0">
              <a:prstClr val="black">
                <a:alpha val="28000"/>
              </a:prstClr>
            </a:outerShdw>
          </a:effectLst>
        </p:spPr>
        <p:txBody>
          <a:bodyPr wrap="none" lIns="72000" tIns="72000" rIns="72000" bIns="7200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176213" defTabSz="80168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spc="-50" dirty="0" err="1">
                <a:solidFill>
                  <a:schemeClr val="bg1"/>
                </a:solidFill>
                <a:cs typeface="Arial" pitchFamily="34" charset="0"/>
              </a:rPr>
              <a:t>파스타</a:t>
            </a:r>
            <a:r>
              <a:rPr kumimoji="0" lang="ko-KR" altLang="en-US" sz="1600" b="1" spc="-50" dirty="0">
                <a:solidFill>
                  <a:schemeClr val="bg1"/>
                </a:solidFill>
                <a:cs typeface="Arial" pitchFamily="34" charset="0"/>
              </a:rPr>
              <a:t> 구축 사례</a:t>
            </a:r>
            <a:r>
              <a:rPr kumimoji="0" lang="en-US" altLang="ko-KR" sz="1600" b="1" spc="-50" dirty="0">
                <a:solidFill>
                  <a:schemeClr val="bg1"/>
                </a:solidFill>
                <a:cs typeface="Arial" pitchFamily="34" charset="0"/>
              </a:rPr>
              <a:t>: </a:t>
            </a:r>
            <a:r>
              <a:rPr kumimoji="0" lang="ko-KR" altLang="en-US" sz="1600" b="1" spc="-50" dirty="0">
                <a:solidFill>
                  <a:schemeClr val="bg1"/>
                </a:solidFill>
                <a:cs typeface="Arial" pitchFamily="34" charset="0"/>
              </a:rPr>
              <a:t>지방행정 클라우드 플랫폼 구축</a:t>
            </a:r>
          </a:p>
        </p:txBody>
      </p:sp>
      <p:pic>
        <p:nvPicPr>
          <p:cNvPr id="195" name="그림 19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74" t="36879" r="39261" b="56924"/>
          <a:stretch/>
        </p:blipFill>
        <p:spPr>
          <a:xfrm>
            <a:off x="10200076" y="1106773"/>
            <a:ext cx="497864" cy="17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99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17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96" y="1232756"/>
            <a:ext cx="8748713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03389" y="6411506"/>
            <a:ext cx="425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NIA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플랫폼 생태계의 미래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(2020.6)</a:t>
            </a: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451484" y="149102"/>
            <a:ext cx="5726840" cy="615602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kern="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기술 미래</a:t>
            </a:r>
          </a:p>
        </p:txBody>
      </p:sp>
    </p:spTree>
    <p:extLst>
      <p:ext uri="{BB962C8B-B14F-4D97-AF65-F5344CB8AC3E}">
        <p14:creationId xmlns:p14="http://schemas.microsoft.com/office/powerpoint/2010/main" val="2173843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18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9" y="1484785"/>
            <a:ext cx="9287475" cy="501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451484" y="149102"/>
            <a:ext cx="7560840" cy="615602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kern="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기술 미래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754" y="1088740"/>
            <a:ext cx="4602542" cy="494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  <a:buFont typeface="Wingdings" panose="05000000000000000000" pitchFamily="2" charset="2"/>
              <a:buChar char="n"/>
            </a:pP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국가 상호 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호환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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생태계 조성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3389" y="6411506"/>
            <a:ext cx="425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NIA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플랫폼 생태계의 미래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(2020.6)</a:t>
            </a:r>
          </a:p>
        </p:txBody>
      </p:sp>
    </p:spTree>
    <p:extLst>
      <p:ext uri="{BB962C8B-B14F-4D97-AF65-F5344CB8AC3E}">
        <p14:creationId xmlns:p14="http://schemas.microsoft.com/office/powerpoint/2010/main" val="3537481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19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998598" y="1736813"/>
            <a:ext cx="8417882" cy="5074137"/>
            <a:chOff x="920750" y="1412875"/>
            <a:chExt cx="8030146" cy="4737823"/>
          </a:xfrm>
        </p:grpSpPr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750" y="1412875"/>
              <a:ext cx="7958138" cy="457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>
              <a:off x="8661412" y="5603437"/>
              <a:ext cx="289484" cy="54726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tlCol="0" anchor="ctr">
              <a:spAutoFit/>
            </a:bodyPr>
            <a:lstStyle/>
            <a:p>
              <a:pPr algn="ctr" eaLnBrk="0" latinLnBrk="0" hangingPunct="0">
                <a:spcBef>
                  <a:spcPts val="600"/>
                </a:spcBef>
                <a:buClr>
                  <a:srgbClr val="C00000"/>
                </a:buClr>
              </a:pPr>
              <a:endParaRPr lang="ko-KR" altLang="en-US" sz="2800" kern="0" spc="-50" dirty="0">
                <a:solidFill>
                  <a:schemeClr val="tx2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</p:grp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451484" y="149102"/>
            <a:ext cx="5726840" cy="615602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kern="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기술 미래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755" y="1088740"/>
            <a:ext cx="5378395" cy="491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  <a:buFont typeface="Wingdings" panose="05000000000000000000" pitchFamily="2" charset="2"/>
              <a:buChar char="n"/>
            </a:pP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기술 융합을 지원하는 플랫폼으로 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3389" y="6411506"/>
            <a:ext cx="425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NIA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플랫폼 생태계의 미래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(2020.6)</a:t>
            </a:r>
          </a:p>
        </p:txBody>
      </p:sp>
    </p:spTree>
    <p:extLst>
      <p:ext uri="{BB962C8B-B14F-4D97-AF65-F5344CB8AC3E}">
        <p14:creationId xmlns:p14="http://schemas.microsoft.com/office/powerpoint/2010/main" val="3689939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20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451484" y="149102"/>
            <a:ext cx="7560840" cy="615602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kern="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기술 미래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755" y="1088740"/>
            <a:ext cx="5678157" cy="491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  <a:buFont typeface="Wingdings" panose="05000000000000000000" pitchFamily="2" charset="2"/>
              <a:buChar char="n"/>
            </a:pP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 클라우드 플랫폼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행안부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‘19-’21)</a:t>
            </a:r>
            <a:endParaRPr lang="ko-KR" altLang="en-US" sz="2400" kern="0" spc="-200" dirty="0">
              <a:ln w="11430">
                <a:solidFill>
                  <a:srgbClr val="4F81BD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252910" y="1520789"/>
            <a:ext cx="7875539" cy="5071827"/>
            <a:chOff x="-12" y="143"/>
            <a:chExt cx="6264" cy="4034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-12" y="143"/>
              <a:ext cx="6264" cy="4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9221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" y="143"/>
              <a:ext cx="6271" cy="4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/>
          <p:cNvSpPr txBox="1"/>
          <p:nvPr/>
        </p:nvSpPr>
        <p:spPr>
          <a:xfrm>
            <a:off x="1703389" y="6469596"/>
            <a:ext cx="425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NIA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플랫폼 생태계의 미래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(2020.6)</a:t>
            </a:r>
          </a:p>
        </p:txBody>
      </p:sp>
    </p:spTree>
    <p:extLst>
      <p:ext uri="{BB962C8B-B14F-4D97-AF65-F5344CB8AC3E}">
        <p14:creationId xmlns:p14="http://schemas.microsoft.com/office/powerpoint/2010/main" val="1029210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21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451484" y="149102"/>
            <a:ext cx="5726840" cy="615602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kern="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기술 미래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755" y="1088740"/>
            <a:ext cx="9597499" cy="491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ko-KR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IoT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자율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주행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5G </a:t>
            </a: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등 기술 개발 영향으로 데이터 폭증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대비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엣지클라우드</a:t>
            </a:r>
            <a:endParaRPr lang="ko-KR" altLang="en-US" sz="2400" kern="0" spc="-200" dirty="0">
              <a:ln w="11430">
                <a:solidFill>
                  <a:srgbClr val="4F81BD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1664805"/>
            <a:ext cx="8460940" cy="48618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3388" y="6411506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정보통신신문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(2018)</a:t>
            </a:r>
          </a:p>
        </p:txBody>
      </p:sp>
    </p:spTree>
    <p:extLst>
      <p:ext uri="{BB962C8B-B14F-4D97-AF65-F5344CB8AC3E}">
        <p14:creationId xmlns:p14="http://schemas.microsoft.com/office/powerpoint/2010/main" val="2978710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64607-68B2-4EF0-97C4-65D1FF3AFD34}" type="slidenum">
              <a:rPr kumimoji="0" lang="ko-KR" altLang="en-US" smtClean="0">
                <a:solidFill>
                  <a:prstClr val="white">
                    <a:lumMod val="50000"/>
                  </a:prstClr>
                </a:solidFill>
              </a:rPr>
              <a:pPr/>
              <a:t>22</a:t>
            </a:fld>
            <a:endParaRPr kumimoji="0" lang="ko-KR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451484" y="149102"/>
            <a:ext cx="7560840" cy="615602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800" b="1" kern="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기술 미래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754" y="1088740"/>
            <a:ext cx="6997428" cy="494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latinLnBrk="0">
              <a:lnSpc>
                <a:spcPct val="120000"/>
              </a:lnSpc>
              <a:spcAft>
                <a:spcPts val="500"/>
              </a:spcAft>
              <a:buClr>
                <a:srgbClr val="1F497D"/>
              </a:buClr>
              <a:buSzPct val="80000"/>
              <a:buFont typeface="Wingdings" panose="05000000000000000000" pitchFamily="2" charset="2"/>
              <a:buChar char="n"/>
            </a:pP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기술융합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멀티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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하이브리드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400" kern="0" spc="-200" dirty="0" err="1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엣지</a:t>
            </a:r>
            <a:r>
              <a:rPr lang="en-US" altLang="ko-KR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2400" kern="0" spc="-200" dirty="0">
                <a:ln w="11430"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네이티브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2343125" y="1628800"/>
            <a:ext cx="8109359" cy="5004556"/>
            <a:chOff x="-381" y="-64"/>
            <a:chExt cx="7002" cy="4448"/>
          </a:xfrm>
        </p:grpSpPr>
        <p:sp>
          <p:nvSpPr>
            <p:cNvPr id="7" name="AutoShape 3"/>
            <p:cNvSpPr>
              <a:spLocks noChangeAspect="1" noChangeArrowheads="1" noTextEdit="1"/>
            </p:cNvSpPr>
            <p:nvPr/>
          </p:nvSpPr>
          <p:spPr bwMode="auto">
            <a:xfrm>
              <a:off x="-381" y="-64"/>
              <a:ext cx="7002" cy="4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024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81" y="-64"/>
              <a:ext cx="7009" cy="4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9"/>
          <p:cNvSpPr txBox="1"/>
          <p:nvPr/>
        </p:nvSpPr>
        <p:spPr>
          <a:xfrm>
            <a:off x="1703389" y="6411506"/>
            <a:ext cx="425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NIA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플랫폼 생태계의 미래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(2020.6)</a:t>
            </a:r>
          </a:p>
        </p:txBody>
      </p:sp>
    </p:spTree>
    <p:extLst>
      <p:ext uri="{BB962C8B-B14F-4D97-AF65-F5344CB8AC3E}">
        <p14:creationId xmlns:p14="http://schemas.microsoft.com/office/powerpoint/2010/main" val="3701788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215312" y="2816932"/>
            <a:ext cx="52894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762000" eaLnBrk="0" hangingPunct="0">
              <a:spcAft>
                <a:spcPts val="600"/>
              </a:spcAft>
              <a:buClr>
                <a:sysClr val="windowText" lastClr="000000"/>
              </a:buClr>
              <a:buSzPct val="100000"/>
              <a:tabLst>
                <a:tab pos="5648325" algn="l"/>
              </a:tabLst>
              <a:defRPr/>
            </a:pPr>
            <a:r>
              <a:rPr kumimoji="1" lang="ko-KR" altLang="en-US" sz="5400" spc="-150" dirty="0">
                <a:ln w="3175">
                  <a:solidFill>
                    <a:schemeClr val="bg1">
                      <a:alpha val="5000"/>
                    </a:schemeClr>
                  </a:solidFill>
                </a:ln>
                <a:solidFill>
                  <a:srgbClr val="046C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kumimoji="1" lang="en-US" altLang="ko-KR" sz="5400" spc="-150" dirty="0">
                <a:ln w="3175">
                  <a:solidFill>
                    <a:schemeClr val="bg1">
                      <a:alpha val="5000"/>
                    </a:schemeClr>
                  </a:solidFill>
                </a:ln>
                <a:solidFill>
                  <a:srgbClr val="046C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ko-KR" altLang="en-US" sz="4800" spc="-150" dirty="0">
              <a:ln w="3175">
                <a:solidFill>
                  <a:schemeClr val="bg1">
                    <a:alpha val="5000"/>
                  </a:schemeClr>
                </a:solidFill>
              </a:ln>
              <a:solidFill>
                <a:srgbClr val="046C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94199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1602</Words>
  <Application>Microsoft Office PowerPoint</Application>
  <PresentationFormat>와이드스크린</PresentationFormat>
  <Paragraphs>408</Paragraphs>
  <Slides>23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Arial</vt:lpstr>
      <vt:lpstr>Franklin Gothic Book</vt:lpstr>
      <vt:lpstr>Wingdings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클라우드 기술 미래</vt:lpstr>
      <vt:lpstr> 클라우드 기술 미래</vt:lpstr>
      <vt:lpstr> 클라우드 기술 미래</vt:lpstr>
      <vt:lpstr> 클라우드 기술 미래</vt:lpstr>
      <vt:lpstr> 클라우드 기술 미래</vt:lpstr>
      <vt:lpstr> 클라우드 기술 미래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/게임공학전공/학생 조영환</dc:creator>
  <cp:lastModifiedBy>조영환(2016182041)</cp:lastModifiedBy>
  <cp:revision>1</cp:revision>
  <dcterms:created xsi:type="dcterms:W3CDTF">2021-03-09T00:39:04Z</dcterms:created>
  <dcterms:modified xsi:type="dcterms:W3CDTF">2021-03-09T00:40:01Z</dcterms:modified>
</cp:coreProperties>
</file>